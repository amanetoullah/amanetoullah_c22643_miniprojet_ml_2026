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8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0" r:id="rId12"/>
    <p:sldId id="267" r:id="rId13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e libre : forme 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2FA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 dirty="0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2684863" y="1862074"/>
            <a:ext cx="4681800" cy="1297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250" b="0" u="none" strike="noStrike" dirty="0">
                <a:solidFill>
                  <a:srgbClr val="FFFFFF"/>
                </a:solidFill>
                <a:effectLst/>
                <a:uFillTx/>
                <a:latin typeface="LibreBaskerville"/>
                <a:ea typeface="LibreBaskerville"/>
              </a:rPr>
              <a:t>Machine</a:t>
            </a:r>
            <a:endParaRPr lang="en-US" sz="82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6530549" y="1852672"/>
            <a:ext cx="4868280" cy="1297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250" b="0" u="none" strike="noStrike" dirty="0">
                <a:solidFill>
                  <a:srgbClr val="FFFFFF"/>
                </a:solidFill>
                <a:effectLst/>
                <a:uFillTx/>
                <a:latin typeface="LibreBaskerville"/>
                <a:ea typeface="LibreBaskerville"/>
              </a:rPr>
              <a:t>Learning</a:t>
            </a:r>
            <a:endParaRPr lang="en-US" sz="82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1671988" y="4900180"/>
            <a:ext cx="3481979" cy="2077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1" u="none" strike="noStrike" dirty="0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Amanetoullah Cheikh Mohamed Brahim C22643</a:t>
            </a:r>
            <a:endParaRPr lang="en-US" sz="1350" b="1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Forme libre : forme 7"/>
          <p:cNvSpPr/>
          <p:nvPr/>
        </p:nvSpPr>
        <p:spPr>
          <a:xfrm>
            <a:off x="304560" y="456840"/>
            <a:ext cx="11582640" cy="10080"/>
          </a:xfrm>
          <a:custGeom>
            <a:avLst/>
            <a:gdLst/>
            <a:ahLst/>
            <a:cxnLst/>
            <a:rect l="0" t="0" r="r" b="b"/>
            <a:pathLst>
              <a:path w="32174" h="28">
                <a:moveTo>
                  <a:pt x="0" y="0"/>
                </a:moveTo>
                <a:lnTo>
                  <a:pt x="32174" y="0"/>
                </a:lnTo>
                <a:lnTo>
                  <a:pt x="3217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5797745" y="6401160"/>
            <a:ext cx="951480" cy="185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Janvier 2026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5128903" y="6036840"/>
            <a:ext cx="2237760" cy="185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Master 1 Intelligence Artificielle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3353748" y="3144726"/>
            <a:ext cx="5839473" cy="3693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2400" b="0" u="none" strike="noStrike" dirty="0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mini-</a:t>
            </a:r>
            <a:r>
              <a:rPr lang="en-US" sz="2400" b="0" u="none" strike="noStrike" dirty="0" err="1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projet</a:t>
            </a:r>
            <a:r>
              <a:rPr lang="en-US" sz="2400" b="0" u="none" strike="noStrike" dirty="0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 </a:t>
            </a:r>
            <a:r>
              <a:rPr lang="en-US" sz="2400" b="0" u="none" strike="noStrike" dirty="0" err="1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régression</a:t>
            </a:r>
            <a:r>
              <a:rPr lang="en-US" sz="2400" b="0" u="none" strike="noStrike" dirty="0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 (</a:t>
            </a:r>
            <a:r>
              <a:rPr lang="en-US" sz="2400" b="0" u="none" strike="noStrike" dirty="0" err="1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linéaire</a:t>
            </a:r>
            <a:r>
              <a:rPr lang="en-US" sz="2400" b="0" u="none" strike="noStrike" dirty="0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 &amp; </a:t>
            </a:r>
            <a:r>
              <a:rPr lang="en-US" sz="2400" b="0" u="none" strike="noStrike" dirty="0" err="1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logistique</a:t>
            </a:r>
            <a:r>
              <a:rPr lang="en-US" sz="2400" b="0" u="none" strike="noStrike" dirty="0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)</a:t>
            </a:r>
            <a:endParaRPr lang="en-US" sz="240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D00E1BE-DA3C-EE9E-9737-A28FEFFC10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3260" y="685961"/>
            <a:ext cx="2805240" cy="1041369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73CAEF96-B00A-B82A-DC3D-C61D75ED8E1B}"/>
              </a:ext>
            </a:extLst>
          </p:cNvPr>
          <p:cNvSpPr txBox="1"/>
          <p:nvPr/>
        </p:nvSpPr>
        <p:spPr>
          <a:xfrm>
            <a:off x="8824012" y="4307628"/>
            <a:ext cx="2332370" cy="2077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1" dirty="0">
                <a:solidFill>
                  <a:srgbClr val="FFFFFF"/>
                </a:solidFill>
                <a:latin typeface="Inter"/>
              </a:rPr>
              <a:t>Dr .EL BENANY MED MAHMOUD</a:t>
            </a:r>
            <a:endParaRPr lang="en-US" sz="1350" b="1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2E26245-ED8C-C608-19DB-6551F2B626FF}"/>
              </a:ext>
            </a:extLst>
          </p:cNvPr>
          <p:cNvSpPr txBox="1"/>
          <p:nvPr/>
        </p:nvSpPr>
        <p:spPr>
          <a:xfrm>
            <a:off x="652542" y="4900180"/>
            <a:ext cx="1019446" cy="4231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Realis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é</a:t>
            </a: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 : </a:t>
            </a:r>
          </a:p>
          <a:p>
            <a:endParaRPr lang="en-US" sz="1350" b="1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856E08C4-6F01-8AB0-D00D-96DA697FC400}"/>
              </a:ext>
            </a:extLst>
          </p:cNvPr>
          <p:cNvSpPr/>
          <p:nvPr/>
        </p:nvSpPr>
        <p:spPr>
          <a:xfrm>
            <a:off x="-12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5F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 dirty="0">
              <a:effectLst/>
              <a:uFillTx/>
              <a:latin typeface="Times New Roman"/>
            </a:endParaRPr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EFAC14E6-BF4B-7A15-F4B8-E7A49C2DFEC0}"/>
              </a:ext>
            </a:extLst>
          </p:cNvPr>
          <p:cNvSpPr/>
          <p:nvPr/>
        </p:nvSpPr>
        <p:spPr>
          <a:xfrm>
            <a:off x="1141173" y="1996162"/>
            <a:ext cx="9039600" cy="492443"/>
          </a:xfrm>
          <a:custGeom>
            <a:avLst/>
            <a:gdLst/>
            <a:ahLst/>
            <a:cxnLst/>
            <a:rect l="0" t="0" r="r" b="b"/>
            <a:pathLst>
              <a:path w="25110" h="3653">
                <a:moveTo>
                  <a:pt x="0" y="3348"/>
                </a:moveTo>
                <a:lnTo>
                  <a:pt x="0" y="305"/>
                </a:lnTo>
                <a:cubicBezTo>
                  <a:pt x="0" y="285"/>
                  <a:pt x="2" y="265"/>
                  <a:pt x="6" y="245"/>
                </a:cubicBezTo>
                <a:cubicBezTo>
                  <a:pt x="10" y="226"/>
                  <a:pt x="16" y="207"/>
                  <a:pt x="24" y="188"/>
                </a:cubicBezTo>
                <a:cubicBezTo>
                  <a:pt x="31" y="170"/>
                  <a:pt x="41" y="152"/>
                  <a:pt x="52" y="136"/>
                </a:cubicBezTo>
                <a:cubicBezTo>
                  <a:pt x="63" y="119"/>
                  <a:pt x="75" y="104"/>
                  <a:pt x="89" y="89"/>
                </a:cubicBezTo>
                <a:cubicBezTo>
                  <a:pt x="104" y="75"/>
                  <a:pt x="119" y="63"/>
                  <a:pt x="136" y="52"/>
                </a:cubicBezTo>
                <a:cubicBezTo>
                  <a:pt x="152" y="41"/>
                  <a:pt x="170" y="31"/>
                  <a:pt x="188" y="24"/>
                </a:cubicBezTo>
                <a:cubicBezTo>
                  <a:pt x="207" y="16"/>
                  <a:pt x="226" y="10"/>
                  <a:pt x="245" y="6"/>
                </a:cubicBezTo>
                <a:cubicBezTo>
                  <a:pt x="265" y="2"/>
                  <a:pt x="285" y="0"/>
                  <a:pt x="305" y="0"/>
                </a:cubicBezTo>
                <a:lnTo>
                  <a:pt x="24806" y="0"/>
                </a:lnTo>
                <a:cubicBezTo>
                  <a:pt x="24826" y="0"/>
                  <a:pt x="24846" y="2"/>
                  <a:pt x="24865" y="6"/>
                </a:cubicBezTo>
                <a:cubicBezTo>
                  <a:pt x="24885" y="10"/>
                  <a:pt x="24904" y="16"/>
                  <a:pt x="24922" y="24"/>
                </a:cubicBezTo>
                <a:cubicBezTo>
                  <a:pt x="24941" y="31"/>
                  <a:pt x="24958" y="41"/>
                  <a:pt x="24975" y="52"/>
                </a:cubicBezTo>
                <a:cubicBezTo>
                  <a:pt x="24992" y="63"/>
                  <a:pt x="25007" y="75"/>
                  <a:pt x="25021" y="89"/>
                </a:cubicBezTo>
                <a:cubicBezTo>
                  <a:pt x="25035" y="104"/>
                  <a:pt x="25048" y="119"/>
                  <a:pt x="25059" y="136"/>
                </a:cubicBezTo>
                <a:cubicBezTo>
                  <a:pt x="25070" y="152"/>
                  <a:pt x="25080" y="170"/>
                  <a:pt x="25087" y="188"/>
                </a:cubicBezTo>
                <a:cubicBezTo>
                  <a:pt x="25095" y="207"/>
                  <a:pt x="25101" y="226"/>
                  <a:pt x="25104" y="245"/>
                </a:cubicBezTo>
                <a:cubicBezTo>
                  <a:pt x="25108" y="265"/>
                  <a:pt x="25110" y="285"/>
                  <a:pt x="25110" y="305"/>
                </a:cubicBezTo>
                <a:lnTo>
                  <a:pt x="25110" y="3348"/>
                </a:lnTo>
                <a:cubicBezTo>
                  <a:pt x="25110" y="3368"/>
                  <a:pt x="25108" y="3388"/>
                  <a:pt x="25104" y="3408"/>
                </a:cubicBezTo>
                <a:cubicBezTo>
                  <a:pt x="25101" y="3427"/>
                  <a:pt x="25095" y="3446"/>
                  <a:pt x="25087" y="3465"/>
                </a:cubicBezTo>
                <a:cubicBezTo>
                  <a:pt x="25080" y="3483"/>
                  <a:pt x="25070" y="3501"/>
                  <a:pt x="25059" y="3517"/>
                </a:cubicBezTo>
                <a:cubicBezTo>
                  <a:pt x="25048" y="3534"/>
                  <a:pt x="25035" y="3549"/>
                  <a:pt x="25021" y="3563"/>
                </a:cubicBezTo>
                <a:cubicBezTo>
                  <a:pt x="25007" y="3578"/>
                  <a:pt x="24992" y="3590"/>
                  <a:pt x="24975" y="3601"/>
                </a:cubicBezTo>
                <a:cubicBezTo>
                  <a:pt x="24958" y="3612"/>
                  <a:pt x="24941" y="3622"/>
                  <a:pt x="24922" y="3629"/>
                </a:cubicBezTo>
                <a:cubicBezTo>
                  <a:pt x="24904" y="3637"/>
                  <a:pt x="24885" y="3643"/>
                  <a:pt x="24865" y="3647"/>
                </a:cubicBezTo>
                <a:cubicBezTo>
                  <a:pt x="24846" y="3651"/>
                  <a:pt x="24826" y="3653"/>
                  <a:pt x="24806" y="3653"/>
                </a:cubicBezTo>
                <a:lnTo>
                  <a:pt x="305" y="3653"/>
                </a:lnTo>
                <a:cubicBezTo>
                  <a:pt x="285" y="3653"/>
                  <a:pt x="265" y="3651"/>
                  <a:pt x="245" y="3647"/>
                </a:cubicBezTo>
                <a:cubicBezTo>
                  <a:pt x="226" y="3643"/>
                  <a:pt x="207" y="3637"/>
                  <a:pt x="188" y="3629"/>
                </a:cubicBezTo>
                <a:cubicBezTo>
                  <a:pt x="170" y="3622"/>
                  <a:pt x="152" y="3612"/>
                  <a:pt x="136" y="3601"/>
                </a:cubicBezTo>
                <a:cubicBezTo>
                  <a:pt x="119" y="3590"/>
                  <a:pt x="104" y="3578"/>
                  <a:pt x="89" y="3563"/>
                </a:cubicBezTo>
                <a:cubicBezTo>
                  <a:pt x="75" y="3549"/>
                  <a:pt x="63" y="3534"/>
                  <a:pt x="52" y="3517"/>
                </a:cubicBezTo>
                <a:cubicBezTo>
                  <a:pt x="41" y="3501"/>
                  <a:pt x="31" y="3483"/>
                  <a:pt x="24" y="3465"/>
                </a:cubicBezTo>
                <a:cubicBezTo>
                  <a:pt x="16" y="3446"/>
                  <a:pt x="10" y="3427"/>
                  <a:pt x="6" y="3408"/>
                </a:cubicBezTo>
                <a:cubicBezTo>
                  <a:pt x="2" y="3388"/>
                  <a:pt x="0" y="3368"/>
                  <a:pt x="0" y="334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u="none" strike="noStrike" dirty="0">
                <a:effectLst/>
                <a:uFillTx/>
                <a:latin typeface="DejaVuSans"/>
                <a:ea typeface="DejaVuSans"/>
              </a:rPr>
              <a:t>Machine Learning: </a:t>
            </a:r>
            <a:r>
              <a:rPr lang="en-US" sz="2800" b="0" u="none" strike="noStrike" dirty="0" err="1">
                <a:effectLst/>
                <a:uFillTx/>
                <a:latin typeface="DejaVuSans"/>
                <a:ea typeface="DejaVuSans"/>
              </a:rPr>
              <a:t>déﬁnition</a:t>
            </a:r>
            <a:r>
              <a:rPr lang="en-US" sz="2800" b="0" u="none" strike="noStrike" dirty="0">
                <a:effectLst/>
                <a:uFillTx/>
                <a:latin typeface="DejaVuSans"/>
                <a:ea typeface="DejaVuSans"/>
              </a:rPr>
              <a:t> &amp; branches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AA99772D-57DB-2394-0174-FA78B79435FA}"/>
              </a:ext>
            </a:extLst>
          </p:cNvPr>
          <p:cNvSpPr/>
          <p:nvPr/>
        </p:nvSpPr>
        <p:spPr>
          <a:xfrm>
            <a:off x="1141173" y="2711270"/>
            <a:ext cx="9039600" cy="492443"/>
          </a:xfrm>
          <a:custGeom>
            <a:avLst/>
            <a:gdLst/>
            <a:ahLst/>
            <a:cxnLst/>
            <a:rect l="0" t="0" r="r" b="b"/>
            <a:pathLst>
              <a:path w="25110" h="3653">
                <a:moveTo>
                  <a:pt x="0" y="3348"/>
                </a:moveTo>
                <a:lnTo>
                  <a:pt x="0" y="305"/>
                </a:lnTo>
                <a:cubicBezTo>
                  <a:pt x="0" y="285"/>
                  <a:pt x="2" y="265"/>
                  <a:pt x="6" y="245"/>
                </a:cubicBezTo>
                <a:cubicBezTo>
                  <a:pt x="10" y="226"/>
                  <a:pt x="16" y="207"/>
                  <a:pt x="24" y="188"/>
                </a:cubicBezTo>
                <a:cubicBezTo>
                  <a:pt x="31" y="170"/>
                  <a:pt x="41" y="152"/>
                  <a:pt x="52" y="136"/>
                </a:cubicBezTo>
                <a:cubicBezTo>
                  <a:pt x="63" y="119"/>
                  <a:pt x="75" y="104"/>
                  <a:pt x="89" y="89"/>
                </a:cubicBezTo>
                <a:cubicBezTo>
                  <a:pt x="104" y="75"/>
                  <a:pt x="119" y="63"/>
                  <a:pt x="136" y="52"/>
                </a:cubicBezTo>
                <a:cubicBezTo>
                  <a:pt x="152" y="41"/>
                  <a:pt x="170" y="31"/>
                  <a:pt x="188" y="24"/>
                </a:cubicBezTo>
                <a:cubicBezTo>
                  <a:pt x="207" y="16"/>
                  <a:pt x="226" y="10"/>
                  <a:pt x="245" y="6"/>
                </a:cubicBezTo>
                <a:cubicBezTo>
                  <a:pt x="265" y="2"/>
                  <a:pt x="285" y="0"/>
                  <a:pt x="305" y="0"/>
                </a:cubicBezTo>
                <a:lnTo>
                  <a:pt x="24806" y="0"/>
                </a:lnTo>
                <a:cubicBezTo>
                  <a:pt x="24826" y="0"/>
                  <a:pt x="24846" y="2"/>
                  <a:pt x="24865" y="6"/>
                </a:cubicBezTo>
                <a:cubicBezTo>
                  <a:pt x="24885" y="10"/>
                  <a:pt x="24904" y="16"/>
                  <a:pt x="24922" y="24"/>
                </a:cubicBezTo>
                <a:cubicBezTo>
                  <a:pt x="24941" y="31"/>
                  <a:pt x="24958" y="41"/>
                  <a:pt x="24975" y="52"/>
                </a:cubicBezTo>
                <a:cubicBezTo>
                  <a:pt x="24992" y="63"/>
                  <a:pt x="25007" y="75"/>
                  <a:pt x="25021" y="89"/>
                </a:cubicBezTo>
                <a:cubicBezTo>
                  <a:pt x="25035" y="104"/>
                  <a:pt x="25048" y="119"/>
                  <a:pt x="25059" y="136"/>
                </a:cubicBezTo>
                <a:cubicBezTo>
                  <a:pt x="25070" y="152"/>
                  <a:pt x="25080" y="170"/>
                  <a:pt x="25087" y="188"/>
                </a:cubicBezTo>
                <a:cubicBezTo>
                  <a:pt x="25095" y="207"/>
                  <a:pt x="25101" y="226"/>
                  <a:pt x="25104" y="245"/>
                </a:cubicBezTo>
                <a:cubicBezTo>
                  <a:pt x="25108" y="265"/>
                  <a:pt x="25110" y="285"/>
                  <a:pt x="25110" y="305"/>
                </a:cubicBezTo>
                <a:lnTo>
                  <a:pt x="25110" y="3348"/>
                </a:lnTo>
                <a:cubicBezTo>
                  <a:pt x="25110" y="3368"/>
                  <a:pt x="25108" y="3388"/>
                  <a:pt x="25104" y="3408"/>
                </a:cubicBezTo>
                <a:cubicBezTo>
                  <a:pt x="25101" y="3427"/>
                  <a:pt x="25095" y="3446"/>
                  <a:pt x="25087" y="3465"/>
                </a:cubicBezTo>
                <a:cubicBezTo>
                  <a:pt x="25080" y="3483"/>
                  <a:pt x="25070" y="3501"/>
                  <a:pt x="25059" y="3517"/>
                </a:cubicBezTo>
                <a:cubicBezTo>
                  <a:pt x="25048" y="3534"/>
                  <a:pt x="25035" y="3549"/>
                  <a:pt x="25021" y="3563"/>
                </a:cubicBezTo>
                <a:cubicBezTo>
                  <a:pt x="25007" y="3578"/>
                  <a:pt x="24992" y="3590"/>
                  <a:pt x="24975" y="3601"/>
                </a:cubicBezTo>
                <a:cubicBezTo>
                  <a:pt x="24958" y="3612"/>
                  <a:pt x="24941" y="3622"/>
                  <a:pt x="24922" y="3629"/>
                </a:cubicBezTo>
                <a:cubicBezTo>
                  <a:pt x="24904" y="3637"/>
                  <a:pt x="24885" y="3643"/>
                  <a:pt x="24865" y="3647"/>
                </a:cubicBezTo>
                <a:cubicBezTo>
                  <a:pt x="24846" y="3651"/>
                  <a:pt x="24826" y="3653"/>
                  <a:pt x="24806" y="3653"/>
                </a:cubicBezTo>
                <a:lnTo>
                  <a:pt x="305" y="3653"/>
                </a:lnTo>
                <a:cubicBezTo>
                  <a:pt x="285" y="3653"/>
                  <a:pt x="265" y="3651"/>
                  <a:pt x="245" y="3647"/>
                </a:cubicBezTo>
                <a:cubicBezTo>
                  <a:pt x="226" y="3643"/>
                  <a:pt x="207" y="3637"/>
                  <a:pt x="188" y="3629"/>
                </a:cubicBezTo>
                <a:cubicBezTo>
                  <a:pt x="170" y="3622"/>
                  <a:pt x="152" y="3612"/>
                  <a:pt x="136" y="3601"/>
                </a:cubicBezTo>
                <a:cubicBezTo>
                  <a:pt x="119" y="3590"/>
                  <a:pt x="104" y="3578"/>
                  <a:pt x="89" y="3563"/>
                </a:cubicBezTo>
                <a:cubicBezTo>
                  <a:pt x="75" y="3549"/>
                  <a:pt x="63" y="3534"/>
                  <a:pt x="52" y="3517"/>
                </a:cubicBezTo>
                <a:cubicBezTo>
                  <a:pt x="41" y="3501"/>
                  <a:pt x="31" y="3483"/>
                  <a:pt x="24" y="3465"/>
                </a:cubicBezTo>
                <a:cubicBezTo>
                  <a:pt x="16" y="3446"/>
                  <a:pt x="10" y="3427"/>
                  <a:pt x="6" y="3408"/>
                </a:cubicBezTo>
                <a:cubicBezTo>
                  <a:pt x="2" y="3388"/>
                  <a:pt x="0" y="3368"/>
                  <a:pt x="0" y="334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u="none" strike="noStrike" dirty="0">
                <a:effectLst/>
                <a:uFillTx/>
                <a:latin typeface="DejaVuSans"/>
                <a:ea typeface="DejaVuSans"/>
              </a:rPr>
              <a:t>Mini-</a:t>
            </a:r>
            <a:r>
              <a:rPr lang="en-US" sz="2800" b="0" u="none" strike="noStrike" dirty="0" err="1">
                <a:effectLst/>
                <a:uFillTx/>
                <a:latin typeface="DejaVuSans"/>
                <a:ea typeface="DejaVuSans"/>
              </a:rPr>
              <a:t>projet</a:t>
            </a:r>
            <a:r>
              <a:rPr lang="en-US" sz="2800" b="0" u="none" strike="noStrike" dirty="0">
                <a:effectLst/>
                <a:uFillTx/>
                <a:latin typeface="DejaVuSans"/>
                <a:ea typeface="DejaVuSans"/>
              </a:rPr>
              <a:t>: </a:t>
            </a:r>
            <a:r>
              <a:rPr lang="en-US" sz="2800" b="0" u="none" strike="noStrike" dirty="0" err="1">
                <a:effectLst/>
                <a:uFillTx/>
                <a:latin typeface="DejaVuSans"/>
                <a:ea typeface="DejaVuSans"/>
              </a:rPr>
              <a:t>objectifs</a:t>
            </a:r>
            <a:r>
              <a:rPr lang="en-US" sz="2800" b="0" u="none" strike="noStrike" dirty="0">
                <a:effectLst/>
                <a:uFillTx/>
                <a:latin typeface="DejaVuSans"/>
                <a:ea typeface="DejaVuSans"/>
              </a:rPr>
              <a:t> &amp; pipeline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8AC53F44-47A0-F4AA-7053-1C1DE99CAF8D}"/>
              </a:ext>
            </a:extLst>
          </p:cNvPr>
          <p:cNvSpPr/>
          <p:nvPr/>
        </p:nvSpPr>
        <p:spPr>
          <a:xfrm>
            <a:off x="1141173" y="3446064"/>
            <a:ext cx="9039600" cy="492443"/>
          </a:xfrm>
          <a:custGeom>
            <a:avLst/>
            <a:gdLst/>
            <a:ahLst/>
            <a:cxnLst/>
            <a:rect l="0" t="0" r="r" b="b"/>
            <a:pathLst>
              <a:path w="25110" h="3653">
                <a:moveTo>
                  <a:pt x="0" y="3348"/>
                </a:moveTo>
                <a:lnTo>
                  <a:pt x="0" y="305"/>
                </a:lnTo>
                <a:cubicBezTo>
                  <a:pt x="0" y="285"/>
                  <a:pt x="2" y="265"/>
                  <a:pt x="6" y="245"/>
                </a:cubicBezTo>
                <a:cubicBezTo>
                  <a:pt x="10" y="226"/>
                  <a:pt x="16" y="207"/>
                  <a:pt x="24" y="188"/>
                </a:cubicBezTo>
                <a:cubicBezTo>
                  <a:pt x="31" y="170"/>
                  <a:pt x="41" y="152"/>
                  <a:pt x="52" y="136"/>
                </a:cubicBezTo>
                <a:cubicBezTo>
                  <a:pt x="63" y="119"/>
                  <a:pt x="75" y="104"/>
                  <a:pt x="89" y="89"/>
                </a:cubicBezTo>
                <a:cubicBezTo>
                  <a:pt x="104" y="75"/>
                  <a:pt x="119" y="63"/>
                  <a:pt x="136" y="52"/>
                </a:cubicBezTo>
                <a:cubicBezTo>
                  <a:pt x="152" y="41"/>
                  <a:pt x="170" y="31"/>
                  <a:pt x="188" y="24"/>
                </a:cubicBezTo>
                <a:cubicBezTo>
                  <a:pt x="207" y="16"/>
                  <a:pt x="226" y="10"/>
                  <a:pt x="245" y="6"/>
                </a:cubicBezTo>
                <a:cubicBezTo>
                  <a:pt x="265" y="2"/>
                  <a:pt x="285" y="0"/>
                  <a:pt x="305" y="0"/>
                </a:cubicBezTo>
                <a:lnTo>
                  <a:pt x="24806" y="0"/>
                </a:lnTo>
                <a:cubicBezTo>
                  <a:pt x="24826" y="0"/>
                  <a:pt x="24846" y="2"/>
                  <a:pt x="24865" y="6"/>
                </a:cubicBezTo>
                <a:cubicBezTo>
                  <a:pt x="24885" y="10"/>
                  <a:pt x="24904" y="16"/>
                  <a:pt x="24922" y="24"/>
                </a:cubicBezTo>
                <a:cubicBezTo>
                  <a:pt x="24941" y="31"/>
                  <a:pt x="24958" y="41"/>
                  <a:pt x="24975" y="52"/>
                </a:cubicBezTo>
                <a:cubicBezTo>
                  <a:pt x="24992" y="63"/>
                  <a:pt x="25007" y="75"/>
                  <a:pt x="25021" y="89"/>
                </a:cubicBezTo>
                <a:cubicBezTo>
                  <a:pt x="25035" y="104"/>
                  <a:pt x="25048" y="119"/>
                  <a:pt x="25059" y="136"/>
                </a:cubicBezTo>
                <a:cubicBezTo>
                  <a:pt x="25070" y="152"/>
                  <a:pt x="25080" y="170"/>
                  <a:pt x="25087" y="188"/>
                </a:cubicBezTo>
                <a:cubicBezTo>
                  <a:pt x="25095" y="207"/>
                  <a:pt x="25101" y="226"/>
                  <a:pt x="25104" y="245"/>
                </a:cubicBezTo>
                <a:cubicBezTo>
                  <a:pt x="25108" y="265"/>
                  <a:pt x="25110" y="285"/>
                  <a:pt x="25110" y="305"/>
                </a:cubicBezTo>
                <a:lnTo>
                  <a:pt x="25110" y="3348"/>
                </a:lnTo>
                <a:cubicBezTo>
                  <a:pt x="25110" y="3368"/>
                  <a:pt x="25108" y="3388"/>
                  <a:pt x="25104" y="3408"/>
                </a:cubicBezTo>
                <a:cubicBezTo>
                  <a:pt x="25101" y="3427"/>
                  <a:pt x="25095" y="3446"/>
                  <a:pt x="25087" y="3465"/>
                </a:cubicBezTo>
                <a:cubicBezTo>
                  <a:pt x="25080" y="3483"/>
                  <a:pt x="25070" y="3501"/>
                  <a:pt x="25059" y="3517"/>
                </a:cubicBezTo>
                <a:cubicBezTo>
                  <a:pt x="25048" y="3534"/>
                  <a:pt x="25035" y="3549"/>
                  <a:pt x="25021" y="3563"/>
                </a:cubicBezTo>
                <a:cubicBezTo>
                  <a:pt x="25007" y="3578"/>
                  <a:pt x="24992" y="3590"/>
                  <a:pt x="24975" y="3601"/>
                </a:cubicBezTo>
                <a:cubicBezTo>
                  <a:pt x="24958" y="3612"/>
                  <a:pt x="24941" y="3622"/>
                  <a:pt x="24922" y="3629"/>
                </a:cubicBezTo>
                <a:cubicBezTo>
                  <a:pt x="24904" y="3637"/>
                  <a:pt x="24885" y="3643"/>
                  <a:pt x="24865" y="3647"/>
                </a:cubicBezTo>
                <a:cubicBezTo>
                  <a:pt x="24846" y="3651"/>
                  <a:pt x="24826" y="3653"/>
                  <a:pt x="24806" y="3653"/>
                </a:cubicBezTo>
                <a:lnTo>
                  <a:pt x="305" y="3653"/>
                </a:lnTo>
                <a:cubicBezTo>
                  <a:pt x="285" y="3653"/>
                  <a:pt x="265" y="3651"/>
                  <a:pt x="245" y="3647"/>
                </a:cubicBezTo>
                <a:cubicBezTo>
                  <a:pt x="226" y="3643"/>
                  <a:pt x="207" y="3637"/>
                  <a:pt x="188" y="3629"/>
                </a:cubicBezTo>
                <a:cubicBezTo>
                  <a:pt x="170" y="3622"/>
                  <a:pt x="152" y="3612"/>
                  <a:pt x="136" y="3601"/>
                </a:cubicBezTo>
                <a:cubicBezTo>
                  <a:pt x="119" y="3590"/>
                  <a:pt x="104" y="3578"/>
                  <a:pt x="89" y="3563"/>
                </a:cubicBezTo>
                <a:cubicBezTo>
                  <a:pt x="75" y="3549"/>
                  <a:pt x="63" y="3534"/>
                  <a:pt x="52" y="3517"/>
                </a:cubicBezTo>
                <a:cubicBezTo>
                  <a:pt x="41" y="3501"/>
                  <a:pt x="31" y="3483"/>
                  <a:pt x="24" y="3465"/>
                </a:cubicBezTo>
                <a:cubicBezTo>
                  <a:pt x="16" y="3446"/>
                  <a:pt x="10" y="3427"/>
                  <a:pt x="6" y="3408"/>
                </a:cubicBezTo>
                <a:cubicBezTo>
                  <a:pt x="2" y="3388"/>
                  <a:pt x="0" y="3368"/>
                  <a:pt x="0" y="334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u="none" strike="noStrike" dirty="0" err="1">
                <a:effectLst/>
                <a:uFillTx/>
                <a:latin typeface="DejaVuSans"/>
                <a:ea typeface="DejaVuSans"/>
              </a:rPr>
              <a:t>Partie</a:t>
            </a:r>
            <a:r>
              <a:rPr lang="en-US" sz="2800" b="0" u="none" strike="noStrike" dirty="0">
                <a:effectLst/>
                <a:uFillTx/>
                <a:latin typeface="DejaVuSans"/>
                <a:ea typeface="DejaVuSans"/>
              </a:rPr>
              <a:t> 1 — </a:t>
            </a:r>
            <a:r>
              <a:rPr lang="en-US" sz="2800" b="0" u="none" strike="noStrike" dirty="0" err="1">
                <a:effectLst/>
                <a:uFillTx/>
                <a:latin typeface="DejaVuSans"/>
                <a:ea typeface="DejaVuSans"/>
              </a:rPr>
              <a:t>Régression</a:t>
            </a:r>
            <a:r>
              <a:rPr lang="en-US" sz="2800" b="0" u="none" strike="noStrike" dirty="0">
                <a:effectLst/>
                <a:uFillTx/>
                <a:latin typeface="DejaVuSans"/>
                <a:ea typeface="DejaVuSans"/>
              </a:rPr>
              <a:t> </a:t>
            </a:r>
            <a:r>
              <a:rPr lang="en-US" sz="2800" b="0" u="none" strike="noStrike" dirty="0" err="1">
                <a:effectLst/>
                <a:uFillTx/>
                <a:latin typeface="DejaVuSans"/>
                <a:ea typeface="DejaVuSans"/>
              </a:rPr>
              <a:t>linéaire</a:t>
            </a:r>
            <a:r>
              <a:rPr lang="en-US" sz="2800" b="0" u="none" strike="noStrike" dirty="0">
                <a:effectLst/>
                <a:uFillTx/>
                <a:latin typeface="DejaVuSans"/>
                <a:ea typeface="DejaVuSans"/>
              </a:rPr>
              <a:t> (Medical Insurance)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8A88E38E-45FB-20F0-B508-48D9097B9581}"/>
              </a:ext>
            </a:extLst>
          </p:cNvPr>
          <p:cNvSpPr/>
          <p:nvPr/>
        </p:nvSpPr>
        <p:spPr>
          <a:xfrm>
            <a:off x="1141173" y="4180859"/>
            <a:ext cx="9039600" cy="492443"/>
          </a:xfrm>
          <a:custGeom>
            <a:avLst/>
            <a:gdLst/>
            <a:ahLst/>
            <a:cxnLst/>
            <a:rect l="0" t="0" r="r" b="b"/>
            <a:pathLst>
              <a:path w="25110" h="3653">
                <a:moveTo>
                  <a:pt x="0" y="3348"/>
                </a:moveTo>
                <a:lnTo>
                  <a:pt x="0" y="305"/>
                </a:lnTo>
                <a:cubicBezTo>
                  <a:pt x="0" y="285"/>
                  <a:pt x="2" y="265"/>
                  <a:pt x="6" y="245"/>
                </a:cubicBezTo>
                <a:cubicBezTo>
                  <a:pt x="10" y="226"/>
                  <a:pt x="16" y="207"/>
                  <a:pt x="24" y="188"/>
                </a:cubicBezTo>
                <a:cubicBezTo>
                  <a:pt x="31" y="170"/>
                  <a:pt x="41" y="152"/>
                  <a:pt x="52" y="136"/>
                </a:cubicBezTo>
                <a:cubicBezTo>
                  <a:pt x="63" y="119"/>
                  <a:pt x="75" y="104"/>
                  <a:pt x="89" y="89"/>
                </a:cubicBezTo>
                <a:cubicBezTo>
                  <a:pt x="104" y="75"/>
                  <a:pt x="119" y="63"/>
                  <a:pt x="136" y="52"/>
                </a:cubicBezTo>
                <a:cubicBezTo>
                  <a:pt x="152" y="41"/>
                  <a:pt x="170" y="31"/>
                  <a:pt x="188" y="24"/>
                </a:cubicBezTo>
                <a:cubicBezTo>
                  <a:pt x="207" y="16"/>
                  <a:pt x="226" y="10"/>
                  <a:pt x="245" y="6"/>
                </a:cubicBezTo>
                <a:cubicBezTo>
                  <a:pt x="265" y="2"/>
                  <a:pt x="285" y="0"/>
                  <a:pt x="305" y="0"/>
                </a:cubicBezTo>
                <a:lnTo>
                  <a:pt x="24806" y="0"/>
                </a:lnTo>
                <a:cubicBezTo>
                  <a:pt x="24826" y="0"/>
                  <a:pt x="24846" y="2"/>
                  <a:pt x="24865" y="6"/>
                </a:cubicBezTo>
                <a:cubicBezTo>
                  <a:pt x="24885" y="10"/>
                  <a:pt x="24904" y="16"/>
                  <a:pt x="24922" y="24"/>
                </a:cubicBezTo>
                <a:cubicBezTo>
                  <a:pt x="24941" y="31"/>
                  <a:pt x="24958" y="41"/>
                  <a:pt x="24975" y="52"/>
                </a:cubicBezTo>
                <a:cubicBezTo>
                  <a:pt x="24992" y="63"/>
                  <a:pt x="25007" y="75"/>
                  <a:pt x="25021" y="89"/>
                </a:cubicBezTo>
                <a:cubicBezTo>
                  <a:pt x="25035" y="104"/>
                  <a:pt x="25048" y="119"/>
                  <a:pt x="25059" y="136"/>
                </a:cubicBezTo>
                <a:cubicBezTo>
                  <a:pt x="25070" y="152"/>
                  <a:pt x="25080" y="170"/>
                  <a:pt x="25087" y="188"/>
                </a:cubicBezTo>
                <a:cubicBezTo>
                  <a:pt x="25095" y="207"/>
                  <a:pt x="25101" y="226"/>
                  <a:pt x="25104" y="245"/>
                </a:cubicBezTo>
                <a:cubicBezTo>
                  <a:pt x="25108" y="265"/>
                  <a:pt x="25110" y="285"/>
                  <a:pt x="25110" y="305"/>
                </a:cubicBezTo>
                <a:lnTo>
                  <a:pt x="25110" y="3348"/>
                </a:lnTo>
                <a:cubicBezTo>
                  <a:pt x="25110" y="3368"/>
                  <a:pt x="25108" y="3388"/>
                  <a:pt x="25104" y="3408"/>
                </a:cubicBezTo>
                <a:cubicBezTo>
                  <a:pt x="25101" y="3427"/>
                  <a:pt x="25095" y="3446"/>
                  <a:pt x="25087" y="3465"/>
                </a:cubicBezTo>
                <a:cubicBezTo>
                  <a:pt x="25080" y="3483"/>
                  <a:pt x="25070" y="3501"/>
                  <a:pt x="25059" y="3517"/>
                </a:cubicBezTo>
                <a:cubicBezTo>
                  <a:pt x="25048" y="3534"/>
                  <a:pt x="25035" y="3549"/>
                  <a:pt x="25021" y="3563"/>
                </a:cubicBezTo>
                <a:cubicBezTo>
                  <a:pt x="25007" y="3578"/>
                  <a:pt x="24992" y="3590"/>
                  <a:pt x="24975" y="3601"/>
                </a:cubicBezTo>
                <a:cubicBezTo>
                  <a:pt x="24958" y="3612"/>
                  <a:pt x="24941" y="3622"/>
                  <a:pt x="24922" y="3629"/>
                </a:cubicBezTo>
                <a:cubicBezTo>
                  <a:pt x="24904" y="3637"/>
                  <a:pt x="24885" y="3643"/>
                  <a:pt x="24865" y="3647"/>
                </a:cubicBezTo>
                <a:cubicBezTo>
                  <a:pt x="24846" y="3651"/>
                  <a:pt x="24826" y="3653"/>
                  <a:pt x="24806" y="3653"/>
                </a:cubicBezTo>
                <a:lnTo>
                  <a:pt x="305" y="3653"/>
                </a:lnTo>
                <a:cubicBezTo>
                  <a:pt x="285" y="3653"/>
                  <a:pt x="265" y="3651"/>
                  <a:pt x="245" y="3647"/>
                </a:cubicBezTo>
                <a:cubicBezTo>
                  <a:pt x="226" y="3643"/>
                  <a:pt x="207" y="3637"/>
                  <a:pt x="188" y="3629"/>
                </a:cubicBezTo>
                <a:cubicBezTo>
                  <a:pt x="170" y="3622"/>
                  <a:pt x="152" y="3612"/>
                  <a:pt x="136" y="3601"/>
                </a:cubicBezTo>
                <a:cubicBezTo>
                  <a:pt x="119" y="3590"/>
                  <a:pt x="104" y="3578"/>
                  <a:pt x="89" y="3563"/>
                </a:cubicBezTo>
                <a:cubicBezTo>
                  <a:pt x="75" y="3549"/>
                  <a:pt x="63" y="3534"/>
                  <a:pt x="52" y="3517"/>
                </a:cubicBezTo>
                <a:cubicBezTo>
                  <a:pt x="41" y="3501"/>
                  <a:pt x="31" y="3483"/>
                  <a:pt x="24" y="3465"/>
                </a:cubicBezTo>
                <a:cubicBezTo>
                  <a:pt x="16" y="3446"/>
                  <a:pt x="10" y="3427"/>
                  <a:pt x="6" y="3408"/>
                </a:cubicBezTo>
                <a:cubicBezTo>
                  <a:pt x="2" y="3388"/>
                  <a:pt x="0" y="3368"/>
                  <a:pt x="0" y="334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u="none" strike="noStrike" dirty="0" err="1">
                <a:effectLst/>
                <a:uFillTx/>
                <a:latin typeface="DejaVuSans"/>
                <a:ea typeface="DejaVuSans"/>
              </a:rPr>
              <a:t>Partie</a:t>
            </a:r>
            <a:r>
              <a:rPr lang="en-US" sz="2800" b="0" u="none" strike="noStrike" dirty="0">
                <a:effectLst/>
                <a:uFillTx/>
                <a:latin typeface="DejaVuSans"/>
                <a:ea typeface="DejaVuSans"/>
              </a:rPr>
              <a:t> 2 — </a:t>
            </a:r>
            <a:r>
              <a:rPr lang="en-US" sz="2800" b="0" u="none" strike="noStrike" dirty="0" err="1">
                <a:effectLst/>
                <a:uFillTx/>
                <a:latin typeface="DejaVuSans"/>
                <a:ea typeface="DejaVuSans"/>
              </a:rPr>
              <a:t>Régression</a:t>
            </a:r>
            <a:r>
              <a:rPr lang="en-US" sz="2800" b="0" u="none" strike="noStrike" dirty="0">
                <a:effectLst/>
                <a:uFillTx/>
                <a:latin typeface="DejaVuSans"/>
                <a:ea typeface="DejaVuSans"/>
              </a:rPr>
              <a:t> </a:t>
            </a:r>
            <a:r>
              <a:rPr lang="en-US" sz="2800" b="0" u="none" strike="noStrike" dirty="0" err="1">
                <a:effectLst/>
                <a:uFillTx/>
                <a:latin typeface="DejaVuSans"/>
                <a:ea typeface="DejaVuSans"/>
              </a:rPr>
              <a:t>logistique</a:t>
            </a:r>
            <a:r>
              <a:rPr lang="en-US" sz="2800" b="0" u="none" strike="noStrike" dirty="0">
                <a:effectLst/>
                <a:uFillTx/>
                <a:latin typeface="DejaVuSans"/>
                <a:ea typeface="DejaVuSans"/>
              </a:rPr>
              <a:t> (Iris)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40683F81-68E3-EBA4-AA24-ED2170892CDB}"/>
              </a:ext>
            </a:extLst>
          </p:cNvPr>
          <p:cNvSpPr/>
          <p:nvPr/>
        </p:nvSpPr>
        <p:spPr>
          <a:xfrm>
            <a:off x="1141173" y="4935340"/>
            <a:ext cx="9039600" cy="492443"/>
          </a:xfrm>
          <a:custGeom>
            <a:avLst/>
            <a:gdLst/>
            <a:ahLst/>
            <a:cxnLst/>
            <a:rect l="0" t="0" r="r" b="b"/>
            <a:pathLst>
              <a:path w="25110" h="3653">
                <a:moveTo>
                  <a:pt x="0" y="3348"/>
                </a:moveTo>
                <a:lnTo>
                  <a:pt x="0" y="305"/>
                </a:lnTo>
                <a:cubicBezTo>
                  <a:pt x="0" y="285"/>
                  <a:pt x="2" y="265"/>
                  <a:pt x="6" y="245"/>
                </a:cubicBezTo>
                <a:cubicBezTo>
                  <a:pt x="10" y="226"/>
                  <a:pt x="16" y="207"/>
                  <a:pt x="24" y="188"/>
                </a:cubicBezTo>
                <a:cubicBezTo>
                  <a:pt x="31" y="170"/>
                  <a:pt x="41" y="152"/>
                  <a:pt x="52" y="136"/>
                </a:cubicBezTo>
                <a:cubicBezTo>
                  <a:pt x="63" y="119"/>
                  <a:pt x="75" y="104"/>
                  <a:pt x="89" y="89"/>
                </a:cubicBezTo>
                <a:cubicBezTo>
                  <a:pt x="104" y="75"/>
                  <a:pt x="119" y="63"/>
                  <a:pt x="136" y="52"/>
                </a:cubicBezTo>
                <a:cubicBezTo>
                  <a:pt x="152" y="41"/>
                  <a:pt x="170" y="31"/>
                  <a:pt x="188" y="24"/>
                </a:cubicBezTo>
                <a:cubicBezTo>
                  <a:pt x="207" y="16"/>
                  <a:pt x="226" y="10"/>
                  <a:pt x="245" y="6"/>
                </a:cubicBezTo>
                <a:cubicBezTo>
                  <a:pt x="265" y="2"/>
                  <a:pt x="285" y="0"/>
                  <a:pt x="305" y="0"/>
                </a:cubicBezTo>
                <a:lnTo>
                  <a:pt x="24806" y="0"/>
                </a:lnTo>
                <a:cubicBezTo>
                  <a:pt x="24826" y="0"/>
                  <a:pt x="24846" y="2"/>
                  <a:pt x="24865" y="6"/>
                </a:cubicBezTo>
                <a:cubicBezTo>
                  <a:pt x="24885" y="10"/>
                  <a:pt x="24904" y="16"/>
                  <a:pt x="24922" y="24"/>
                </a:cubicBezTo>
                <a:cubicBezTo>
                  <a:pt x="24941" y="31"/>
                  <a:pt x="24958" y="41"/>
                  <a:pt x="24975" y="52"/>
                </a:cubicBezTo>
                <a:cubicBezTo>
                  <a:pt x="24992" y="63"/>
                  <a:pt x="25007" y="75"/>
                  <a:pt x="25021" y="89"/>
                </a:cubicBezTo>
                <a:cubicBezTo>
                  <a:pt x="25035" y="104"/>
                  <a:pt x="25048" y="119"/>
                  <a:pt x="25059" y="136"/>
                </a:cubicBezTo>
                <a:cubicBezTo>
                  <a:pt x="25070" y="152"/>
                  <a:pt x="25080" y="170"/>
                  <a:pt x="25087" y="188"/>
                </a:cubicBezTo>
                <a:cubicBezTo>
                  <a:pt x="25095" y="207"/>
                  <a:pt x="25101" y="226"/>
                  <a:pt x="25104" y="245"/>
                </a:cubicBezTo>
                <a:cubicBezTo>
                  <a:pt x="25108" y="265"/>
                  <a:pt x="25110" y="285"/>
                  <a:pt x="25110" y="305"/>
                </a:cubicBezTo>
                <a:lnTo>
                  <a:pt x="25110" y="3348"/>
                </a:lnTo>
                <a:cubicBezTo>
                  <a:pt x="25110" y="3368"/>
                  <a:pt x="25108" y="3388"/>
                  <a:pt x="25104" y="3408"/>
                </a:cubicBezTo>
                <a:cubicBezTo>
                  <a:pt x="25101" y="3427"/>
                  <a:pt x="25095" y="3446"/>
                  <a:pt x="25087" y="3465"/>
                </a:cubicBezTo>
                <a:cubicBezTo>
                  <a:pt x="25080" y="3483"/>
                  <a:pt x="25070" y="3501"/>
                  <a:pt x="25059" y="3517"/>
                </a:cubicBezTo>
                <a:cubicBezTo>
                  <a:pt x="25048" y="3534"/>
                  <a:pt x="25035" y="3549"/>
                  <a:pt x="25021" y="3563"/>
                </a:cubicBezTo>
                <a:cubicBezTo>
                  <a:pt x="25007" y="3578"/>
                  <a:pt x="24992" y="3590"/>
                  <a:pt x="24975" y="3601"/>
                </a:cubicBezTo>
                <a:cubicBezTo>
                  <a:pt x="24958" y="3612"/>
                  <a:pt x="24941" y="3622"/>
                  <a:pt x="24922" y="3629"/>
                </a:cubicBezTo>
                <a:cubicBezTo>
                  <a:pt x="24904" y="3637"/>
                  <a:pt x="24885" y="3643"/>
                  <a:pt x="24865" y="3647"/>
                </a:cubicBezTo>
                <a:cubicBezTo>
                  <a:pt x="24846" y="3651"/>
                  <a:pt x="24826" y="3653"/>
                  <a:pt x="24806" y="3653"/>
                </a:cubicBezTo>
                <a:lnTo>
                  <a:pt x="305" y="3653"/>
                </a:lnTo>
                <a:cubicBezTo>
                  <a:pt x="285" y="3653"/>
                  <a:pt x="265" y="3651"/>
                  <a:pt x="245" y="3647"/>
                </a:cubicBezTo>
                <a:cubicBezTo>
                  <a:pt x="226" y="3643"/>
                  <a:pt x="207" y="3637"/>
                  <a:pt x="188" y="3629"/>
                </a:cubicBezTo>
                <a:cubicBezTo>
                  <a:pt x="170" y="3622"/>
                  <a:pt x="152" y="3612"/>
                  <a:pt x="136" y="3601"/>
                </a:cubicBezTo>
                <a:cubicBezTo>
                  <a:pt x="119" y="3590"/>
                  <a:pt x="104" y="3578"/>
                  <a:pt x="89" y="3563"/>
                </a:cubicBezTo>
                <a:cubicBezTo>
                  <a:pt x="75" y="3549"/>
                  <a:pt x="63" y="3534"/>
                  <a:pt x="52" y="3517"/>
                </a:cubicBezTo>
                <a:cubicBezTo>
                  <a:pt x="41" y="3501"/>
                  <a:pt x="31" y="3483"/>
                  <a:pt x="24" y="3465"/>
                </a:cubicBezTo>
                <a:cubicBezTo>
                  <a:pt x="16" y="3446"/>
                  <a:pt x="10" y="3427"/>
                  <a:pt x="6" y="3408"/>
                </a:cubicBezTo>
                <a:cubicBezTo>
                  <a:pt x="2" y="3388"/>
                  <a:pt x="0" y="3368"/>
                  <a:pt x="0" y="334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u="none" strike="noStrike" dirty="0" err="1">
                <a:effectLst/>
                <a:uFillTx/>
                <a:latin typeface="DejaVuSans"/>
                <a:ea typeface="DejaVuSans"/>
              </a:rPr>
              <a:t>Résultats</a:t>
            </a:r>
            <a:r>
              <a:rPr lang="en-US" sz="2800" b="0" u="none" strike="noStrike" dirty="0">
                <a:effectLst/>
                <a:uFillTx/>
                <a:latin typeface="DejaVuSans"/>
                <a:ea typeface="DejaVuSans"/>
              </a:rPr>
              <a:t> &amp; conclusion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5150716-DC45-5B2D-763E-3CE65C37CB4D}"/>
              </a:ext>
            </a:extLst>
          </p:cNvPr>
          <p:cNvSpPr txBox="1"/>
          <p:nvPr/>
        </p:nvSpPr>
        <p:spPr>
          <a:xfrm>
            <a:off x="571320" y="561960"/>
            <a:ext cx="2284422" cy="97719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3200" b="1" u="none" strike="noStrike" dirty="0">
                <a:effectLst/>
                <a:uFillTx/>
                <a:latin typeface="DejaVuSans"/>
                <a:ea typeface="DejaVuSans"/>
              </a:rPr>
              <a:t>SOMMAIRE</a:t>
            </a:r>
            <a:endParaRPr lang="en-US" sz="3200" b="0" u="none" strike="noStrike" dirty="0">
              <a:effectLst/>
              <a:uFillTx/>
              <a:latin typeface="Times New Roman"/>
            </a:endParaRPr>
          </a:p>
          <a:p>
            <a:endParaRPr lang="en-US" sz="315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993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orme libre : forme 2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Forme libre : forme 2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Forme libre : forme 26"/>
          <p:cNvSpPr/>
          <p:nvPr/>
        </p:nvSpPr>
        <p:spPr>
          <a:xfrm>
            <a:off x="285480" y="628560"/>
            <a:ext cx="11620800" cy="9720"/>
          </a:xfrm>
          <a:custGeom>
            <a:avLst/>
            <a:gdLst/>
            <a:ahLst/>
            <a:cxnLst/>
            <a:rect l="0" t="0" r="r" b="b"/>
            <a:pathLst>
              <a:path w="32280" h="27">
                <a:moveTo>
                  <a:pt x="0" y="0"/>
                </a:moveTo>
                <a:lnTo>
                  <a:pt x="32280" y="0"/>
                </a:lnTo>
                <a:lnTo>
                  <a:pt x="322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ZoneTexte 27"/>
          <p:cNvSpPr txBox="1"/>
          <p:nvPr/>
        </p:nvSpPr>
        <p:spPr>
          <a:xfrm>
            <a:off x="285840" y="317160"/>
            <a:ext cx="11134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1" u="none" strike="noStrike">
                <a:solidFill>
                  <a:srgbClr val="101828"/>
                </a:solidFill>
                <a:effectLst/>
                <a:uFillTx/>
                <a:latin typeface="DejaVuSans"/>
                <a:ea typeface="DejaVuSans"/>
              </a:rPr>
              <a:t>DÉFINITION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Forme libre : forme 28"/>
          <p:cNvSpPr/>
          <p:nvPr/>
        </p:nvSpPr>
        <p:spPr>
          <a:xfrm>
            <a:off x="285480" y="4438440"/>
            <a:ext cx="4572360" cy="952920"/>
          </a:xfrm>
          <a:custGeom>
            <a:avLst/>
            <a:gdLst/>
            <a:ahLst/>
            <a:cxnLst/>
            <a:rect l="0" t="0" r="r" b="b"/>
            <a:pathLst>
              <a:path w="12701" h="2647">
                <a:moveTo>
                  <a:pt x="0" y="0"/>
                </a:moveTo>
                <a:lnTo>
                  <a:pt x="12701" y="0"/>
                </a:lnTo>
                <a:lnTo>
                  <a:pt x="12701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Forme libre : forme 29"/>
          <p:cNvSpPr/>
          <p:nvPr/>
        </p:nvSpPr>
        <p:spPr>
          <a:xfrm>
            <a:off x="285480" y="4438440"/>
            <a:ext cx="38520" cy="952920"/>
          </a:xfrm>
          <a:custGeom>
            <a:avLst/>
            <a:gdLst/>
            <a:ahLst/>
            <a:cxnLst/>
            <a:rect l="0" t="0" r="r" b="b"/>
            <a:pathLst>
              <a:path w="107" h="2647">
                <a:moveTo>
                  <a:pt x="0" y="0"/>
                </a:moveTo>
                <a:lnTo>
                  <a:pt x="107" y="0"/>
                </a:lnTo>
                <a:lnTo>
                  <a:pt x="10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002FA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9182160" y="343080"/>
            <a:ext cx="27090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101828"/>
                </a:solidFill>
                <a:effectLst/>
                <a:uFillTx/>
                <a:latin typeface="DejaVuSans"/>
                <a:ea typeface="DejaVuSans"/>
              </a:rPr>
              <a:t>Qu'est-ce que le Machine Learning ?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ZoneTexte 31"/>
          <p:cNvSpPr txBox="1"/>
          <p:nvPr/>
        </p:nvSpPr>
        <p:spPr>
          <a:xfrm>
            <a:off x="285840" y="1828800"/>
            <a:ext cx="2879280" cy="52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600" b="0" u="none" strike="noStrike">
                <a:solidFill>
                  <a:srgbClr val="101828"/>
                </a:solidFill>
                <a:effectLst/>
                <a:uFillTx/>
                <a:latin typeface="Georgia"/>
                <a:ea typeface="Georgia"/>
              </a:rPr>
              <a:t>Apprentissage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ZoneTexte 32"/>
          <p:cNvSpPr txBox="1"/>
          <p:nvPr/>
        </p:nvSpPr>
        <p:spPr>
          <a:xfrm>
            <a:off x="285840" y="2381040"/>
            <a:ext cx="4172040" cy="52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600" b="0" u="none" strike="noStrike">
                <a:solidFill>
                  <a:srgbClr val="101828"/>
                </a:solidFill>
                <a:effectLst/>
                <a:uFillTx/>
                <a:latin typeface="Georgia"/>
                <a:ea typeface="Georgia"/>
              </a:rPr>
              <a:t>automatique à partir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ZoneTexte 33"/>
          <p:cNvSpPr txBox="1"/>
          <p:nvPr/>
        </p:nvSpPr>
        <p:spPr>
          <a:xfrm>
            <a:off x="285840" y="2923920"/>
            <a:ext cx="2283480" cy="52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600" b="0" u="none" strike="noStrike">
                <a:solidFill>
                  <a:srgbClr val="101828"/>
                </a:solidFill>
                <a:effectLst/>
                <a:uFillTx/>
                <a:latin typeface="Georgia"/>
                <a:ea typeface="Georgia"/>
              </a:rPr>
              <a:t>de données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ZoneTexte 34"/>
          <p:cNvSpPr txBox="1"/>
          <p:nvPr/>
        </p:nvSpPr>
        <p:spPr>
          <a:xfrm>
            <a:off x="285840" y="3727080"/>
            <a:ext cx="38516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364153"/>
                </a:solidFill>
                <a:effectLst/>
                <a:uFillTx/>
                <a:latin typeface="DejaVuSans"/>
                <a:ea typeface="DejaVuSans"/>
              </a:rPr>
              <a:t>Le Machine Learning permet aux ordinateurs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ZoneTexte 35"/>
          <p:cNvSpPr txBox="1"/>
          <p:nvPr/>
        </p:nvSpPr>
        <p:spPr>
          <a:xfrm>
            <a:off x="285840" y="3984120"/>
            <a:ext cx="43146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364153"/>
                </a:solidFill>
                <a:effectLst/>
                <a:uFillTx/>
                <a:latin typeface="DejaVuSans"/>
                <a:ea typeface="DejaVuSans"/>
              </a:rPr>
              <a:t>d'apprendre sans être explicitement programmés.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ZoneTexte 36"/>
          <p:cNvSpPr txBox="1"/>
          <p:nvPr/>
        </p:nvSpPr>
        <p:spPr>
          <a:xfrm>
            <a:off x="476280" y="4611600"/>
            <a:ext cx="14328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101828"/>
                </a:solidFill>
                <a:effectLst/>
                <a:uFillTx/>
                <a:latin typeface="DejaVuSans"/>
                <a:ea typeface="DejaVuSans"/>
              </a:rPr>
              <a:t>Contexte du projet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ZoneTexte 37"/>
          <p:cNvSpPr txBox="1"/>
          <p:nvPr/>
        </p:nvSpPr>
        <p:spPr>
          <a:xfrm>
            <a:off x="476280" y="4876920"/>
            <a:ext cx="34970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A5565"/>
                </a:solidFill>
                <a:effectLst/>
                <a:uFillTx/>
                <a:latin typeface="DejaVuSans"/>
                <a:ea typeface="DejaVuSans"/>
              </a:rPr>
              <a:t>Focus exclusif sur </a:t>
            </a:r>
            <a:r>
              <a:rPr lang="en-US" sz="1050" b="1" u="none" strike="noStrike">
                <a:solidFill>
                  <a:srgbClr val="002FA7"/>
                </a:solidFill>
                <a:effectLst/>
                <a:uFillTx/>
                <a:latin typeface="DejaVuSans"/>
                <a:ea typeface="DejaVuSans"/>
              </a:rPr>
              <a:t>l'apprentissage supervisé</a:t>
            </a:r>
            <a:r>
              <a:rPr lang="en-US" sz="1050" b="0" u="none" strike="noStrike">
                <a:solidFill>
                  <a:srgbClr val="4A5565"/>
                </a:solidFill>
                <a:effectLst/>
                <a:uFillTx/>
                <a:latin typeface="DejaVuSans"/>
                <a:ea typeface="DejaVuSans"/>
              </a:rPr>
              <a:t> pour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ZoneTexte 38"/>
          <p:cNvSpPr txBox="1"/>
          <p:nvPr/>
        </p:nvSpPr>
        <p:spPr>
          <a:xfrm>
            <a:off x="476280" y="5067360"/>
            <a:ext cx="1964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A5565"/>
                </a:solidFill>
                <a:effectLst/>
                <a:uFillTx/>
                <a:latin typeface="DejaVuSans"/>
                <a:ea typeface="DejaVuSans"/>
              </a:rPr>
              <a:t>consolider les fondamentaux.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Forme libre : forme 39"/>
          <p:cNvSpPr/>
          <p:nvPr/>
        </p:nvSpPr>
        <p:spPr>
          <a:xfrm>
            <a:off x="5314680" y="2742840"/>
            <a:ext cx="6591600" cy="924480"/>
          </a:xfrm>
          <a:custGeom>
            <a:avLst/>
            <a:gdLst/>
            <a:ahLst/>
            <a:cxnLst/>
            <a:rect l="0" t="0" r="r" b="b"/>
            <a:pathLst>
              <a:path w="18310" h="2568">
                <a:moveTo>
                  <a:pt x="0" y="0"/>
                </a:moveTo>
                <a:lnTo>
                  <a:pt x="18310" y="0"/>
                </a:lnTo>
                <a:lnTo>
                  <a:pt x="18310" y="2568"/>
                </a:lnTo>
                <a:lnTo>
                  <a:pt x="0" y="25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Forme libre : forme 40"/>
          <p:cNvSpPr/>
          <p:nvPr/>
        </p:nvSpPr>
        <p:spPr>
          <a:xfrm>
            <a:off x="5319360" y="2747880"/>
            <a:ext cx="6582240" cy="914760"/>
          </a:xfrm>
          <a:custGeom>
            <a:avLst/>
            <a:gdLst/>
            <a:ahLst/>
            <a:cxnLst/>
            <a:rect l="0" t="0" r="r" b="b"/>
            <a:pathLst>
              <a:path w="18284" h="2541" fill="none">
                <a:moveTo>
                  <a:pt x="0" y="0"/>
                </a:moveTo>
                <a:lnTo>
                  <a:pt x="18284" y="0"/>
                </a:lnTo>
                <a:lnTo>
                  <a:pt x="18284" y="2541"/>
                </a:lnTo>
                <a:lnTo>
                  <a:pt x="0" y="2541"/>
                </a:lnTo>
                <a:lnTo>
                  <a:pt x="0" y="0"/>
                </a:ln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Forme libre : forme 41"/>
          <p:cNvSpPr/>
          <p:nvPr/>
        </p:nvSpPr>
        <p:spPr>
          <a:xfrm>
            <a:off x="5514840" y="294300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1271" y="636"/>
                </a:moveTo>
                <a:cubicBezTo>
                  <a:pt x="1271" y="657"/>
                  <a:pt x="1270" y="678"/>
                  <a:pt x="1268" y="698"/>
                </a:cubicBezTo>
                <a:cubicBezTo>
                  <a:pt x="1266" y="719"/>
                  <a:pt x="1263" y="740"/>
                  <a:pt x="1259" y="760"/>
                </a:cubicBezTo>
                <a:cubicBezTo>
                  <a:pt x="1255" y="780"/>
                  <a:pt x="1250" y="801"/>
                  <a:pt x="1244" y="820"/>
                </a:cubicBezTo>
                <a:cubicBezTo>
                  <a:pt x="1237" y="840"/>
                  <a:pt x="1230" y="860"/>
                  <a:pt x="1223" y="879"/>
                </a:cubicBezTo>
                <a:cubicBezTo>
                  <a:pt x="1215" y="898"/>
                  <a:pt x="1206" y="917"/>
                  <a:pt x="1196" y="935"/>
                </a:cubicBezTo>
                <a:cubicBezTo>
                  <a:pt x="1186" y="954"/>
                  <a:pt x="1175" y="972"/>
                  <a:pt x="1164" y="989"/>
                </a:cubicBezTo>
                <a:cubicBezTo>
                  <a:pt x="1152" y="1006"/>
                  <a:pt x="1140" y="1023"/>
                  <a:pt x="1127" y="1039"/>
                </a:cubicBezTo>
                <a:cubicBezTo>
                  <a:pt x="1114" y="1055"/>
                  <a:pt x="1100" y="1070"/>
                  <a:pt x="1085" y="1085"/>
                </a:cubicBezTo>
                <a:cubicBezTo>
                  <a:pt x="1070" y="1100"/>
                  <a:pt x="1055" y="1114"/>
                  <a:pt x="1039" y="1127"/>
                </a:cubicBezTo>
                <a:cubicBezTo>
                  <a:pt x="1023" y="1140"/>
                  <a:pt x="1006" y="1153"/>
                  <a:pt x="989" y="1164"/>
                </a:cubicBezTo>
                <a:cubicBezTo>
                  <a:pt x="971" y="1176"/>
                  <a:pt x="954" y="1186"/>
                  <a:pt x="935" y="1196"/>
                </a:cubicBezTo>
                <a:cubicBezTo>
                  <a:pt x="917" y="1206"/>
                  <a:pt x="898" y="1215"/>
                  <a:pt x="879" y="1223"/>
                </a:cubicBezTo>
                <a:cubicBezTo>
                  <a:pt x="860" y="1231"/>
                  <a:pt x="840" y="1238"/>
                  <a:pt x="820" y="1244"/>
                </a:cubicBezTo>
                <a:cubicBezTo>
                  <a:pt x="800" y="1250"/>
                  <a:pt x="780" y="1255"/>
                  <a:pt x="760" y="1259"/>
                </a:cubicBezTo>
                <a:cubicBezTo>
                  <a:pt x="739" y="1263"/>
                  <a:pt x="719" y="1266"/>
                  <a:pt x="698" y="1268"/>
                </a:cubicBezTo>
                <a:cubicBezTo>
                  <a:pt x="677" y="1270"/>
                  <a:pt x="657" y="1271"/>
                  <a:pt x="636" y="1271"/>
                </a:cubicBezTo>
                <a:cubicBezTo>
                  <a:pt x="615" y="1271"/>
                  <a:pt x="594" y="1270"/>
                  <a:pt x="574" y="1268"/>
                </a:cubicBezTo>
                <a:cubicBezTo>
                  <a:pt x="553" y="1266"/>
                  <a:pt x="531" y="1263"/>
                  <a:pt x="511" y="1259"/>
                </a:cubicBezTo>
                <a:cubicBezTo>
                  <a:pt x="491" y="1255"/>
                  <a:pt x="470" y="1250"/>
                  <a:pt x="451" y="1244"/>
                </a:cubicBezTo>
                <a:cubicBezTo>
                  <a:pt x="431" y="1238"/>
                  <a:pt x="411" y="1231"/>
                  <a:pt x="392" y="1223"/>
                </a:cubicBezTo>
                <a:cubicBezTo>
                  <a:pt x="373" y="1215"/>
                  <a:pt x="354" y="1206"/>
                  <a:pt x="336" y="1196"/>
                </a:cubicBezTo>
                <a:cubicBezTo>
                  <a:pt x="317" y="1186"/>
                  <a:pt x="299" y="1176"/>
                  <a:pt x="282" y="1164"/>
                </a:cubicBezTo>
                <a:cubicBezTo>
                  <a:pt x="265" y="1153"/>
                  <a:pt x="248" y="1140"/>
                  <a:pt x="232" y="1127"/>
                </a:cubicBezTo>
                <a:cubicBezTo>
                  <a:pt x="216" y="1114"/>
                  <a:pt x="201" y="1100"/>
                  <a:pt x="186" y="1085"/>
                </a:cubicBezTo>
                <a:cubicBezTo>
                  <a:pt x="171" y="1070"/>
                  <a:pt x="157" y="1055"/>
                  <a:pt x="144" y="1039"/>
                </a:cubicBezTo>
                <a:cubicBezTo>
                  <a:pt x="131" y="1023"/>
                  <a:pt x="118" y="1006"/>
                  <a:pt x="107" y="989"/>
                </a:cubicBezTo>
                <a:cubicBezTo>
                  <a:pt x="95" y="972"/>
                  <a:pt x="85" y="954"/>
                  <a:pt x="75" y="935"/>
                </a:cubicBezTo>
                <a:cubicBezTo>
                  <a:pt x="65" y="917"/>
                  <a:pt x="56" y="898"/>
                  <a:pt x="48" y="879"/>
                </a:cubicBezTo>
                <a:cubicBezTo>
                  <a:pt x="40" y="860"/>
                  <a:pt x="33" y="840"/>
                  <a:pt x="27" y="820"/>
                </a:cubicBezTo>
                <a:cubicBezTo>
                  <a:pt x="21" y="801"/>
                  <a:pt x="16" y="780"/>
                  <a:pt x="12" y="760"/>
                </a:cubicBezTo>
                <a:cubicBezTo>
                  <a:pt x="8" y="740"/>
                  <a:pt x="5" y="719"/>
                  <a:pt x="3" y="698"/>
                </a:cubicBezTo>
                <a:cubicBezTo>
                  <a:pt x="1" y="678"/>
                  <a:pt x="0" y="657"/>
                  <a:pt x="0" y="636"/>
                </a:cubicBezTo>
                <a:cubicBezTo>
                  <a:pt x="0" y="615"/>
                  <a:pt x="1" y="595"/>
                  <a:pt x="3" y="574"/>
                </a:cubicBezTo>
                <a:cubicBezTo>
                  <a:pt x="5" y="553"/>
                  <a:pt x="8" y="533"/>
                  <a:pt x="12" y="512"/>
                </a:cubicBezTo>
                <a:cubicBezTo>
                  <a:pt x="16" y="492"/>
                  <a:pt x="21" y="472"/>
                  <a:pt x="27" y="452"/>
                </a:cubicBezTo>
                <a:cubicBezTo>
                  <a:pt x="33" y="432"/>
                  <a:pt x="40" y="412"/>
                  <a:pt x="48" y="393"/>
                </a:cubicBezTo>
                <a:cubicBezTo>
                  <a:pt x="56" y="374"/>
                  <a:pt x="65" y="355"/>
                  <a:pt x="75" y="337"/>
                </a:cubicBezTo>
                <a:cubicBezTo>
                  <a:pt x="85" y="318"/>
                  <a:pt x="95" y="301"/>
                  <a:pt x="107" y="283"/>
                </a:cubicBezTo>
                <a:cubicBezTo>
                  <a:pt x="118" y="266"/>
                  <a:pt x="131" y="249"/>
                  <a:pt x="144" y="233"/>
                </a:cubicBezTo>
                <a:cubicBezTo>
                  <a:pt x="157" y="217"/>
                  <a:pt x="171" y="202"/>
                  <a:pt x="186" y="187"/>
                </a:cubicBezTo>
                <a:cubicBezTo>
                  <a:pt x="201" y="172"/>
                  <a:pt x="216" y="158"/>
                  <a:pt x="232" y="145"/>
                </a:cubicBezTo>
                <a:cubicBezTo>
                  <a:pt x="248" y="132"/>
                  <a:pt x="265" y="120"/>
                  <a:pt x="282" y="108"/>
                </a:cubicBezTo>
                <a:cubicBezTo>
                  <a:pt x="299" y="97"/>
                  <a:pt x="317" y="86"/>
                  <a:pt x="336" y="76"/>
                </a:cubicBezTo>
                <a:cubicBezTo>
                  <a:pt x="354" y="65"/>
                  <a:pt x="373" y="56"/>
                  <a:pt x="392" y="48"/>
                </a:cubicBezTo>
                <a:cubicBezTo>
                  <a:pt x="411" y="41"/>
                  <a:pt x="431" y="34"/>
                  <a:pt x="451" y="27"/>
                </a:cubicBezTo>
                <a:cubicBezTo>
                  <a:pt x="470" y="21"/>
                  <a:pt x="491" y="16"/>
                  <a:pt x="511" y="12"/>
                </a:cubicBezTo>
                <a:cubicBezTo>
                  <a:pt x="531" y="8"/>
                  <a:pt x="553" y="5"/>
                  <a:pt x="574" y="3"/>
                </a:cubicBezTo>
                <a:cubicBezTo>
                  <a:pt x="594" y="1"/>
                  <a:pt x="615" y="0"/>
                  <a:pt x="636" y="0"/>
                </a:cubicBezTo>
                <a:cubicBezTo>
                  <a:pt x="657" y="0"/>
                  <a:pt x="677" y="1"/>
                  <a:pt x="698" y="3"/>
                </a:cubicBezTo>
                <a:cubicBezTo>
                  <a:pt x="719" y="5"/>
                  <a:pt x="739" y="8"/>
                  <a:pt x="760" y="12"/>
                </a:cubicBezTo>
                <a:cubicBezTo>
                  <a:pt x="780" y="16"/>
                  <a:pt x="800" y="21"/>
                  <a:pt x="820" y="27"/>
                </a:cubicBezTo>
                <a:cubicBezTo>
                  <a:pt x="840" y="34"/>
                  <a:pt x="860" y="41"/>
                  <a:pt x="879" y="48"/>
                </a:cubicBezTo>
                <a:cubicBezTo>
                  <a:pt x="898" y="56"/>
                  <a:pt x="917" y="65"/>
                  <a:pt x="935" y="76"/>
                </a:cubicBezTo>
                <a:cubicBezTo>
                  <a:pt x="954" y="86"/>
                  <a:pt x="971" y="97"/>
                  <a:pt x="989" y="108"/>
                </a:cubicBezTo>
                <a:cubicBezTo>
                  <a:pt x="1006" y="120"/>
                  <a:pt x="1023" y="132"/>
                  <a:pt x="1039" y="145"/>
                </a:cubicBezTo>
                <a:cubicBezTo>
                  <a:pt x="1055" y="158"/>
                  <a:pt x="1070" y="172"/>
                  <a:pt x="1085" y="187"/>
                </a:cubicBezTo>
                <a:cubicBezTo>
                  <a:pt x="1100" y="202"/>
                  <a:pt x="1114" y="217"/>
                  <a:pt x="1127" y="233"/>
                </a:cubicBezTo>
                <a:cubicBezTo>
                  <a:pt x="1140" y="249"/>
                  <a:pt x="1152" y="266"/>
                  <a:pt x="1164" y="283"/>
                </a:cubicBezTo>
                <a:cubicBezTo>
                  <a:pt x="1175" y="301"/>
                  <a:pt x="1186" y="318"/>
                  <a:pt x="1196" y="337"/>
                </a:cubicBezTo>
                <a:cubicBezTo>
                  <a:pt x="1206" y="355"/>
                  <a:pt x="1215" y="374"/>
                  <a:pt x="1223" y="393"/>
                </a:cubicBezTo>
                <a:cubicBezTo>
                  <a:pt x="1230" y="412"/>
                  <a:pt x="1237" y="432"/>
                  <a:pt x="1244" y="452"/>
                </a:cubicBezTo>
                <a:cubicBezTo>
                  <a:pt x="1250" y="472"/>
                  <a:pt x="1255" y="492"/>
                  <a:pt x="1259" y="512"/>
                </a:cubicBezTo>
                <a:cubicBezTo>
                  <a:pt x="1263" y="533"/>
                  <a:pt x="1266" y="553"/>
                  <a:pt x="1268" y="574"/>
                </a:cubicBezTo>
                <a:cubicBezTo>
                  <a:pt x="1270" y="595"/>
                  <a:pt x="1271" y="615"/>
                  <a:pt x="1271" y="636"/>
                </a:cubicBezTo>
                <a:close/>
              </a:path>
            </a:pathLst>
          </a:custGeom>
          <a:solidFill>
            <a:srgbClr val="E3EC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ZoneTexte 42"/>
          <p:cNvSpPr txBox="1"/>
          <p:nvPr/>
        </p:nvSpPr>
        <p:spPr>
          <a:xfrm>
            <a:off x="5315040" y="2266920"/>
            <a:ext cx="20264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6A7282"/>
                </a:solidFill>
                <a:effectLst/>
                <a:uFillTx/>
                <a:latin typeface="DejaVuSans"/>
                <a:ea typeface="DejaVuSans"/>
              </a:rPr>
              <a:t>OBJECTIFS DU MINI-PROJET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ZoneTexte 43"/>
          <p:cNvSpPr txBox="1"/>
          <p:nvPr/>
        </p:nvSpPr>
        <p:spPr>
          <a:xfrm>
            <a:off x="5648400" y="3071880"/>
            <a:ext cx="19116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002FA7"/>
                </a:solidFill>
                <a:effectLst/>
                <a:uFillTx/>
                <a:latin typeface="FontAwesome6Free-Solid"/>
                <a:ea typeface="FontAwesome6Free-Solid"/>
              </a:rPr>
              <a:t>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ZoneTexte 44"/>
          <p:cNvSpPr txBox="1"/>
          <p:nvPr/>
        </p:nvSpPr>
        <p:spPr>
          <a:xfrm>
            <a:off x="6124680" y="2968560"/>
            <a:ext cx="196992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101828"/>
                </a:solidFill>
                <a:effectLst/>
                <a:uFillTx/>
                <a:latin typeface="Georgia"/>
                <a:ea typeface="Georgia"/>
              </a:rPr>
              <a:t>Régression Linéaire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Forme libre : forme 45"/>
          <p:cNvSpPr/>
          <p:nvPr/>
        </p:nvSpPr>
        <p:spPr>
          <a:xfrm>
            <a:off x="5314680" y="3895560"/>
            <a:ext cx="6591600" cy="914760"/>
          </a:xfrm>
          <a:custGeom>
            <a:avLst/>
            <a:gdLst/>
            <a:ahLst/>
            <a:cxnLst/>
            <a:rect l="0" t="0" r="r" b="b"/>
            <a:pathLst>
              <a:path w="18310" h="2541">
                <a:moveTo>
                  <a:pt x="0" y="0"/>
                </a:moveTo>
                <a:lnTo>
                  <a:pt x="18310" y="0"/>
                </a:lnTo>
                <a:lnTo>
                  <a:pt x="18310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Forme libre : forme 46"/>
          <p:cNvSpPr/>
          <p:nvPr/>
        </p:nvSpPr>
        <p:spPr>
          <a:xfrm>
            <a:off x="5319360" y="3900240"/>
            <a:ext cx="6582240" cy="905400"/>
          </a:xfrm>
          <a:custGeom>
            <a:avLst/>
            <a:gdLst/>
            <a:ahLst/>
            <a:cxnLst/>
            <a:rect l="0" t="0" r="r" b="b"/>
            <a:pathLst>
              <a:path w="18284" h="2515" fill="none">
                <a:moveTo>
                  <a:pt x="0" y="0"/>
                </a:moveTo>
                <a:lnTo>
                  <a:pt x="18284" y="0"/>
                </a:lnTo>
                <a:lnTo>
                  <a:pt x="18284" y="2515"/>
                </a:lnTo>
                <a:lnTo>
                  <a:pt x="0" y="2515"/>
                </a:lnTo>
                <a:lnTo>
                  <a:pt x="0" y="0"/>
                </a:ln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Forme libre : forme 47"/>
          <p:cNvSpPr/>
          <p:nvPr/>
        </p:nvSpPr>
        <p:spPr>
          <a:xfrm>
            <a:off x="5514840" y="409572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1271" y="635"/>
                </a:moveTo>
                <a:cubicBezTo>
                  <a:pt x="1271" y="655"/>
                  <a:pt x="1270" y="676"/>
                  <a:pt x="1268" y="698"/>
                </a:cubicBezTo>
                <a:cubicBezTo>
                  <a:pt x="1266" y="719"/>
                  <a:pt x="1263" y="739"/>
                  <a:pt x="1259" y="759"/>
                </a:cubicBezTo>
                <a:cubicBezTo>
                  <a:pt x="1255" y="780"/>
                  <a:pt x="1250" y="800"/>
                  <a:pt x="1244" y="820"/>
                </a:cubicBezTo>
                <a:cubicBezTo>
                  <a:pt x="1237" y="840"/>
                  <a:pt x="1230" y="859"/>
                  <a:pt x="1223" y="879"/>
                </a:cubicBezTo>
                <a:cubicBezTo>
                  <a:pt x="1215" y="898"/>
                  <a:pt x="1206" y="917"/>
                  <a:pt x="1196" y="935"/>
                </a:cubicBezTo>
                <a:cubicBezTo>
                  <a:pt x="1186" y="953"/>
                  <a:pt x="1175" y="971"/>
                  <a:pt x="1164" y="988"/>
                </a:cubicBezTo>
                <a:cubicBezTo>
                  <a:pt x="1152" y="1006"/>
                  <a:pt x="1140" y="1022"/>
                  <a:pt x="1127" y="1038"/>
                </a:cubicBezTo>
                <a:cubicBezTo>
                  <a:pt x="1114" y="1054"/>
                  <a:pt x="1100" y="1070"/>
                  <a:pt x="1085" y="1085"/>
                </a:cubicBezTo>
                <a:cubicBezTo>
                  <a:pt x="1070" y="1099"/>
                  <a:pt x="1055" y="1113"/>
                  <a:pt x="1039" y="1126"/>
                </a:cubicBezTo>
                <a:cubicBezTo>
                  <a:pt x="1023" y="1140"/>
                  <a:pt x="1006" y="1152"/>
                  <a:pt x="989" y="1164"/>
                </a:cubicBezTo>
                <a:cubicBezTo>
                  <a:pt x="971" y="1175"/>
                  <a:pt x="954" y="1186"/>
                  <a:pt x="935" y="1196"/>
                </a:cubicBezTo>
                <a:cubicBezTo>
                  <a:pt x="917" y="1205"/>
                  <a:pt x="898" y="1214"/>
                  <a:pt x="879" y="1222"/>
                </a:cubicBezTo>
                <a:cubicBezTo>
                  <a:pt x="860" y="1230"/>
                  <a:pt x="840" y="1237"/>
                  <a:pt x="820" y="1243"/>
                </a:cubicBezTo>
                <a:cubicBezTo>
                  <a:pt x="800" y="1249"/>
                  <a:pt x="780" y="1254"/>
                  <a:pt x="760" y="1258"/>
                </a:cubicBezTo>
                <a:cubicBezTo>
                  <a:pt x="739" y="1262"/>
                  <a:pt x="719" y="1265"/>
                  <a:pt x="698" y="1268"/>
                </a:cubicBezTo>
                <a:cubicBezTo>
                  <a:pt x="677" y="1270"/>
                  <a:pt x="657" y="1271"/>
                  <a:pt x="636" y="1271"/>
                </a:cubicBezTo>
                <a:cubicBezTo>
                  <a:pt x="615" y="1271"/>
                  <a:pt x="594" y="1270"/>
                  <a:pt x="574" y="1268"/>
                </a:cubicBezTo>
                <a:cubicBezTo>
                  <a:pt x="553" y="1265"/>
                  <a:pt x="531" y="1262"/>
                  <a:pt x="511" y="1258"/>
                </a:cubicBezTo>
                <a:cubicBezTo>
                  <a:pt x="491" y="1254"/>
                  <a:pt x="470" y="1249"/>
                  <a:pt x="451" y="1243"/>
                </a:cubicBezTo>
                <a:cubicBezTo>
                  <a:pt x="431" y="1237"/>
                  <a:pt x="411" y="1230"/>
                  <a:pt x="392" y="1222"/>
                </a:cubicBezTo>
                <a:cubicBezTo>
                  <a:pt x="373" y="1214"/>
                  <a:pt x="354" y="1205"/>
                  <a:pt x="336" y="1196"/>
                </a:cubicBezTo>
                <a:cubicBezTo>
                  <a:pt x="317" y="1186"/>
                  <a:pt x="299" y="1175"/>
                  <a:pt x="282" y="1164"/>
                </a:cubicBezTo>
                <a:cubicBezTo>
                  <a:pt x="265" y="1152"/>
                  <a:pt x="248" y="1140"/>
                  <a:pt x="232" y="1126"/>
                </a:cubicBezTo>
                <a:cubicBezTo>
                  <a:pt x="216" y="1113"/>
                  <a:pt x="201" y="1099"/>
                  <a:pt x="186" y="1085"/>
                </a:cubicBezTo>
                <a:cubicBezTo>
                  <a:pt x="171" y="1070"/>
                  <a:pt x="157" y="1054"/>
                  <a:pt x="144" y="1038"/>
                </a:cubicBezTo>
                <a:cubicBezTo>
                  <a:pt x="131" y="1022"/>
                  <a:pt x="118" y="1006"/>
                  <a:pt x="107" y="988"/>
                </a:cubicBezTo>
                <a:cubicBezTo>
                  <a:pt x="95" y="971"/>
                  <a:pt x="85" y="953"/>
                  <a:pt x="75" y="935"/>
                </a:cubicBezTo>
                <a:cubicBezTo>
                  <a:pt x="65" y="917"/>
                  <a:pt x="56" y="898"/>
                  <a:pt x="48" y="879"/>
                </a:cubicBezTo>
                <a:cubicBezTo>
                  <a:pt x="40" y="859"/>
                  <a:pt x="33" y="840"/>
                  <a:pt x="27" y="820"/>
                </a:cubicBezTo>
                <a:cubicBezTo>
                  <a:pt x="21" y="800"/>
                  <a:pt x="16" y="780"/>
                  <a:pt x="12" y="759"/>
                </a:cubicBezTo>
                <a:cubicBezTo>
                  <a:pt x="8" y="739"/>
                  <a:pt x="5" y="719"/>
                  <a:pt x="3" y="698"/>
                </a:cubicBezTo>
                <a:cubicBezTo>
                  <a:pt x="1" y="676"/>
                  <a:pt x="0" y="655"/>
                  <a:pt x="0" y="635"/>
                </a:cubicBezTo>
                <a:cubicBezTo>
                  <a:pt x="0" y="614"/>
                  <a:pt x="1" y="593"/>
                  <a:pt x="3" y="572"/>
                </a:cubicBezTo>
                <a:cubicBezTo>
                  <a:pt x="5" y="552"/>
                  <a:pt x="8" y="531"/>
                  <a:pt x="12" y="511"/>
                </a:cubicBezTo>
                <a:cubicBezTo>
                  <a:pt x="16" y="490"/>
                  <a:pt x="21" y="470"/>
                  <a:pt x="27" y="450"/>
                </a:cubicBezTo>
                <a:cubicBezTo>
                  <a:pt x="33" y="430"/>
                  <a:pt x="40" y="411"/>
                  <a:pt x="48" y="392"/>
                </a:cubicBezTo>
                <a:cubicBezTo>
                  <a:pt x="56" y="372"/>
                  <a:pt x="65" y="354"/>
                  <a:pt x="75" y="335"/>
                </a:cubicBezTo>
                <a:cubicBezTo>
                  <a:pt x="85" y="317"/>
                  <a:pt x="95" y="299"/>
                  <a:pt x="107" y="282"/>
                </a:cubicBezTo>
                <a:cubicBezTo>
                  <a:pt x="118" y="265"/>
                  <a:pt x="131" y="248"/>
                  <a:pt x="144" y="232"/>
                </a:cubicBezTo>
                <a:cubicBezTo>
                  <a:pt x="157" y="216"/>
                  <a:pt x="171" y="200"/>
                  <a:pt x="186" y="186"/>
                </a:cubicBezTo>
                <a:cubicBezTo>
                  <a:pt x="201" y="171"/>
                  <a:pt x="216" y="157"/>
                  <a:pt x="232" y="144"/>
                </a:cubicBezTo>
                <a:cubicBezTo>
                  <a:pt x="248" y="131"/>
                  <a:pt x="265" y="118"/>
                  <a:pt x="282" y="107"/>
                </a:cubicBezTo>
                <a:cubicBezTo>
                  <a:pt x="299" y="95"/>
                  <a:pt x="317" y="84"/>
                  <a:pt x="336" y="75"/>
                </a:cubicBezTo>
                <a:cubicBezTo>
                  <a:pt x="354" y="65"/>
                  <a:pt x="373" y="56"/>
                  <a:pt x="392" y="48"/>
                </a:cubicBezTo>
                <a:cubicBezTo>
                  <a:pt x="411" y="40"/>
                  <a:pt x="431" y="33"/>
                  <a:pt x="451" y="27"/>
                </a:cubicBezTo>
                <a:cubicBezTo>
                  <a:pt x="470" y="21"/>
                  <a:pt x="491" y="16"/>
                  <a:pt x="511" y="12"/>
                </a:cubicBezTo>
                <a:cubicBezTo>
                  <a:pt x="531" y="8"/>
                  <a:pt x="553" y="5"/>
                  <a:pt x="574" y="3"/>
                </a:cubicBezTo>
                <a:cubicBezTo>
                  <a:pt x="594" y="1"/>
                  <a:pt x="615" y="0"/>
                  <a:pt x="636" y="0"/>
                </a:cubicBezTo>
                <a:cubicBezTo>
                  <a:pt x="657" y="0"/>
                  <a:pt x="677" y="1"/>
                  <a:pt x="698" y="3"/>
                </a:cubicBezTo>
                <a:cubicBezTo>
                  <a:pt x="719" y="5"/>
                  <a:pt x="739" y="8"/>
                  <a:pt x="760" y="12"/>
                </a:cubicBezTo>
                <a:cubicBezTo>
                  <a:pt x="780" y="16"/>
                  <a:pt x="800" y="21"/>
                  <a:pt x="820" y="27"/>
                </a:cubicBezTo>
                <a:cubicBezTo>
                  <a:pt x="840" y="33"/>
                  <a:pt x="860" y="40"/>
                  <a:pt x="879" y="48"/>
                </a:cubicBezTo>
                <a:cubicBezTo>
                  <a:pt x="898" y="56"/>
                  <a:pt x="917" y="65"/>
                  <a:pt x="935" y="75"/>
                </a:cubicBezTo>
                <a:cubicBezTo>
                  <a:pt x="954" y="84"/>
                  <a:pt x="971" y="95"/>
                  <a:pt x="989" y="107"/>
                </a:cubicBezTo>
                <a:cubicBezTo>
                  <a:pt x="1006" y="118"/>
                  <a:pt x="1023" y="131"/>
                  <a:pt x="1039" y="144"/>
                </a:cubicBezTo>
                <a:cubicBezTo>
                  <a:pt x="1055" y="157"/>
                  <a:pt x="1070" y="171"/>
                  <a:pt x="1085" y="186"/>
                </a:cubicBezTo>
                <a:cubicBezTo>
                  <a:pt x="1100" y="200"/>
                  <a:pt x="1114" y="216"/>
                  <a:pt x="1127" y="232"/>
                </a:cubicBezTo>
                <a:cubicBezTo>
                  <a:pt x="1140" y="248"/>
                  <a:pt x="1152" y="265"/>
                  <a:pt x="1164" y="282"/>
                </a:cubicBezTo>
                <a:cubicBezTo>
                  <a:pt x="1175" y="299"/>
                  <a:pt x="1186" y="317"/>
                  <a:pt x="1196" y="335"/>
                </a:cubicBezTo>
                <a:cubicBezTo>
                  <a:pt x="1206" y="354"/>
                  <a:pt x="1215" y="372"/>
                  <a:pt x="1223" y="392"/>
                </a:cubicBezTo>
                <a:cubicBezTo>
                  <a:pt x="1230" y="411"/>
                  <a:pt x="1237" y="430"/>
                  <a:pt x="1244" y="450"/>
                </a:cubicBezTo>
                <a:cubicBezTo>
                  <a:pt x="1250" y="470"/>
                  <a:pt x="1255" y="490"/>
                  <a:pt x="1259" y="511"/>
                </a:cubicBezTo>
                <a:cubicBezTo>
                  <a:pt x="1263" y="531"/>
                  <a:pt x="1266" y="552"/>
                  <a:pt x="1268" y="572"/>
                </a:cubicBezTo>
                <a:cubicBezTo>
                  <a:pt x="1270" y="593"/>
                  <a:pt x="1271" y="614"/>
                  <a:pt x="1271" y="635"/>
                </a:cubicBezTo>
                <a:close/>
              </a:path>
            </a:pathLst>
          </a:custGeom>
          <a:solidFill>
            <a:srgbClr val="E3EC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ZoneTexte 48"/>
          <p:cNvSpPr txBox="1"/>
          <p:nvPr/>
        </p:nvSpPr>
        <p:spPr>
          <a:xfrm>
            <a:off x="6124680" y="3276720"/>
            <a:ext cx="55288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A5565"/>
                </a:solidFill>
                <a:effectLst/>
                <a:uFillTx/>
                <a:latin typeface="DejaVuSans"/>
                <a:ea typeface="DejaVuSans"/>
              </a:rPr>
              <a:t>Modélisation pour la </a:t>
            </a:r>
            <a:r>
              <a:rPr lang="en-US" sz="1050" b="1" u="none" strike="noStrike">
                <a:solidFill>
                  <a:srgbClr val="4A5565"/>
                </a:solidFill>
                <a:effectLst/>
                <a:uFillTx/>
                <a:latin typeface="DejaVuSans"/>
                <a:ea typeface="DejaVuSans"/>
              </a:rPr>
              <a:t>prédiction de variables continues </a:t>
            </a:r>
            <a:r>
              <a:rPr lang="en-US" sz="1050" b="0" u="none" strike="noStrike">
                <a:solidFill>
                  <a:srgbClr val="4A5565"/>
                </a:solidFill>
                <a:effectLst/>
                <a:uFillTx/>
                <a:latin typeface="DejaVuSans"/>
                <a:ea typeface="DejaVuSans"/>
              </a:rPr>
              <a:t>(ex: coûts d'assurance).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ZoneTexte 49"/>
          <p:cNvSpPr txBox="1"/>
          <p:nvPr/>
        </p:nvSpPr>
        <p:spPr>
          <a:xfrm>
            <a:off x="5636520" y="4224240"/>
            <a:ext cx="21492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002FA7"/>
                </a:solidFill>
                <a:effectLst/>
                <a:uFillTx/>
                <a:latin typeface="FontAwesome6Free-Solid"/>
                <a:ea typeface="FontAwesome6Free-Solid"/>
              </a:rPr>
              <a:t>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ZoneTexte 50"/>
          <p:cNvSpPr txBox="1"/>
          <p:nvPr/>
        </p:nvSpPr>
        <p:spPr>
          <a:xfrm>
            <a:off x="6124680" y="4120920"/>
            <a:ext cx="217404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101828"/>
                </a:solidFill>
                <a:effectLst/>
                <a:uFillTx/>
                <a:latin typeface="Georgia"/>
                <a:ea typeface="Georgia"/>
              </a:rPr>
              <a:t>Régression Logistique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ZoneTexte 51"/>
          <p:cNvSpPr txBox="1"/>
          <p:nvPr/>
        </p:nvSpPr>
        <p:spPr>
          <a:xfrm>
            <a:off x="6124680" y="4429080"/>
            <a:ext cx="44668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A5565"/>
                </a:solidFill>
                <a:effectLst/>
                <a:uFillTx/>
                <a:latin typeface="DejaVuSans"/>
                <a:ea typeface="DejaVuSans"/>
              </a:rPr>
              <a:t>Modélisation pour la </a:t>
            </a:r>
            <a:r>
              <a:rPr lang="en-US" sz="1050" b="1" u="none" strike="noStrike">
                <a:solidFill>
                  <a:srgbClr val="4A5565"/>
                </a:solidFill>
                <a:effectLst/>
                <a:uFillTx/>
                <a:latin typeface="DejaVuSans"/>
                <a:ea typeface="DejaVuSans"/>
              </a:rPr>
              <a:t>classiﬁcation binaire </a:t>
            </a:r>
            <a:r>
              <a:rPr lang="en-US" sz="1050" b="0" u="none" strike="noStrike">
                <a:solidFill>
                  <a:srgbClr val="4A5565"/>
                </a:solidFill>
                <a:effectLst/>
                <a:uFillTx/>
                <a:latin typeface="DejaVuSans"/>
                <a:ea typeface="DejaVuSans"/>
              </a:rPr>
              <a:t>(ex: type de ﬂeur Iris).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ZoneTexte 52"/>
          <p:cNvSpPr txBox="1"/>
          <p:nvPr/>
        </p:nvSpPr>
        <p:spPr>
          <a:xfrm>
            <a:off x="11760840" y="6428160"/>
            <a:ext cx="1461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99A1AF"/>
                </a:solidFill>
                <a:effectLst/>
                <a:uFillTx/>
                <a:latin typeface="DejaVuSans"/>
                <a:ea typeface="DejaVuSans"/>
              </a:rPr>
              <a:t>03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orme libre : forme 5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Forme libre : forme 5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Forme libre : forme 55"/>
          <p:cNvSpPr/>
          <p:nvPr/>
        </p:nvSpPr>
        <p:spPr>
          <a:xfrm>
            <a:off x="285480" y="628560"/>
            <a:ext cx="11620800" cy="9720"/>
          </a:xfrm>
          <a:custGeom>
            <a:avLst/>
            <a:gdLst/>
            <a:ahLst/>
            <a:cxnLst/>
            <a:rect l="0" t="0" r="r" b="b"/>
            <a:pathLst>
              <a:path w="32280" h="27">
                <a:moveTo>
                  <a:pt x="0" y="0"/>
                </a:moveTo>
                <a:lnTo>
                  <a:pt x="32280" y="0"/>
                </a:lnTo>
                <a:lnTo>
                  <a:pt x="322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ZoneTexte 56"/>
          <p:cNvSpPr txBox="1"/>
          <p:nvPr/>
        </p:nvSpPr>
        <p:spPr>
          <a:xfrm>
            <a:off x="285840" y="317160"/>
            <a:ext cx="19314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1" u="none" strike="noStrike">
                <a:solidFill>
                  <a:srgbClr val="101828"/>
                </a:solidFill>
                <a:effectLst/>
                <a:uFillTx/>
                <a:latin typeface="DejaVuSans"/>
                <a:ea typeface="DejaVuSans"/>
              </a:rPr>
              <a:t>MACHINE LEARNING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ZoneTexte 57"/>
          <p:cNvSpPr txBox="1"/>
          <p:nvPr/>
        </p:nvSpPr>
        <p:spPr>
          <a:xfrm>
            <a:off x="9590400" y="343080"/>
            <a:ext cx="23032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101828"/>
                </a:solidFill>
                <a:effectLst/>
                <a:uFillTx/>
                <a:latin typeface="DejaVuSans"/>
                <a:ea typeface="DejaVuSans"/>
              </a:rPr>
              <a:t>Branches du Machine Learning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ZoneTexte 58"/>
          <p:cNvSpPr txBox="1"/>
          <p:nvPr/>
        </p:nvSpPr>
        <p:spPr>
          <a:xfrm>
            <a:off x="285840" y="1685880"/>
            <a:ext cx="2253600" cy="52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600" b="0" u="none" strike="noStrike">
                <a:solidFill>
                  <a:srgbClr val="101828"/>
                </a:solidFill>
                <a:effectLst/>
                <a:uFillTx/>
                <a:latin typeface="Georgia"/>
                <a:ea typeface="Georgia"/>
              </a:rPr>
              <a:t>Principales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Forme libre : forme 59"/>
          <p:cNvSpPr/>
          <p:nvPr/>
        </p:nvSpPr>
        <p:spPr>
          <a:xfrm>
            <a:off x="304560" y="3085920"/>
            <a:ext cx="4057920" cy="1295640"/>
          </a:xfrm>
          <a:custGeom>
            <a:avLst/>
            <a:gdLst/>
            <a:ahLst/>
            <a:cxnLst/>
            <a:rect l="0" t="0" r="r" b="b"/>
            <a:pathLst>
              <a:path w="11272" h="3599">
                <a:moveTo>
                  <a:pt x="0" y="3599"/>
                </a:moveTo>
                <a:lnTo>
                  <a:pt x="0" y="0"/>
                </a:lnTo>
                <a:lnTo>
                  <a:pt x="11061" y="0"/>
                </a:lnTo>
                <a:cubicBezTo>
                  <a:pt x="11075" y="0"/>
                  <a:pt x="11088" y="1"/>
                  <a:pt x="11102" y="4"/>
                </a:cubicBezTo>
                <a:cubicBezTo>
                  <a:pt x="11116" y="7"/>
                  <a:pt x="11129" y="11"/>
                  <a:pt x="11142" y="16"/>
                </a:cubicBezTo>
                <a:cubicBezTo>
                  <a:pt x="11155" y="21"/>
                  <a:pt x="11167" y="28"/>
                  <a:pt x="11178" y="36"/>
                </a:cubicBezTo>
                <a:cubicBezTo>
                  <a:pt x="11190" y="43"/>
                  <a:pt x="11201" y="52"/>
                  <a:pt x="11210" y="62"/>
                </a:cubicBezTo>
                <a:cubicBezTo>
                  <a:pt x="11220" y="72"/>
                  <a:pt x="11229" y="83"/>
                  <a:pt x="11237" y="94"/>
                </a:cubicBezTo>
                <a:cubicBezTo>
                  <a:pt x="11244" y="106"/>
                  <a:pt x="11251" y="118"/>
                  <a:pt x="11256" y="131"/>
                </a:cubicBezTo>
                <a:cubicBezTo>
                  <a:pt x="11262" y="144"/>
                  <a:pt x="11266" y="157"/>
                  <a:pt x="11268" y="170"/>
                </a:cubicBezTo>
                <a:cubicBezTo>
                  <a:pt x="11271" y="184"/>
                  <a:pt x="11272" y="198"/>
                  <a:pt x="11272" y="212"/>
                </a:cubicBezTo>
                <a:lnTo>
                  <a:pt x="11272" y="3388"/>
                </a:lnTo>
                <a:cubicBezTo>
                  <a:pt x="11272" y="3402"/>
                  <a:pt x="11271" y="3415"/>
                  <a:pt x="11268" y="3429"/>
                </a:cubicBezTo>
                <a:cubicBezTo>
                  <a:pt x="11266" y="3443"/>
                  <a:pt x="11262" y="3456"/>
                  <a:pt x="11256" y="3469"/>
                </a:cubicBezTo>
                <a:cubicBezTo>
                  <a:pt x="11251" y="3482"/>
                  <a:pt x="11244" y="3494"/>
                  <a:pt x="11237" y="3505"/>
                </a:cubicBezTo>
                <a:cubicBezTo>
                  <a:pt x="11229" y="3517"/>
                  <a:pt x="11220" y="3528"/>
                  <a:pt x="11210" y="3537"/>
                </a:cubicBezTo>
                <a:cubicBezTo>
                  <a:pt x="11201" y="3547"/>
                  <a:pt x="11190" y="3556"/>
                  <a:pt x="11178" y="3564"/>
                </a:cubicBezTo>
                <a:cubicBezTo>
                  <a:pt x="11167" y="3571"/>
                  <a:pt x="11155" y="3578"/>
                  <a:pt x="11142" y="3583"/>
                </a:cubicBezTo>
                <a:cubicBezTo>
                  <a:pt x="11129" y="3589"/>
                  <a:pt x="11116" y="3593"/>
                  <a:pt x="11102" y="3595"/>
                </a:cubicBezTo>
                <a:cubicBezTo>
                  <a:pt x="11088" y="3598"/>
                  <a:pt x="11075" y="3599"/>
                  <a:pt x="11061" y="3599"/>
                </a:cubicBezTo>
                <a:lnTo>
                  <a:pt x="0" y="3599"/>
                </a:lnTo>
                <a:close/>
              </a:path>
            </a:pathLst>
          </a:custGeom>
          <a:solidFill>
            <a:srgbClr val="F0F4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Forme libre : forme 60"/>
          <p:cNvSpPr/>
          <p:nvPr/>
        </p:nvSpPr>
        <p:spPr>
          <a:xfrm>
            <a:off x="285480" y="3085920"/>
            <a:ext cx="38520" cy="1295640"/>
          </a:xfrm>
          <a:custGeom>
            <a:avLst/>
            <a:gdLst/>
            <a:ahLst/>
            <a:cxnLst/>
            <a:rect l="0" t="0" r="r" b="b"/>
            <a:pathLst>
              <a:path w="107" h="3599">
                <a:moveTo>
                  <a:pt x="0" y="0"/>
                </a:moveTo>
                <a:lnTo>
                  <a:pt x="107" y="0"/>
                </a:lnTo>
                <a:lnTo>
                  <a:pt x="107" y="3599"/>
                </a:lnTo>
                <a:lnTo>
                  <a:pt x="0" y="3599"/>
                </a:lnTo>
                <a:lnTo>
                  <a:pt x="0" y="0"/>
                </a:lnTo>
                <a:close/>
              </a:path>
            </a:pathLst>
          </a:custGeom>
          <a:solidFill>
            <a:srgbClr val="002FA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ZoneTexte 61"/>
          <p:cNvSpPr txBox="1"/>
          <p:nvPr/>
        </p:nvSpPr>
        <p:spPr>
          <a:xfrm>
            <a:off x="285840" y="2238120"/>
            <a:ext cx="1836720" cy="52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600" b="0" u="none" strike="noStrike">
                <a:solidFill>
                  <a:srgbClr val="101828"/>
                </a:solidFill>
                <a:effectLst/>
                <a:uFillTx/>
                <a:latin typeface="Georgia"/>
                <a:ea typeface="Georgia"/>
              </a:rPr>
              <a:t>branches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ZoneTexte 62"/>
          <p:cNvSpPr txBox="1"/>
          <p:nvPr/>
        </p:nvSpPr>
        <p:spPr>
          <a:xfrm>
            <a:off x="514440" y="3309840"/>
            <a:ext cx="19116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002FA7"/>
                </a:solidFill>
                <a:effectLst/>
                <a:uFillTx/>
                <a:latin typeface="FontAwesome6Free-Solid"/>
                <a:ea typeface="FontAwesome6Free-Solid"/>
              </a:rPr>
              <a:t>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ZoneTexte 63"/>
          <p:cNvSpPr txBox="1"/>
          <p:nvPr/>
        </p:nvSpPr>
        <p:spPr>
          <a:xfrm>
            <a:off x="819000" y="3299760"/>
            <a:ext cx="26636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002FA7"/>
                </a:solidFill>
                <a:effectLst/>
                <a:uFillTx/>
                <a:latin typeface="DejaVuSans"/>
                <a:ea typeface="DejaVuSans"/>
              </a:rPr>
              <a:t>Apprentissage supervisé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ZoneTexte 64"/>
          <p:cNvSpPr txBox="1"/>
          <p:nvPr/>
        </p:nvSpPr>
        <p:spPr>
          <a:xfrm>
            <a:off x="819000" y="3627720"/>
            <a:ext cx="168732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6A7282"/>
                </a:solidFill>
                <a:effectLst/>
                <a:uFillTx/>
                <a:latin typeface="DejaVuSans"/>
                <a:ea typeface="DejaVuSans"/>
              </a:rPr>
              <a:t>POSITIONNEMENT DU PROJET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ZoneTexte 65"/>
          <p:cNvSpPr txBox="1"/>
          <p:nvPr/>
        </p:nvSpPr>
        <p:spPr>
          <a:xfrm>
            <a:off x="819000" y="3828960"/>
            <a:ext cx="32252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64153"/>
                </a:solidFill>
                <a:effectLst/>
                <a:uFillTx/>
                <a:latin typeface="DejaVuSans"/>
                <a:ea typeface="DejaVuSans"/>
              </a:rPr>
              <a:t>Utilisation de données étiquetées pour entraîner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ZoneTexte 66"/>
          <p:cNvSpPr txBox="1"/>
          <p:nvPr/>
        </p:nvSpPr>
        <p:spPr>
          <a:xfrm>
            <a:off x="819000" y="4019760"/>
            <a:ext cx="15440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64153"/>
                </a:solidFill>
                <a:effectLst/>
                <a:uFillTx/>
                <a:latin typeface="DejaVuSans"/>
                <a:ea typeface="DejaVuSans"/>
              </a:rPr>
              <a:t>des modèles prédictifs.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Forme libre : forme 67"/>
          <p:cNvSpPr/>
          <p:nvPr/>
        </p:nvSpPr>
        <p:spPr>
          <a:xfrm>
            <a:off x="285480" y="6257880"/>
            <a:ext cx="11620800" cy="9720"/>
          </a:xfrm>
          <a:custGeom>
            <a:avLst/>
            <a:gdLst/>
            <a:ahLst/>
            <a:cxnLst/>
            <a:rect l="0" t="0" r="r" b="b"/>
            <a:pathLst>
              <a:path w="32280" h="27">
                <a:moveTo>
                  <a:pt x="0" y="0"/>
                </a:moveTo>
                <a:lnTo>
                  <a:pt x="32280" y="0"/>
                </a:lnTo>
                <a:lnTo>
                  <a:pt x="322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ZoneTexte 68"/>
          <p:cNvSpPr txBox="1"/>
          <p:nvPr/>
        </p:nvSpPr>
        <p:spPr>
          <a:xfrm>
            <a:off x="6396480" y="5523120"/>
            <a:ext cx="38196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002FA7"/>
                </a:solidFill>
                <a:effectLst/>
                <a:uFillTx/>
                <a:latin typeface="DejaVuSans"/>
                <a:ea typeface="DejaVuSans"/>
              </a:rPr>
              <a:t>●</a:t>
            </a:r>
            <a:r>
              <a:rPr lang="en-US" sz="900" b="0" i="1" u="none" strike="noStrike">
                <a:solidFill>
                  <a:srgbClr val="99A1AF"/>
                </a:solidFill>
                <a:effectLst/>
                <a:uFillTx/>
                <a:latin typeface="DejaVuSans"/>
                <a:ea typeface="DejaVuSans"/>
              </a:rPr>
              <a:t> Vue d'ensemble des diﬀérentes approches du Machine Learning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ZoneTexte 69"/>
          <p:cNvSpPr txBox="1"/>
          <p:nvPr/>
        </p:nvSpPr>
        <p:spPr>
          <a:xfrm>
            <a:off x="285840" y="6428160"/>
            <a:ext cx="29228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99A1AF"/>
                </a:solidFill>
                <a:effectLst/>
                <a:uFillTx/>
                <a:latin typeface="DejaVuSans"/>
                <a:ea typeface="DejaVuSans"/>
              </a:rPr>
              <a:t>Mini-Projet Machine Learning | M1 IA | Janvier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Forme libre : forme 70"/>
          <p:cNvSpPr/>
          <p:nvPr/>
        </p:nvSpPr>
        <p:spPr>
          <a:xfrm>
            <a:off x="514080" y="47052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2" y="192"/>
                  <a:pt x="161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99A1A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ZoneTexte 71"/>
          <p:cNvSpPr txBox="1"/>
          <p:nvPr/>
        </p:nvSpPr>
        <p:spPr>
          <a:xfrm>
            <a:off x="11760840" y="6428160"/>
            <a:ext cx="1461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99A1AF"/>
                </a:solidFill>
                <a:effectLst/>
                <a:uFillTx/>
                <a:latin typeface="DejaVuSans"/>
                <a:ea typeface="DejaVuSans"/>
              </a:rPr>
              <a:t>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Forme libre : forme 72"/>
          <p:cNvSpPr/>
          <p:nvPr/>
        </p:nvSpPr>
        <p:spPr>
          <a:xfrm>
            <a:off x="514080" y="52005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2" y="171"/>
                  <a:pt x="182" y="181"/>
                </a:cubicBezTo>
                <a:cubicBezTo>
                  <a:pt x="172" y="191"/>
                  <a:pt x="161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1" y="32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9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199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99A1A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ZoneTexte 73"/>
          <p:cNvSpPr txBox="1"/>
          <p:nvPr/>
        </p:nvSpPr>
        <p:spPr>
          <a:xfrm>
            <a:off x="743040" y="4633200"/>
            <a:ext cx="27676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4A5565"/>
                </a:solidFill>
                <a:effectLst/>
                <a:uFillTx/>
                <a:latin typeface="DejaVuSans"/>
                <a:ea typeface="DejaVuSans"/>
              </a:rPr>
              <a:t>Apprentissage non supervisé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Forme libre : forme 74"/>
          <p:cNvSpPr/>
          <p:nvPr/>
        </p:nvSpPr>
        <p:spPr>
          <a:xfrm>
            <a:off x="4910040" y="1385640"/>
            <a:ext cx="6829560" cy="3972240"/>
          </a:xfrm>
          <a:custGeom>
            <a:avLst/>
            <a:gdLst/>
            <a:ahLst/>
            <a:cxnLst/>
            <a:rect l="0" t="0" r="r" b="b"/>
            <a:pathLst>
              <a:path w="18971" h="11034">
                <a:moveTo>
                  <a:pt x="0" y="10836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18773" y="0"/>
                </a:lnTo>
                <a:cubicBezTo>
                  <a:pt x="18786" y="0"/>
                  <a:pt x="18799" y="1"/>
                  <a:pt x="18812" y="4"/>
                </a:cubicBezTo>
                <a:cubicBezTo>
                  <a:pt x="18824" y="7"/>
                  <a:pt x="18837" y="10"/>
                  <a:pt x="18849" y="15"/>
                </a:cubicBezTo>
                <a:cubicBezTo>
                  <a:pt x="18861" y="20"/>
                  <a:pt x="18872" y="26"/>
                  <a:pt x="18883" y="34"/>
                </a:cubicBezTo>
                <a:cubicBezTo>
                  <a:pt x="18894" y="41"/>
                  <a:pt x="18904" y="49"/>
                  <a:pt x="18913" y="58"/>
                </a:cubicBezTo>
                <a:cubicBezTo>
                  <a:pt x="18922" y="68"/>
                  <a:pt x="18931" y="78"/>
                  <a:pt x="18938" y="88"/>
                </a:cubicBezTo>
                <a:cubicBezTo>
                  <a:pt x="18945" y="99"/>
                  <a:pt x="18951" y="111"/>
                  <a:pt x="18956" y="123"/>
                </a:cubicBezTo>
                <a:cubicBezTo>
                  <a:pt x="18961" y="135"/>
                  <a:pt x="18965" y="147"/>
                  <a:pt x="18968" y="160"/>
                </a:cubicBezTo>
                <a:cubicBezTo>
                  <a:pt x="18970" y="173"/>
                  <a:pt x="18971" y="186"/>
                  <a:pt x="18971" y="199"/>
                </a:cubicBezTo>
                <a:lnTo>
                  <a:pt x="18971" y="10836"/>
                </a:lnTo>
                <a:cubicBezTo>
                  <a:pt x="18971" y="10849"/>
                  <a:pt x="18970" y="10862"/>
                  <a:pt x="18968" y="10875"/>
                </a:cubicBezTo>
                <a:cubicBezTo>
                  <a:pt x="18965" y="10887"/>
                  <a:pt x="18961" y="10900"/>
                  <a:pt x="18956" y="10912"/>
                </a:cubicBezTo>
                <a:cubicBezTo>
                  <a:pt x="18951" y="10924"/>
                  <a:pt x="18945" y="10935"/>
                  <a:pt x="18938" y="10946"/>
                </a:cubicBezTo>
                <a:cubicBezTo>
                  <a:pt x="18931" y="10957"/>
                  <a:pt x="18922" y="10967"/>
                  <a:pt x="18913" y="10976"/>
                </a:cubicBezTo>
                <a:cubicBezTo>
                  <a:pt x="18904" y="10985"/>
                  <a:pt x="18894" y="10994"/>
                  <a:pt x="18883" y="11001"/>
                </a:cubicBezTo>
                <a:cubicBezTo>
                  <a:pt x="18872" y="11008"/>
                  <a:pt x="18861" y="11014"/>
                  <a:pt x="18849" y="11019"/>
                </a:cubicBezTo>
                <a:cubicBezTo>
                  <a:pt x="18837" y="11024"/>
                  <a:pt x="18824" y="11028"/>
                  <a:pt x="18812" y="11030"/>
                </a:cubicBezTo>
                <a:cubicBezTo>
                  <a:pt x="18799" y="11033"/>
                  <a:pt x="18786" y="11034"/>
                  <a:pt x="18773" y="11034"/>
                </a:cubicBezTo>
                <a:lnTo>
                  <a:pt x="198" y="11034"/>
                </a:lnTo>
                <a:cubicBezTo>
                  <a:pt x="185" y="11034"/>
                  <a:pt x="172" y="11033"/>
                  <a:pt x="159" y="11030"/>
                </a:cubicBezTo>
                <a:cubicBezTo>
                  <a:pt x="147" y="11028"/>
                  <a:pt x="134" y="11024"/>
                  <a:pt x="122" y="11019"/>
                </a:cubicBezTo>
                <a:cubicBezTo>
                  <a:pt x="110" y="11014"/>
                  <a:pt x="99" y="11008"/>
                  <a:pt x="88" y="11001"/>
                </a:cubicBezTo>
                <a:cubicBezTo>
                  <a:pt x="77" y="10994"/>
                  <a:pt x="67" y="10985"/>
                  <a:pt x="58" y="10976"/>
                </a:cubicBezTo>
                <a:cubicBezTo>
                  <a:pt x="49" y="10967"/>
                  <a:pt x="40" y="10957"/>
                  <a:pt x="33" y="10946"/>
                </a:cubicBezTo>
                <a:cubicBezTo>
                  <a:pt x="26" y="10935"/>
                  <a:pt x="20" y="10924"/>
                  <a:pt x="15" y="10912"/>
                </a:cubicBezTo>
                <a:cubicBezTo>
                  <a:pt x="10" y="10900"/>
                  <a:pt x="6" y="10887"/>
                  <a:pt x="4" y="10875"/>
                </a:cubicBezTo>
                <a:cubicBezTo>
                  <a:pt x="1" y="10862"/>
                  <a:pt x="0" y="10849"/>
                  <a:pt x="0" y="1083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Forme libre : forme 75"/>
          <p:cNvSpPr/>
          <p:nvPr/>
        </p:nvSpPr>
        <p:spPr>
          <a:xfrm>
            <a:off x="4910040" y="1385640"/>
            <a:ext cx="6829560" cy="3972240"/>
          </a:xfrm>
          <a:custGeom>
            <a:avLst/>
            <a:gdLst/>
            <a:ahLst/>
            <a:cxnLst/>
            <a:rect l="0" t="0" r="r" b="b"/>
            <a:pathLst>
              <a:path w="18971" h="11034" fill="none">
                <a:moveTo>
                  <a:pt x="0" y="10836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18773" y="0"/>
                </a:lnTo>
                <a:cubicBezTo>
                  <a:pt x="18786" y="0"/>
                  <a:pt x="18799" y="1"/>
                  <a:pt x="18812" y="4"/>
                </a:cubicBezTo>
                <a:cubicBezTo>
                  <a:pt x="18824" y="7"/>
                  <a:pt x="18837" y="10"/>
                  <a:pt x="18849" y="15"/>
                </a:cubicBezTo>
                <a:cubicBezTo>
                  <a:pt x="18861" y="20"/>
                  <a:pt x="18872" y="26"/>
                  <a:pt x="18883" y="34"/>
                </a:cubicBezTo>
                <a:cubicBezTo>
                  <a:pt x="18894" y="41"/>
                  <a:pt x="18904" y="49"/>
                  <a:pt x="18913" y="58"/>
                </a:cubicBezTo>
                <a:cubicBezTo>
                  <a:pt x="18922" y="68"/>
                  <a:pt x="18931" y="78"/>
                  <a:pt x="18938" y="88"/>
                </a:cubicBezTo>
                <a:cubicBezTo>
                  <a:pt x="18945" y="99"/>
                  <a:pt x="18951" y="111"/>
                  <a:pt x="18956" y="123"/>
                </a:cubicBezTo>
                <a:cubicBezTo>
                  <a:pt x="18961" y="135"/>
                  <a:pt x="18965" y="147"/>
                  <a:pt x="18968" y="160"/>
                </a:cubicBezTo>
                <a:cubicBezTo>
                  <a:pt x="18970" y="173"/>
                  <a:pt x="18971" y="186"/>
                  <a:pt x="18971" y="199"/>
                </a:cubicBezTo>
                <a:lnTo>
                  <a:pt x="18971" y="10836"/>
                </a:lnTo>
                <a:cubicBezTo>
                  <a:pt x="18971" y="10849"/>
                  <a:pt x="18970" y="10862"/>
                  <a:pt x="18968" y="10875"/>
                </a:cubicBezTo>
                <a:cubicBezTo>
                  <a:pt x="18965" y="10887"/>
                  <a:pt x="18961" y="10900"/>
                  <a:pt x="18956" y="10912"/>
                </a:cubicBezTo>
                <a:cubicBezTo>
                  <a:pt x="18951" y="10924"/>
                  <a:pt x="18945" y="10935"/>
                  <a:pt x="18938" y="10946"/>
                </a:cubicBezTo>
                <a:cubicBezTo>
                  <a:pt x="18931" y="10957"/>
                  <a:pt x="18922" y="10967"/>
                  <a:pt x="18913" y="10976"/>
                </a:cubicBezTo>
                <a:cubicBezTo>
                  <a:pt x="18904" y="10985"/>
                  <a:pt x="18894" y="10994"/>
                  <a:pt x="18883" y="11001"/>
                </a:cubicBezTo>
                <a:cubicBezTo>
                  <a:pt x="18872" y="11008"/>
                  <a:pt x="18861" y="11014"/>
                  <a:pt x="18849" y="11019"/>
                </a:cubicBezTo>
                <a:cubicBezTo>
                  <a:pt x="18837" y="11024"/>
                  <a:pt x="18824" y="11028"/>
                  <a:pt x="18812" y="11030"/>
                </a:cubicBezTo>
                <a:cubicBezTo>
                  <a:pt x="18799" y="11033"/>
                  <a:pt x="18786" y="11034"/>
                  <a:pt x="18773" y="11034"/>
                </a:cubicBezTo>
                <a:lnTo>
                  <a:pt x="198" y="11034"/>
                </a:lnTo>
                <a:cubicBezTo>
                  <a:pt x="185" y="11034"/>
                  <a:pt x="172" y="11033"/>
                  <a:pt x="159" y="11030"/>
                </a:cubicBezTo>
                <a:cubicBezTo>
                  <a:pt x="147" y="11028"/>
                  <a:pt x="134" y="11024"/>
                  <a:pt x="122" y="11019"/>
                </a:cubicBezTo>
                <a:cubicBezTo>
                  <a:pt x="110" y="11014"/>
                  <a:pt x="99" y="11008"/>
                  <a:pt x="88" y="11001"/>
                </a:cubicBezTo>
                <a:cubicBezTo>
                  <a:pt x="77" y="10994"/>
                  <a:pt x="67" y="10985"/>
                  <a:pt x="58" y="10976"/>
                </a:cubicBezTo>
                <a:cubicBezTo>
                  <a:pt x="49" y="10967"/>
                  <a:pt x="40" y="10957"/>
                  <a:pt x="33" y="10946"/>
                </a:cubicBezTo>
                <a:cubicBezTo>
                  <a:pt x="26" y="10935"/>
                  <a:pt x="20" y="10924"/>
                  <a:pt x="15" y="10912"/>
                </a:cubicBezTo>
                <a:cubicBezTo>
                  <a:pt x="10" y="10900"/>
                  <a:pt x="6" y="10887"/>
                  <a:pt x="4" y="10875"/>
                </a:cubicBezTo>
                <a:cubicBezTo>
                  <a:pt x="1" y="10862"/>
                  <a:pt x="0" y="10849"/>
                  <a:pt x="0" y="10836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ZoneTexte 77"/>
          <p:cNvSpPr txBox="1"/>
          <p:nvPr/>
        </p:nvSpPr>
        <p:spPr>
          <a:xfrm>
            <a:off x="743040" y="5128560"/>
            <a:ext cx="31057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4A5565"/>
                </a:solidFill>
                <a:effectLst/>
                <a:uFillTx/>
                <a:latin typeface="DejaVuSans"/>
                <a:ea typeface="DejaVuSans"/>
              </a:rPr>
              <a:t>Apprentissage par renforcement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9C69043-C39C-B19E-1201-F9A8AFD98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504"/>
          <a:stretch>
            <a:fillRect/>
          </a:stretch>
        </p:blipFill>
        <p:spPr>
          <a:xfrm>
            <a:off x="4933620" y="1377721"/>
            <a:ext cx="6805980" cy="39722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Forme libre : forme 11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Forme libre : forme 114"/>
          <p:cNvSpPr/>
          <p:nvPr/>
        </p:nvSpPr>
        <p:spPr>
          <a:xfrm>
            <a:off x="285480" y="628560"/>
            <a:ext cx="11620800" cy="9720"/>
          </a:xfrm>
          <a:custGeom>
            <a:avLst/>
            <a:gdLst/>
            <a:ahLst/>
            <a:cxnLst/>
            <a:rect l="0" t="0" r="r" b="b"/>
            <a:pathLst>
              <a:path w="32280" h="27">
                <a:moveTo>
                  <a:pt x="0" y="0"/>
                </a:moveTo>
                <a:lnTo>
                  <a:pt x="32280" y="0"/>
                </a:lnTo>
                <a:lnTo>
                  <a:pt x="322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ZoneTexte 115"/>
          <p:cNvSpPr txBox="1"/>
          <p:nvPr/>
        </p:nvSpPr>
        <p:spPr>
          <a:xfrm>
            <a:off x="285840" y="317160"/>
            <a:ext cx="15523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1" u="none" strike="noStrike">
                <a:solidFill>
                  <a:srgbClr val="101828"/>
                </a:solidFill>
                <a:effectLst/>
                <a:uFillTx/>
                <a:latin typeface="DejaVuSans"/>
                <a:ea typeface="DejaVuSans"/>
              </a:rPr>
              <a:t>MÉTHODOLOGIE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Forme libre : forme 116"/>
          <p:cNvSpPr/>
          <p:nvPr/>
        </p:nvSpPr>
        <p:spPr>
          <a:xfrm>
            <a:off x="618840" y="2323800"/>
            <a:ext cx="305280" cy="305280"/>
          </a:xfrm>
          <a:custGeom>
            <a:avLst/>
            <a:gdLst/>
            <a:ahLst/>
            <a:cxnLst/>
            <a:rect l="0" t="0" r="r" b="b"/>
            <a:pathLst>
              <a:path w="848" h="848">
                <a:moveTo>
                  <a:pt x="848" y="424"/>
                </a:moveTo>
                <a:cubicBezTo>
                  <a:pt x="848" y="451"/>
                  <a:pt x="845" y="479"/>
                  <a:pt x="840" y="506"/>
                </a:cubicBezTo>
                <a:cubicBezTo>
                  <a:pt x="834" y="534"/>
                  <a:pt x="826" y="560"/>
                  <a:pt x="816" y="586"/>
                </a:cubicBezTo>
                <a:cubicBezTo>
                  <a:pt x="805" y="611"/>
                  <a:pt x="792" y="636"/>
                  <a:pt x="777" y="659"/>
                </a:cubicBezTo>
                <a:cubicBezTo>
                  <a:pt x="761" y="682"/>
                  <a:pt x="744" y="703"/>
                  <a:pt x="724" y="723"/>
                </a:cubicBezTo>
                <a:cubicBezTo>
                  <a:pt x="704" y="744"/>
                  <a:pt x="683" y="761"/>
                  <a:pt x="660" y="777"/>
                </a:cubicBezTo>
                <a:cubicBezTo>
                  <a:pt x="637" y="792"/>
                  <a:pt x="612" y="805"/>
                  <a:pt x="587" y="816"/>
                </a:cubicBezTo>
                <a:cubicBezTo>
                  <a:pt x="561" y="826"/>
                  <a:pt x="534" y="834"/>
                  <a:pt x="507" y="840"/>
                </a:cubicBezTo>
                <a:cubicBezTo>
                  <a:pt x="480" y="845"/>
                  <a:pt x="452" y="848"/>
                  <a:pt x="425" y="848"/>
                </a:cubicBezTo>
                <a:cubicBezTo>
                  <a:pt x="397" y="848"/>
                  <a:pt x="368" y="845"/>
                  <a:pt x="341" y="840"/>
                </a:cubicBezTo>
                <a:cubicBezTo>
                  <a:pt x="314" y="834"/>
                  <a:pt x="287" y="826"/>
                  <a:pt x="262" y="816"/>
                </a:cubicBezTo>
                <a:cubicBezTo>
                  <a:pt x="236" y="805"/>
                  <a:pt x="212" y="792"/>
                  <a:pt x="188" y="777"/>
                </a:cubicBezTo>
                <a:cubicBezTo>
                  <a:pt x="165" y="761"/>
                  <a:pt x="144" y="744"/>
                  <a:pt x="124" y="723"/>
                </a:cubicBezTo>
                <a:cubicBezTo>
                  <a:pt x="105" y="703"/>
                  <a:pt x="87" y="682"/>
                  <a:pt x="72" y="659"/>
                </a:cubicBezTo>
                <a:cubicBezTo>
                  <a:pt x="56" y="636"/>
                  <a:pt x="43" y="611"/>
                  <a:pt x="33" y="586"/>
                </a:cubicBezTo>
                <a:cubicBezTo>
                  <a:pt x="22" y="560"/>
                  <a:pt x="14" y="534"/>
                  <a:pt x="8" y="506"/>
                </a:cubicBezTo>
                <a:cubicBezTo>
                  <a:pt x="3" y="479"/>
                  <a:pt x="0" y="451"/>
                  <a:pt x="0" y="424"/>
                </a:cubicBezTo>
                <a:cubicBezTo>
                  <a:pt x="0" y="396"/>
                  <a:pt x="3" y="368"/>
                  <a:pt x="8" y="341"/>
                </a:cubicBezTo>
                <a:cubicBezTo>
                  <a:pt x="14" y="314"/>
                  <a:pt x="22" y="287"/>
                  <a:pt x="33" y="262"/>
                </a:cubicBezTo>
                <a:cubicBezTo>
                  <a:pt x="43" y="236"/>
                  <a:pt x="56" y="212"/>
                  <a:pt x="72" y="188"/>
                </a:cubicBezTo>
                <a:cubicBezTo>
                  <a:pt x="87" y="165"/>
                  <a:pt x="105" y="144"/>
                  <a:pt x="124" y="124"/>
                </a:cubicBezTo>
                <a:cubicBezTo>
                  <a:pt x="144" y="105"/>
                  <a:pt x="165" y="87"/>
                  <a:pt x="188" y="72"/>
                </a:cubicBezTo>
                <a:cubicBezTo>
                  <a:pt x="212" y="56"/>
                  <a:pt x="236" y="43"/>
                  <a:pt x="262" y="33"/>
                </a:cubicBezTo>
                <a:cubicBezTo>
                  <a:pt x="287" y="22"/>
                  <a:pt x="314" y="14"/>
                  <a:pt x="341" y="8"/>
                </a:cubicBezTo>
                <a:cubicBezTo>
                  <a:pt x="368" y="3"/>
                  <a:pt x="397" y="0"/>
                  <a:pt x="425" y="0"/>
                </a:cubicBezTo>
                <a:cubicBezTo>
                  <a:pt x="452" y="0"/>
                  <a:pt x="480" y="3"/>
                  <a:pt x="507" y="8"/>
                </a:cubicBezTo>
                <a:cubicBezTo>
                  <a:pt x="534" y="14"/>
                  <a:pt x="561" y="22"/>
                  <a:pt x="587" y="33"/>
                </a:cubicBezTo>
                <a:cubicBezTo>
                  <a:pt x="612" y="43"/>
                  <a:pt x="637" y="56"/>
                  <a:pt x="660" y="72"/>
                </a:cubicBezTo>
                <a:cubicBezTo>
                  <a:pt x="683" y="87"/>
                  <a:pt x="704" y="105"/>
                  <a:pt x="724" y="124"/>
                </a:cubicBezTo>
                <a:cubicBezTo>
                  <a:pt x="744" y="144"/>
                  <a:pt x="761" y="165"/>
                  <a:pt x="777" y="188"/>
                </a:cubicBezTo>
                <a:cubicBezTo>
                  <a:pt x="792" y="212"/>
                  <a:pt x="805" y="236"/>
                  <a:pt x="816" y="262"/>
                </a:cubicBezTo>
                <a:cubicBezTo>
                  <a:pt x="826" y="287"/>
                  <a:pt x="834" y="314"/>
                  <a:pt x="840" y="341"/>
                </a:cubicBezTo>
                <a:cubicBezTo>
                  <a:pt x="845" y="368"/>
                  <a:pt x="848" y="396"/>
                  <a:pt x="848" y="424"/>
                </a:cubicBezTo>
                <a:close/>
              </a:path>
            </a:pathLst>
          </a:custGeom>
          <a:solidFill>
            <a:srgbClr val="002FA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ZoneTexte 117"/>
          <p:cNvSpPr txBox="1"/>
          <p:nvPr/>
        </p:nvSpPr>
        <p:spPr>
          <a:xfrm>
            <a:off x="10076760" y="343080"/>
            <a:ext cx="18198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101828"/>
                </a:solidFill>
                <a:effectLst/>
                <a:uFillTx/>
                <a:latin typeface="DejaVuSans"/>
                <a:ea typeface="DejaVuSans"/>
              </a:rPr>
              <a:t>Pipeline de data science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ZoneTexte 118"/>
          <p:cNvSpPr txBox="1"/>
          <p:nvPr/>
        </p:nvSpPr>
        <p:spPr>
          <a:xfrm>
            <a:off x="725040" y="2400480"/>
            <a:ext cx="132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ZoneTexte 119"/>
          <p:cNvSpPr txBox="1"/>
          <p:nvPr/>
        </p:nvSpPr>
        <p:spPr>
          <a:xfrm>
            <a:off x="1038240" y="2271600"/>
            <a:ext cx="12355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1" u="none" strike="noStrike">
                <a:solidFill>
                  <a:srgbClr val="101828"/>
                </a:solidFill>
                <a:effectLst/>
                <a:uFillTx/>
                <a:latin typeface="Georgia"/>
                <a:ea typeface="Georgia"/>
              </a:rPr>
              <a:t>Configuration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Forme libre : forme 120"/>
          <p:cNvSpPr/>
          <p:nvPr/>
        </p:nvSpPr>
        <p:spPr>
          <a:xfrm>
            <a:off x="618840" y="2847960"/>
            <a:ext cx="2372040" cy="1209960"/>
          </a:xfrm>
          <a:custGeom>
            <a:avLst/>
            <a:gdLst/>
            <a:ahLst/>
            <a:cxnLst/>
            <a:rect l="0" t="0" r="r" b="b"/>
            <a:pathLst>
              <a:path w="6589" h="3361">
                <a:moveTo>
                  <a:pt x="0" y="0"/>
                </a:moveTo>
                <a:lnTo>
                  <a:pt x="6589" y="0"/>
                </a:lnTo>
                <a:lnTo>
                  <a:pt x="6589" y="3361"/>
                </a:lnTo>
                <a:lnTo>
                  <a:pt x="0" y="3361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Forme libre : forme 121"/>
          <p:cNvSpPr/>
          <p:nvPr/>
        </p:nvSpPr>
        <p:spPr>
          <a:xfrm>
            <a:off x="618840" y="2847960"/>
            <a:ext cx="2372040" cy="38160"/>
          </a:xfrm>
          <a:custGeom>
            <a:avLst/>
            <a:gdLst/>
            <a:ahLst/>
            <a:cxnLst/>
            <a:rect l="0" t="0" r="r" b="b"/>
            <a:pathLst>
              <a:path w="6589" h="106">
                <a:moveTo>
                  <a:pt x="0" y="0"/>
                </a:moveTo>
                <a:lnTo>
                  <a:pt x="6589" y="0"/>
                </a:lnTo>
                <a:lnTo>
                  <a:pt x="6589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002FA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Forme libre : forme 122"/>
          <p:cNvSpPr/>
          <p:nvPr/>
        </p:nvSpPr>
        <p:spPr>
          <a:xfrm>
            <a:off x="618840" y="4047840"/>
            <a:ext cx="2372040" cy="10440"/>
          </a:xfrm>
          <a:custGeom>
            <a:avLst/>
            <a:gdLst/>
            <a:ahLst/>
            <a:cxnLst/>
            <a:rect l="0" t="0" r="r" b="b"/>
            <a:pathLst>
              <a:path w="6589" h="29">
                <a:moveTo>
                  <a:pt x="0" y="0"/>
                </a:moveTo>
                <a:lnTo>
                  <a:pt x="6589" y="0"/>
                </a:lnTo>
                <a:lnTo>
                  <a:pt x="6589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Forme libre : forme 123"/>
          <p:cNvSpPr/>
          <p:nvPr/>
        </p:nvSpPr>
        <p:spPr>
          <a:xfrm>
            <a:off x="2981160" y="2847960"/>
            <a:ext cx="9720" cy="1209960"/>
          </a:xfrm>
          <a:custGeom>
            <a:avLst/>
            <a:gdLst/>
            <a:ahLst/>
            <a:cxnLst/>
            <a:rect l="0" t="0" r="r" b="b"/>
            <a:pathLst>
              <a:path w="27" h="3361">
                <a:moveTo>
                  <a:pt x="0" y="105"/>
                </a:moveTo>
                <a:lnTo>
                  <a:pt x="0" y="3361"/>
                </a:lnTo>
                <a:lnTo>
                  <a:pt x="27" y="3361"/>
                </a:lnTo>
                <a:lnTo>
                  <a:pt x="27" y="0"/>
                </a:lnTo>
                <a:lnTo>
                  <a:pt x="0" y="105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Forme libre : forme 124"/>
          <p:cNvSpPr/>
          <p:nvPr/>
        </p:nvSpPr>
        <p:spPr>
          <a:xfrm>
            <a:off x="618840" y="2847960"/>
            <a:ext cx="10080" cy="1209960"/>
          </a:xfrm>
          <a:custGeom>
            <a:avLst/>
            <a:gdLst/>
            <a:ahLst/>
            <a:cxnLst/>
            <a:rect l="0" t="0" r="r" b="b"/>
            <a:pathLst>
              <a:path w="28" h="3361">
                <a:moveTo>
                  <a:pt x="0" y="0"/>
                </a:moveTo>
                <a:lnTo>
                  <a:pt x="0" y="3361"/>
                </a:lnTo>
                <a:lnTo>
                  <a:pt x="28" y="3361"/>
                </a:lnTo>
                <a:lnTo>
                  <a:pt x="28" y="10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ZoneTexte 125"/>
          <p:cNvSpPr txBox="1"/>
          <p:nvPr/>
        </p:nvSpPr>
        <p:spPr>
          <a:xfrm>
            <a:off x="1038240" y="2481120"/>
            <a:ext cx="6764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1" u="none" strike="noStrike">
                <a:solidFill>
                  <a:srgbClr val="101828"/>
                </a:solidFill>
                <a:effectLst/>
                <a:uFillTx/>
                <a:latin typeface="Georgia"/>
                <a:ea typeface="Georgia"/>
              </a:rPr>
              <a:t>&amp; Accès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ZoneTexte 126"/>
          <p:cNvSpPr txBox="1"/>
          <p:nvPr/>
        </p:nvSpPr>
        <p:spPr>
          <a:xfrm>
            <a:off x="819000" y="3110040"/>
            <a:ext cx="1152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002FA7"/>
                </a:solidFill>
                <a:effectLst/>
                <a:uFillTx/>
                <a:latin typeface="FontAwesome6Free-Solid"/>
                <a:ea typeface="FontAwesome6Free-Solid"/>
              </a:rPr>
              <a:t>✓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ZoneTexte 127"/>
          <p:cNvSpPr txBox="1"/>
          <p:nvPr/>
        </p:nvSpPr>
        <p:spPr>
          <a:xfrm>
            <a:off x="1014480" y="3094920"/>
            <a:ext cx="8251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364153"/>
                </a:solidFill>
                <a:effectLst/>
                <a:uFillTx/>
                <a:latin typeface="DejaVuSans"/>
                <a:ea typeface="DejaVuSans"/>
              </a:rPr>
              <a:t>Google Colab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ZoneTexte 128"/>
          <p:cNvSpPr txBox="1"/>
          <p:nvPr/>
        </p:nvSpPr>
        <p:spPr>
          <a:xfrm>
            <a:off x="819000" y="3405240"/>
            <a:ext cx="1152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002FA7"/>
                </a:solidFill>
                <a:effectLst/>
                <a:uFillTx/>
                <a:latin typeface="FontAwesome6Free-Solid"/>
                <a:ea typeface="FontAwesome6Free-Solid"/>
              </a:rPr>
              <a:t>✓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ZoneTexte 129"/>
          <p:cNvSpPr txBox="1"/>
          <p:nvPr/>
        </p:nvSpPr>
        <p:spPr>
          <a:xfrm>
            <a:off x="1014480" y="3390120"/>
            <a:ext cx="8042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364153"/>
                </a:solidFill>
                <a:effectLst/>
                <a:uFillTx/>
                <a:latin typeface="DejaVuSans"/>
                <a:ea typeface="DejaVuSans"/>
              </a:rPr>
              <a:t>Google Drive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ZoneTexte 130"/>
          <p:cNvSpPr txBox="1"/>
          <p:nvPr/>
        </p:nvSpPr>
        <p:spPr>
          <a:xfrm>
            <a:off x="819000" y="3710160"/>
            <a:ext cx="1152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002FA7"/>
                </a:solidFill>
                <a:effectLst/>
                <a:uFillTx/>
                <a:latin typeface="FontAwesome6Free-Solid"/>
                <a:ea typeface="FontAwesome6Free-Solid"/>
              </a:rPr>
              <a:t>✓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Forme libre : forme 131"/>
          <p:cNvSpPr/>
          <p:nvPr/>
        </p:nvSpPr>
        <p:spPr>
          <a:xfrm>
            <a:off x="3476520" y="2323800"/>
            <a:ext cx="304920" cy="305280"/>
          </a:xfrm>
          <a:custGeom>
            <a:avLst/>
            <a:gdLst/>
            <a:ahLst/>
            <a:cxnLst/>
            <a:rect l="0" t="0" r="r" b="b"/>
            <a:pathLst>
              <a:path w="847" h="848">
                <a:moveTo>
                  <a:pt x="847" y="424"/>
                </a:moveTo>
                <a:cubicBezTo>
                  <a:pt x="847" y="451"/>
                  <a:pt x="845" y="479"/>
                  <a:pt x="839" y="506"/>
                </a:cubicBezTo>
                <a:cubicBezTo>
                  <a:pt x="834" y="534"/>
                  <a:pt x="826" y="560"/>
                  <a:pt x="815" y="586"/>
                </a:cubicBezTo>
                <a:cubicBezTo>
                  <a:pt x="805" y="611"/>
                  <a:pt x="792" y="636"/>
                  <a:pt x="776" y="659"/>
                </a:cubicBezTo>
                <a:cubicBezTo>
                  <a:pt x="761" y="682"/>
                  <a:pt x="743" y="703"/>
                  <a:pt x="723" y="723"/>
                </a:cubicBezTo>
                <a:cubicBezTo>
                  <a:pt x="704" y="744"/>
                  <a:pt x="682" y="761"/>
                  <a:pt x="659" y="777"/>
                </a:cubicBezTo>
                <a:cubicBezTo>
                  <a:pt x="636" y="792"/>
                  <a:pt x="612" y="805"/>
                  <a:pt x="586" y="816"/>
                </a:cubicBezTo>
                <a:cubicBezTo>
                  <a:pt x="560" y="826"/>
                  <a:pt x="534" y="834"/>
                  <a:pt x="507" y="840"/>
                </a:cubicBezTo>
                <a:cubicBezTo>
                  <a:pt x="479" y="845"/>
                  <a:pt x="452" y="848"/>
                  <a:pt x="424" y="848"/>
                </a:cubicBezTo>
                <a:cubicBezTo>
                  <a:pt x="396" y="848"/>
                  <a:pt x="369" y="845"/>
                  <a:pt x="342" y="840"/>
                </a:cubicBezTo>
                <a:cubicBezTo>
                  <a:pt x="314" y="834"/>
                  <a:pt x="288" y="826"/>
                  <a:pt x="262" y="816"/>
                </a:cubicBezTo>
                <a:cubicBezTo>
                  <a:pt x="236" y="805"/>
                  <a:pt x="212" y="792"/>
                  <a:pt x="189" y="777"/>
                </a:cubicBezTo>
                <a:cubicBezTo>
                  <a:pt x="166" y="761"/>
                  <a:pt x="144" y="744"/>
                  <a:pt x="125" y="723"/>
                </a:cubicBezTo>
                <a:cubicBezTo>
                  <a:pt x="105" y="703"/>
                  <a:pt x="88" y="682"/>
                  <a:pt x="71" y="659"/>
                </a:cubicBezTo>
                <a:cubicBezTo>
                  <a:pt x="56" y="636"/>
                  <a:pt x="43" y="611"/>
                  <a:pt x="32" y="586"/>
                </a:cubicBezTo>
                <a:cubicBezTo>
                  <a:pt x="21" y="560"/>
                  <a:pt x="13" y="534"/>
                  <a:pt x="8" y="506"/>
                </a:cubicBezTo>
                <a:cubicBezTo>
                  <a:pt x="3" y="479"/>
                  <a:pt x="0" y="451"/>
                  <a:pt x="0" y="424"/>
                </a:cubicBezTo>
                <a:cubicBezTo>
                  <a:pt x="0" y="396"/>
                  <a:pt x="3" y="368"/>
                  <a:pt x="8" y="341"/>
                </a:cubicBezTo>
                <a:cubicBezTo>
                  <a:pt x="13" y="314"/>
                  <a:pt x="21" y="287"/>
                  <a:pt x="32" y="262"/>
                </a:cubicBezTo>
                <a:cubicBezTo>
                  <a:pt x="43" y="236"/>
                  <a:pt x="56" y="212"/>
                  <a:pt x="71" y="188"/>
                </a:cubicBezTo>
                <a:cubicBezTo>
                  <a:pt x="88" y="165"/>
                  <a:pt x="105" y="144"/>
                  <a:pt x="125" y="124"/>
                </a:cubicBezTo>
                <a:cubicBezTo>
                  <a:pt x="144" y="105"/>
                  <a:pt x="166" y="87"/>
                  <a:pt x="189" y="72"/>
                </a:cubicBezTo>
                <a:cubicBezTo>
                  <a:pt x="212" y="56"/>
                  <a:pt x="236" y="43"/>
                  <a:pt x="262" y="33"/>
                </a:cubicBezTo>
                <a:cubicBezTo>
                  <a:pt x="288" y="22"/>
                  <a:pt x="314" y="14"/>
                  <a:pt x="342" y="8"/>
                </a:cubicBezTo>
                <a:cubicBezTo>
                  <a:pt x="369" y="3"/>
                  <a:pt x="396" y="0"/>
                  <a:pt x="424" y="0"/>
                </a:cubicBezTo>
                <a:cubicBezTo>
                  <a:pt x="452" y="0"/>
                  <a:pt x="479" y="3"/>
                  <a:pt x="507" y="8"/>
                </a:cubicBezTo>
                <a:cubicBezTo>
                  <a:pt x="534" y="14"/>
                  <a:pt x="560" y="22"/>
                  <a:pt x="586" y="33"/>
                </a:cubicBezTo>
                <a:cubicBezTo>
                  <a:pt x="612" y="43"/>
                  <a:pt x="636" y="56"/>
                  <a:pt x="659" y="72"/>
                </a:cubicBezTo>
                <a:cubicBezTo>
                  <a:pt x="682" y="87"/>
                  <a:pt x="704" y="105"/>
                  <a:pt x="723" y="124"/>
                </a:cubicBezTo>
                <a:cubicBezTo>
                  <a:pt x="743" y="144"/>
                  <a:pt x="761" y="165"/>
                  <a:pt x="776" y="188"/>
                </a:cubicBezTo>
                <a:cubicBezTo>
                  <a:pt x="792" y="212"/>
                  <a:pt x="805" y="236"/>
                  <a:pt x="815" y="262"/>
                </a:cubicBezTo>
                <a:cubicBezTo>
                  <a:pt x="826" y="287"/>
                  <a:pt x="834" y="314"/>
                  <a:pt x="839" y="341"/>
                </a:cubicBezTo>
                <a:cubicBezTo>
                  <a:pt x="845" y="368"/>
                  <a:pt x="847" y="396"/>
                  <a:pt x="847" y="424"/>
                </a:cubicBezTo>
                <a:close/>
              </a:path>
            </a:pathLst>
          </a:custGeom>
          <a:solidFill>
            <a:srgbClr val="002FA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ZoneTexte 132"/>
          <p:cNvSpPr txBox="1"/>
          <p:nvPr/>
        </p:nvSpPr>
        <p:spPr>
          <a:xfrm>
            <a:off x="1014480" y="3695040"/>
            <a:ext cx="10357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364153"/>
                </a:solidFill>
                <a:effectLst/>
                <a:uFillTx/>
                <a:latin typeface="DejaVuSans"/>
                <a:ea typeface="DejaVuSans"/>
              </a:rPr>
              <a:t>Extraction zipﬁle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ZoneTexte 133"/>
          <p:cNvSpPr txBox="1"/>
          <p:nvPr/>
        </p:nvSpPr>
        <p:spPr>
          <a:xfrm>
            <a:off x="3585600" y="2400480"/>
            <a:ext cx="132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ZoneTexte 134"/>
          <p:cNvSpPr txBox="1"/>
          <p:nvPr/>
        </p:nvSpPr>
        <p:spPr>
          <a:xfrm>
            <a:off x="3898800" y="2271600"/>
            <a:ext cx="91296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1" u="none" strike="noStrike">
                <a:solidFill>
                  <a:srgbClr val="101828"/>
                </a:solidFill>
                <a:effectLst/>
                <a:uFillTx/>
                <a:latin typeface="Georgia"/>
                <a:ea typeface="Georgia"/>
              </a:rPr>
              <a:t>Ingénierie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Forme libre : forme 135"/>
          <p:cNvSpPr/>
          <p:nvPr/>
        </p:nvSpPr>
        <p:spPr>
          <a:xfrm>
            <a:off x="3476520" y="2847960"/>
            <a:ext cx="2372040" cy="1209960"/>
          </a:xfrm>
          <a:custGeom>
            <a:avLst/>
            <a:gdLst/>
            <a:ahLst/>
            <a:cxnLst/>
            <a:rect l="0" t="0" r="r" b="b"/>
            <a:pathLst>
              <a:path w="6589" h="3361">
                <a:moveTo>
                  <a:pt x="0" y="0"/>
                </a:moveTo>
                <a:lnTo>
                  <a:pt x="6589" y="0"/>
                </a:lnTo>
                <a:lnTo>
                  <a:pt x="6589" y="3361"/>
                </a:lnTo>
                <a:lnTo>
                  <a:pt x="0" y="3361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Forme libre : forme 136"/>
          <p:cNvSpPr/>
          <p:nvPr/>
        </p:nvSpPr>
        <p:spPr>
          <a:xfrm>
            <a:off x="3476520" y="2847960"/>
            <a:ext cx="2372040" cy="38160"/>
          </a:xfrm>
          <a:custGeom>
            <a:avLst/>
            <a:gdLst/>
            <a:ahLst/>
            <a:cxnLst/>
            <a:rect l="0" t="0" r="r" b="b"/>
            <a:pathLst>
              <a:path w="6589" h="106">
                <a:moveTo>
                  <a:pt x="0" y="0"/>
                </a:moveTo>
                <a:lnTo>
                  <a:pt x="6589" y="0"/>
                </a:lnTo>
                <a:lnTo>
                  <a:pt x="6589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002FA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Forme libre : forme 137"/>
          <p:cNvSpPr/>
          <p:nvPr/>
        </p:nvSpPr>
        <p:spPr>
          <a:xfrm>
            <a:off x="3476520" y="4047840"/>
            <a:ext cx="2372040" cy="10440"/>
          </a:xfrm>
          <a:custGeom>
            <a:avLst/>
            <a:gdLst/>
            <a:ahLst/>
            <a:cxnLst/>
            <a:rect l="0" t="0" r="r" b="b"/>
            <a:pathLst>
              <a:path w="6589" h="29">
                <a:moveTo>
                  <a:pt x="0" y="0"/>
                </a:moveTo>
                <a:lnTo>
                  <a:pt x="6589" y="0"/>
                </a:lnTo>
                <a:lnTo>
                  <a:pt x="6589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Forme libre : forme 138"/>
          <p:cNvSpPr/>
          <p:nvPr/>
        </p:nvSpPr>
        <p:spPr>
          <a:xfrm>
            <a:off x="5838480" y="2847960"/>
            <a:ext cx="10080" cy="1209960"/>
          </a:xfrm>
          <a:custGeom>
            <a:avLst/>
            <a:gdLst/>
            <a:ahLst/>
            <a:cxnLst/>
            <a:rect l="0" t="0" r="r" b="b"/>
            <a:pathLst>
              <a:path w="28" h="3361">
                <a:moveTo>
                  <a:pt x="0" y="105"/>
                </a:moveTo>
                <a:lnTo>
                  <a:pt x="0" y="3361"/>
                </a:lnTo>
                <a:lnTo>
                  <a:pt x="28" y="3361"/>
                </a:lnTo>
                <a:lnTo>
                  <a:pt x="28" y="0"/>
                </a:lnTo>
                <a:lnTo>
                  <a:pt x="0" y="105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Forme libre : forme 139"/>
          <p:cNvSpPr/>
          <p:nvPr/>
        </p:nvSpPr>
        <p:spPr>
          <a:xfrm>
            <a:off x="3476520" y="2847960"/>
            <a:ext cx="9720" cy="1209960"/>
          </a:xfrm>
          <a:custGeom>
            <a:avLst/>
            <a:gdLst/>
            <a:ahLst/>
            <a:cxnLst/>
            <a:rect l="0" t="0" r="r" b="b"/>
            <a:pathLst>
              <a:path w="27" h="3361">
                <a:moveTo>
                  <a:pt x="0" y="0"/>
                </a:moveTo>
                <a:lnTo>
                  <a:pt x="0" y="3361"/>
                </a:lnTo>
                <a:lnTo>
                  <a:pt x="27" y="3361"/>
                </a:lnTo>
                <a:lnTo>
                  <a:pt x="27" y="10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ZoneTexte 140"/>
          <p:cNvSpPr txBox="1"/>
          <p:nvPr/>
        </p:nvSpPr>
        <p:spPr>
          <a:xfrm>
            <a:off x="3898800" y="2481120"/>
            <a:ext cx="108216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1" u="none" strike="noStrike">
                <a:solidFill>
                  <a:srgbClr val="101828"/>
                </a:solidFill>
                <a:effectLst/>
                <a:uFillTx/>
                <a:latin typeface="Georgia"/>
                <a:ea typeface="Georgia"/>
              </a:rPr>
              <a:t>des données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ZoneTexte 141"/>
          <p:cNvSpPr txBox="1"/>
          <p:nvPr/>
        </p:nvSpPr>
        <p:spPr>
          <a:xfrm>
            <a:off x="3679560" y="3110040"/>
            <a:ext cx="1152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002FA7"/>
                </a:solidFill>
                <a:effectLst/>
                <a:uFillTx/>
                <a:latin typeface="FontAwesome6Free-Solid"/>
                <a:ea typeface="FontAwesome6Free-Solid"/>
              </a:rPr>
              <a:t>✓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ZoneTexte 142"/>
          <p:cNvSpPr txBox="1"/>
          <p:nvPr/>
        </p:nvSpPr>
        <p:spPr>
          <a:xfrm>
            <a:off x="3875040" y="3094920"/>
            <a:ext cx="6444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364153"/>
                </a:solidFill>
                <a:effectLst/>
                <a:uFillTx/>
                <a:latin typeface="DejaVuSans"/>
                <a:ea typeface="DejaVuSans"/>
              </a:rPr>
              <a:t>Nettoyage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ZoneTexte 143"/>
          <p:cNvSpPr txBox="1"/>
          <p:nvPr/>
        </p:nvSpPr>
        <p:spPr>
          <a:xfrm>
            <a:off x="3679560" y="3405240"/>
            <a:ext cx="1152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002FA7"/>
                </a:solidFill>
                <a:effectLst/>
                <a:uFillTx/>
                <a:latin typeface="FontAwesome6Free-Solid"/>
                <a:ea typeface="FontAwesome6Free-Solid"/>
              </a:rPr>
              <a:t>✓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ZoneTexte 144"/>
          <p:cNvSpPr txBox="1"/>
          <p:nvPr/>
        </p:nvSpPr>
        <p:spPr>
          <a:xfrm>
            <a:off x="3875040" y="3390120"/>
            <a:ext cx="9417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364153"/>
                </a:solidFill>
                <a:effectLst/>
                <a:uFillTx/>
                <a:latin typeface="DejaVuSans"/>
                <a:ea typeface="DejaVuSans"/>
              </a:rPr>
              <a:t>Label Encoding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ZoneTexte 145"/>
          <p:cNvSpPr txBox="1"/>
          <p:nvPr/>
        </p:nvSpPr>
        <p:spPr>
          <a:xfrm>
            <a:off x="3679560" y="3710160"/>
            <a:ext cx="1152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002FA7"/>
                </a:solidFill>
                <a:effectLst/>
                <a:uFillTx/>
                <a:latin typeface="FontAwesome6Free-Solid"/>
                <a:ea typeface="FontAwesome6Free-Solid"/>
              </a:rPr>
              <a:t>✓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Forme libre : forme 146"/>
          <p:cNvSpPr/>
          <p:nvPr/>
        </p:nvSpPr>
        <p:spPr>
          <a:xfrm>
            <a:off x="6343560" y="2323800"/>
            <a:ext cx="304920" cy="305280"/>
          </a:xfrm>
          <a:custGeom>
            <a:avLst/>
            <a:gdLst/>
            <a:ahLst/>
            <a:cxnLst/>
            <a:rect l="0" t="0" r="r" b="b"/>
            <a:pathLst>
              <a:path w="847" h="848">
                <a:moveTo>
                  <a:pt x="847" y="424"/>
                </a:moveTo>
                <a:cubicBezTo>
                  <a:pt x="847" y="451"/>
                  <a:pt x="845" y="479"/>
                  <a:pt x="839" y="506"/>
                </a:cubicBezTo>
                <a:cubicBezTo>
                  <a:pt x="834" y="534"/>
                  <a:pt x="826" y="560"/>
                  <a:pt x="815" y="586"/>
                </a:cubicBezTo>
                <a:cubicBezTo>
                  <a:pt x="805" y="611"/>
                  <a:pt x="792" y="636"/>
                  <a:pt x="776" y="659"/>
                </a:cubicBezTo>
                <a:cubicBezTo>
                  <a:pt x="761" y="682"/>
                  <a:pt x="743" y="703"/>
                  <a:pt x="723" y="723"/>
                </a:cubicBezTo>
                <a:cubicBezTo>
                  <a:pt x="704" y="744"/>
                  <a:pt x="682" y="761"/>
                  <a:pt x="659" y="777"/>
                </a:cubicBezTo>
                <a:cubicBezTo>
                  <a:pt x="636" y="792"/>
                  <a:pt x="612" y="805"/>
                  <a:pt x="586" y="816"/>
                </a:cubicBezTo>
                <a:cubicBezTo>
                  <a:pt x="559" y="826"/>
                  <a:pt x="533" y="834"/>
                  <a:pt x="506" y="840"/>
                </a:cubicBezTo>
                <a:cubicBezTo>
                  <a:pt x="478" y="845"/>
                  <a:pt x="451" y="848"/>
                  <a:pt x="423" y="848"/>
                </a:cubicBezTo>
                <a:cubicBezTo>
                  <a:pt x="395" y="848"/>
                  <a:pt x="368" y="845"/>
                  <a:pt x="340" y="840"/>
                </a:cubicBezTo>
                <a:cubicBezTo>
                  <a:pt x="313" y="834"/>
                  <a:pt x="287" y="826"/>
                  <a:pt x="261" y="816"/>
                </a:cubicBezTo>
                <a:cubicBezTo>
                  <a:pt x="235" y="805"/>
                  <a:pt x="211" y="792"/>
                  <a:pt x="188" y="777"/>
                </a:cubicBezTo>
                <a:cubicBezTo>
                  <a:pt x="165" y="761"/>
                  <a:pt x="143" y="744"/>
                  <a:pt x="124" y="723"/>
                </a:cubicBezTo>
                <a:cubicBezTo>
                  <a:pt x="104" y="703"/>
                  <a:pt x="87" y="682"/>
                  <a:pt x="71" y="659"/>
                </a:cubicBezTo>
                <a:cubicBezTo>
                  <a:pt x="56" y="636"/>
                  <a:pt x="43" y="611"/>
                  <a:pt x="32" y="586"/>
                </a:cubicBezTo>
                <a:cubicBezTo>
                  <a:pt x="21" y="560"/>
                  <a:pt x="13" y="534"/>
                  <a:pt x="8" y="506"/>
                </a:cubicBezTo>
                <a:cubicBezTo>
                  <a:pt x="2" y="479"/>
                  <a:pt x="0" y="451"/>
                  <a:pt x="0" y="424"/>
                </a:cubicBezTo>
                <a:cubicBezTo>
                  <a:pt x="0" y="396"/>
                  <a:pt x="2" y="368"/>
                  <a:pt x="8" y="341"/>
                </a:cubicBezTo>
                <a:cubicBezTo>
                  <a:pt x="13" y="314"/>
                  <a:pt x="21" y="287"/>
                  <a:pt x="32" y="262"/>
                </a:cubicBezTo>
                <a:cubicBezTo>
                  <a:pt x="43" y="236"/>
                  <a:pt x="56" y="212"/>
                  <a:pt x="71" y="188"/>
                </a:cubicBezTo>
                <a:cubicBezTo>
                  <a:pt x="87" y="165"/>
                  <a:pt x="104" y="144"/>
                  <a:pt x="124" y="124"/>
                </a:cubicBezTo>
                <a:cubicBezTo>
                  <a:pt x="143" y="105"/>
                  <a:pt x="165" y="87"/>
                  <a:pt x="188" y="72"/>
                </a:cubicBezTo>
                <a:cubicBezTo>
                  <a:pt x="211" y="56"/>
                  <a:pt x="235" y="43"/>
                  <a:pt x="261" y="33"/>
                </a:cubicBezTo>
                <a:cubicBezTo>
                  <a:pt x="287" y="22"/>
                  <a:pt x="313" y="14"/>
                  <a:pt x="340" y="8"/>
                </a:cubicBezTo>
                <a:cubicBezTo>
                  <a:pt x="368" y="3"/>
                  <a:pt x="395" y="0"/>
                  <a:pt x="423" y="0"/>
                </a:cubicBezTo>
                <a:cubicBezTo>
                  <a:pt x="451" y="0"/>
                  <a:pt x="478" y="3"/>
                  <a:pt x="506" y="8"/>
                </a:cubicBezTo>
                <a:cubicBezTo>
                  <a:pt x="533" y="14"/>
                  <a:pt x="559" y="22"/>
                  <a:pt x="586" y="33"/>
                </a:cubicBezTo>
                <a:cubicBezTo>
                  <a:pt x="612" y="43"/>
                  <a:pt x="636" y="56"/>
                  <a:pt x="659" y="72"/>
                </a:cubicBezTo>
                <a:cubicBezTo>
                  <a:pt x="682" y="87"/>
                  <a:pt x="704" y="105"/>
                  <a:pt x="723" y="124"/>
                </a:cubicBezTo>
                <a:cubicBezTo>
                  <a:pt x="743" y="144"/>
                  <a:pt x="761" y="165"/>
                  <a:pt x="776" y="188"/>
                </a:cubicBezTo>
                <a:cubicBezTo>
                  <a:pt x="792" y="212"/>
                  <a:pt x="805" y="236"/>
                  <a:pt x="815" y="262"/>
                </a:cubicBezTo>
                <a:cubicBezTo>
                  <a:pt x="826" y="287"/>
                  <a:pt x="834" y="314"/>
                  <a:pt x="839" y="341"/>
                </a:cubicBezTo>
                <a:cubicBezTo>
                  <a:pt x="845" y="368"/>
                  <a:pt x="847" y="396"/>
                  <a:pt x="847" y="424"/>
                </a:cubicBezTo>
                <a:close/>
              </a:path>
            </a:pathLst>
          </a:custGeom>
          <a:solidFill>
            <a:srgbClr val="002FA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ZoneTexte 147"/>
          <p:cNvSpPr txBox="1"/>
          <p:nvPr/>
        </p:nvSpPr>
        <p:spPr>
          <a:xfrm>
            <a:off x="3875040" y="3695040"/>
            <a:ext cx="9475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364153"/>
                </a:solidFill>
                <a:effectLst/>
                <a:uFillTx/>
                <a:latin typeface="DejaVuSans"/>
                <a:ea typeface="DejaVuSans"/>
              </a:rPr>
              <a:t>StandardScaler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ZoneTexte 148"/>
          <p:cNvSpPr txBox="1"/>
          <p:nvPr/>
        </p:nvSpPr>
        <p:spPr>
          <a:xfrm>
            <a:off x="6446160" y="2400480"/>
            <a:ext cx="132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ZoneTexte 149"/>
          <p:cNvSpPr txBox="1"/>
          <p:nvPr/>
        </p:nvSpPr>
        <p:spPr>
          <a:xfrm>
            <a:off x="6759000" y="2271600"/>
            <a:ext cx="12322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1" u="none" strike="noStrike">
                <a:solidFill>
                  <a:srgbClr val="101828"/>
                </a:solidFill>
                <a:effectLst/>
                <a:uFillTx/>
                <a:latin typeface="Georgia"/>
                <a:ea typeface="Georgia"/>
              </a:rPr>
              <a:t>Entraînement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Forme libre : forme 150"/>
          <p:cNvSpPr/>
          <p:nvPr/>
        </p:nvSpPr>
        <p:spPr>
          <a:xfrm>
            <a:off x="6343560" y="2847960"/>
            <a:ext cx="2372040" cy="1209960"/>
          </a:xfrm>
          <a:custGeom>
            <a:avLst/>
            <a:gdLst/>
            <a:ahLst/>
            <a:cxnLst/>
            <a:rect l="0" t="0" r="r" b="b"/>
            <a:pathLst>
              <a:path w="6589" h="3361">
                <a:moveTo>
                  <a:pt x="0" y="0"/>
                </a:moveTo>
                <a:lnTo>
                  <a:pt x="6589" y="0"/>
                </a:lnTo>
                <a:lnTo>
                  <a:pt x="6589" y="3361"/>
                </a:lnTo>
                <a:lnTo>
                  <a:pt x="0" y="3361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Forme libre : forme 151"/>
          <p:cNvSpPr/>
          <p:nvPr/>
        </p:nvSpPr>
        <p:spPr>
          <a:xfrm>
            <a:off x="6343560" y="2847960"/>
            <a:ext cx="2372040" cy="38160"/>
          </a:xfrm>
          <a:custGeom>
            <a:avLst/>
            <a:gdLst/>
            <a:ahLst/>
            <a:cxnLst/>
            <a:rect l="0" t="0" r="r" b="b"/>
            <a:pathLst>
              <a:path w="6589" h="106">
                <a:moveTo>
                  <a:pt x="0" y="0"/>
                </a:moveTo>
                <a:lnTo>
                  <a:pt x="6589" y="0"/>
                </a:lnTo>
                <a:lnTo>
                  <a:pt x="6589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002FA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Forme libre : forme 152"/>
          <p:cNvSpPr/>
          <p:nvPr/>
        </p:nvSpPr>
        <p:spPr>
          <a:xfrm>
            <a:off x="6343560" y="4047840"/>
            <a:ext cx="2372040" cy="10440"/>
          </a:xfrm>
          <a:custGeom>
            <a:avLst/>
            <a:gdLst/>
            <a:ahLst/>
            <a:cxnLst/>
            <a:rect l="0" t="0" r="r" b="b"/>
            <a:pathLst>
              <a:path w="6589" h="29">
                <a:moveTo>
                  <a:pt x="0" y="0"/>
                </a:moveTo>
                <a:lnTo>
                  <a:pt x="6589" y="0"/>
                </a:lnTo>
                <a:lnTo>
                  <a:pt x="6589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Forme libre : forme 153"/>
          <p:cNvSpPr/>
          <p:nvPr/>
        </p:nvSpPr>
        <p:spPr>
          <a:xfrm>
            <a:off x="8705520" y="2847960"/>
            <a:ext cx="10080" cy="1209960"/>
          </a:xfrm>
          <a:custGeom>
            <a:avLst/>
            <a:gdLst/>
            <a:ahLst/>
            <a:cxnLst/>
            <a:rect l="0" t="0" r="r" b="b"/>
            <a:pathLst>
              <a:path w="28" h="3361">
                <a:moveTo>
                  <a:pt x="0" y="105"/>
                </a:moveTo>
                <a:lnTo>
                  <a:pt x="0" y="3361"/>
                </a:lnTo>
                <a:lnTo>
                  <a:pt x="28" y="3361"/>
                </a:lnTo>
                <a:lnTo>
                  <a:pt x="28" y="0"/>
                </a:lnTo>
                <a:lnTo>
                  <a:pt x="0" y="105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Forme libre : forme 154"/>
          <p:cNvSpPr/>
          <p:nvPr/>
        </p:nvSpPr>
        <p:spPr>
          <a:xfrm>
            <a:off x="6343560" y="2847960"/>
            <a:ext cx="9720" cy="1209960"/>
          </a:xfrm>
          <a:custGeom>
            <a:avLst/>
            <a:gdLst/>
            <a:ahLst/>
            <a:cxnLst/>
            <a:rect l="0" t="0" r="r" b="b"/>
            <a:pathLst>
              <a:path w="27" h="3361">
                <a:moveTo>
                  <a:pt x="0" y="0"/>
                </a:moveTo>
                <a:lnTo>
                  <a:pt x="0" y="3361"/>
                </a:lnTo>
                <a:lnTo>
                  <a:pt x="27" y="3361"/>
                </a:lnTo>
                <a:lnTo>
                  <a:pt x="27" y="10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ZoneTexte 155"/>
          <p:cNvSpPr txBox="1"/>
          <p:nvPr/>
        </p:nvSpPr>
        <p:spPr>
          <a:xfrm>
            <a:off x="6759000" y="2481120"/>
            <a:ext cx="9216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1" u="none" strike="noStrike">
                <a:solidFill>
                  <a:srgbClr val="101828"/>
                </a:solidFill>
                <a:effectLst/>
                <a:uFillTx/>
                <a:latin typeface="Georgia"/>
                <a:ea typeface="Georgia"/>
              </a:rPr>
              <a:t>du modèle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ZoneTexte 156"/>
          <p:cNvSpPr txBox="1"/>
          <p:nvPr/>
        </p:nvSpPr>
        <p:spPr>
          <a:xfrm>
            <a:off x="6540120" y="3110040"/>
            <a:ext cx="1152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002FA7"/>
                </a:solidFill>
                <a:effectLst/>
                <a:uFillTx/>
                <a:latin typeface="FontAwesome6Free-Solid"/>
                <a:ea typeface="FontAwesome6Free-Solid"/>
              </a:rPr>
              <a:t>✓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ZoneTexte 157"/>
          <p:cNvSpPr txBox="1"/>
          <p:nvPr/>
        </p:nvSpPr>
        <p:spPr>
          <a:xfrm>
            <a:off x="6735240" y="3094920"/>
            <a:ext cx="9957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364153"/>
                </a:solidFill>
                <a:effectLst/>
                <a:uFillTx/>
                <a:latin typeface="DejaVuSans"/>
                <a:ea typeface="DejaVuSans"/>
              </a:rPr>
              <a:t>Division dataset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ZoneTexte 158"/>
          <p:cNvSpPr txBox="1"/>
          <p:nvPr/>
        </p:nvSpPr>
        <p:spPr>
          <a:xfrm>
            <a:off x="6540120" y="3405240"/>
            <a:ext cx="1152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002FA7"/>
                </a:solidFill>
                <a:effectLst/>
                <a:uFillTx/>
                <a:latin typeface="FontAwesome6Free-Solid"/>
                <a:ea typeface="FontAwesome6Free-Solid"/>
              </a:rPr>
              <a:t>✓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ZoneTexte 159"/>
          <p:cNvSpPr txBox="1"/>
          <p:nvPr/>
        </p:nvSpPr>
        <p:spPr>
          <a:xfrm>
            <a:off x="6735240" y="3390120"/>
            <a:ext cx="6015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364153"/>
                </a:solidFill>
                <a:effectLst/>
                <a:uFillTx/>
                <a:latin typeface="DejaVuSans"/>
                <a:ea typeface="DejaVuSans"/>
              </a:rPr>
              <a:t>80% train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ZoneTexte 160"/>
          <p:cNvSpPr txBox="1"/>
          <p:nvPr/>
        </p:nvSpPr>
        <p:spPr>
          <a:xfrm>
            <a:off x="6540120" y="3710160"/>
            <a:ext cx="1152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002FA7"/>
                </a:solidFill>
                <a:effectLst/>
                <a:uFillTx/>
                <a:latin typeface="FontAwesome6Free-Solid"/>
                <a:ea typeface="FontAwesome6Free-Solid"/>
              </a:rPr>
              <a:t>✓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Forme libre : forme 161"/>
          <p:cNvSpPr/>
          <p:nvPr/>
        </p:nvSpPr>
        <p:spPr>
          <a:xfrm>
            <a:off x="9200880" y="2323800"/>
            <a:ext cx="305280" cy="305280"/>
          </a:xfrm>
          <a:custGeom>
            <a:avLst/>
            <a:gdLst/>
            <a:ahLst/>
            <a:cxnLst/>
            <a:rect l="0" t="0" r="r" b="b"/>
            <a:pathLst>
              <a:path w="848" h="848">
                <a:moveTo>
                  <a:pt x="848" y="424"/>
                </a:moveTo>
                <a:cubicBezTo>
                  <a:pt x="848" y="451"/>
                  <a:pt x="845" y="479"/>
                  <a:pt x="840" y="506"/>
                </a:cubicBezTo>
                <a:cubicBezTo>
                  <a:pt x="834" y="534"/>
                  <a:pt x="826" y="560"/>
                  <a:pt x="816" y="586"/>
                </a:cubicBezTo>
                <a:cubicBezTo>
                  <a:pt x="805" y="611"/>
                  <a:pt x="792" y="636"/>
                  <a:pt x="777" y="659"/>
                </a:cubicBezTo>
                <a:cubicBezTo>
                  <a:pt x="761" y="682"/>
                  <a:pt x="744" y="703"/>
                  <a:pt x="724" y="723"/>
                </a:cubicBezTo>
                <a:cubicBezTo>
                  <a:pt x="704" y="744"/>
                  <a:pt x="683" y="761"/>
                  <a:pt x="660" y="777"/>
                </a:cubicBezTo>
                <a:cubicBezTo>
                  <a:pt x="637" y="792"/>
                  <a:pt x="612" y="805"/>
                  <a:pt x="587" y="816"/>
                </a:cubicBezTo>
                <a:cubicBezTo>
                  <a:pt x="561" y="826"/>
                  <a:pt x="534" y="834"/>
                  <a:pt x="507" y="840"/>
                </a:cubicBezTo>
                <a:cubicBezTo>
                  <a:pt x="480" y="845"/>
                  <a:pt x="452" y="848"/>
                  <a:pt x="425" y="848"/>
                </a:cubicBezTo>
                <a:cubicBezTo>
                  <a:pt x="397" y="848"/>
                  <a:pt x="369" y="845"/>
                  <a:pt x="342" y="840"/>
                </a:cubicBezTo>
                <a:cubicBezTo>
                  <a:pt x="315" y="834"/>
                  <a:pt x="288" y="826"/>
                  <a:pt x="263" y="816"/>
                </a:cubicBezTo>
                <a:cubicBezTo>
                  <a:pt x="236" y="805"/>
                  <a:pt x="211" y="792"/>
                  <a:pt x="188" y="777"/>
                </a:cubicBezTo>
                <a:cubicBezTo>
                  <a:pt x="165" y="761"/>
                  <a:pt x="144" y="744"/>
                  <a:pt x="124" y="723"/>
                </a:cubicBezTo>
                <a:cubicBezTo>
                  <a:pt x="105" y="703"/>
                  <a:pt x="87" y="682"/>
                  <a:pt x="72" y="659"/>
                </a:cubicBezTo>
                <a:cubicBezTo>
                  <a:pt x="56" y="636"/>
                  <a:pt x="43" y="611"/>
                  <a:pt x="32" y="586"/>
                </a:cubicBezTo>
                <a:cubicBezTo>
                  <a:pt x="22" y="560"/>
                  <a:pt x="14" y="534"/>
                  <a:pt x="8" y="506"/>
                </a:cubicBezTo>
                <a:cubicBezTo>
                  <a:pt x="3" y="479"/>
                  <a:pt x="0" y="451"/>
                  <a:pt x="0" y="424"/>
                </a:cubicBezTo>
                <a:cubicBezTo>
                  <a:pt x="0" y="396"/>
                  <a:pt x="3" y="368"/>
                  <a:pt x="8" y="341"/>
                </a:cubicBezTo>
                <a:cubicBezTo>
                  <a:pt x="14" y="314"/>
                  <a:pt x="22" y="287"/>
                  <a:pt x="32" y="262"/>
                </a:cubicBezTo>
                <a:cubicBezTo>
                  <a:pt x="43" y="236"/>
                  <a:pt x="56" y="212"/>
                  <a:pt x="72" y="188"/>
                </a:cubicBezTo>
                <a:cubicBezTo>
                  <a:pt x="87" y="165"/>
                  <a:pt x="105" y="144"/>
                  <a:pt x="124" y="124"/>
                </a:cubicBezTo>
                <a:cubicBezTo>
                  <a:pt x="144" y="105"/>
                  <a:pt x="165" y="87"/>
                  <a:pt x="188" y="72"/>
                </a:cubicBezTo>
                <a:cubicBezTo>
                  <a:pt x="211" y="56"/>
                  <a:pt x="236" y="43"/>
                  <a:pt x="263" y="33"/>
                </a:cubicBezTo>
                <a:cubicBezTo>
                  <a:pt x="288" y="22"/>
                  <a:pt x="315" y="14"/>
                  <a:pt x="342" y="8"/>
                </a:cubicBezTo>
                <a:cubicBezTo>
                  <a:pt x="369" y="3"/>
                  <a:pt x="397" y="0"/>
                  <a:pt x="425" y="0"/>
                </a:cubicBezTo>
                <a:cubicBezTo>
                  <a:pt x="452" y="0"/>
                  <a:pt x="480" y="3"/>
                  <a:pt x="507" y="8"/>
                </a:cubicBezTo>
                <a:cubicBezTo>
                  <a:pt x="534" y="14"/>
                  <a:pt x="561" y="22"/>
                  <a:pt x="587" y="33"/>
                </a:cubicBezTo>
                <a:cubicBezTo>
                  <a:pt x="612" y="43"/>
                  <a:pt x="637" y="56"/>
                  <a:pt x="660" y="72"/>
                </a:cubicBezTo>
                <a:cubicBezTo>
                  <a:pt x="683" y="87"/>
                  <a:pt x="704" y="105"/>
                  <a:pt x="724" y="124"/>
                </a:cubicBezTo>
                <a:cubicBezTo>
                  <a:pt x="744" y="144"/>
                  <a:pt x="761" y="165"/>
                  <a:pt x="777" y="188"/>
                </a:cubicBezTo>
                <a:cubicBezTo>
                  <a:pt x="792" y="212"/>
                  <a:pt x="805" y="236"/>
                  <a:pt x="816" y="262"/>
                </a:cubicBezTo>
                <a:cubicBezTo>
                  <a:pt x="826" y="287"/>
                  <a:pt x="834" y="314"/>
                  <a:pt x="840" y="341"/>
                </a:cubicBezTo>
                <a:cubicBezTo>
                  <a:pt x="845" y="368"/>
                  <a:pt x="848" y="396"/>
                  <a:pt x="848" y="424"/>
                </a:cubicBezTo>
                <a:close/>
              </a:path>
            </a:pathLst>
          </a:custGeom>
          <a:solidFill>
            <a:srgbClr val="002FA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ZoneTexte 162"/>
          <p:cNvSpPr txBox="1"/>
          <p:nvPr/>
        </p:nvSpPr>
        <p:spPr>
          <a:xfrm>
            <a:off x="6735240" y="3695040"/>
            <a:ext cx="5515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364153"/>
                </a:solidFill>
                <a:effectLst/>
                <a:uFillTx/>
                <a:latin typeface="DejaVuSans"/>
                <a:ea typeface="DejaVuSans"/>
              </a:rPr>
              <a:t>20% test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ZoneTexte 163"/>
          <p:cNvSpPr txBox="1"/>
          <p:nvPr/>
        </p:nvSpPr>
        <p:spPr>
          <a:xfrm>
            <a:off x="9306360" y="2400480"/>
            <a:ext cx="132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ZoneTexte 164"/>
          <p:cNvSpPr txBox="1"/>
          <p:nvPr/>
        </p:nvSpPr>
        <p:spPr>
          <a:xfrm>
            <a:off x="9619560" y="2271600"/>
            <a:ext cx="95256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1" u="none" strike="noStrike">
                <a:solidFill>
                  <a:srgbClr val="101828"/>
                </a:solidFill>
                <a:effectLst/>
                <a:uFillTx/>
                <a:latin typeface="Georgia"/>
                <a:ea typeface="Georgia"/>
              </a:rPr>
              <a:t>Évaluation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Forme libre : forme 165"/>
          <p:cNvSpPr/>
          <p:nvPr/>
        </p:nvSpPr>
        <p:spPr>
          <a:xfrm>
            <a:off x="9200880" y="2847960"/>
            <a:ext cx="2372040" cy="1209960"/>
          </a:xfrm>
          <a:custGeom>
            <a:avLst/>
            <a:gdLst/>
            <a:ahLst/>
            <a:cxnLst/>
            <a:rect l="0" t="0" r="r" b="b"/>
            <a:pathLst>
              <a:path w="6589" h="3361">
                <a:moveTo>
                  <a:pt x="0" y="0"/>
                </a:moveTo>
                <a:lnTo>
                  <a:pt x="6589" y="0"/>
                </a:lnTo>
                <a:lnTo>
                  <a:pt x="6589" y="3361"/>
                </a:lnTo>
                <a:lnTo>
                  <a:pt x="0" y="3361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Forme libre : forme 166"/>
          <p:cNvSpPr/>
          <p:nvPr/>
        </p:nvSpPr>
        <p:spPr>
          <a:xfrm>
            <a:off x="9200880" y="2847960"/>
            <a:ext cx="2372040" cy="38160"/>
          </a:xfrm>
          <a:custGeom>
            <a:avLst/>
            <a:gdLst/>
            <a:ahLst/>
            <a:cxnLst/>
            <a:rect l="0" t="0" r="r" b="b"/>
            <a:pathLst>
              <a:path w="6589" h="106">
                <a:moveTo>
                  <a:pt x="0" y="0"/>
                </a:moveTo>
                <a:lnTo>
                  <a:pt x="6589" y="0"/>
                </a:lnTo>
                <a:lnTo>
                  <a:pt x="6589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002FA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Forme libre : forme 167"/>
          <p:cNvSpPr/>
          <p:nvPr/>
        </p:nvSpPr>
        <p:spPr>
          <a:xfrm>
            <a:off x="9200880" y="4047840"/>
            <a:ext cx="2372040" cy="10440"/>
          </a:xfrm>
          <a:custGeom>
            <a:avLst/>
            <a:gdLst/>
            <a:ahLst/>
            <a:cxnLst/>
            <a:rect l="0" t="0" r="r" b="b"/>
            <a:pathLst>
              <a:path w="6589" h="29">
                <a:moveTo>
                  <a:pt x="0" y="0"/>
                </a:moveTo>
                <a:lnTo>
                  <a:pt x="6589" y="0"/>
                </a:lnTo>
                <a:lnTo>
                  <a:pt x="6589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Forme libre : forme 168"/>
          <p:cNvSpPr/>
          <p:nvPr/>
        </p:nvSpPr>
        <p:spPr>
          <a:xfrm>
            <a:off x="11563200" y="2847960"/>
            <a:ext cx="9720" cy="1209960"/>
          </a:xfrm>
          <a:custGeom>
            <a:avLst/>
            <a:gdLst/>
            <a:ahLst/>
            <a:cxnLst/>
            <a:rect l="0" t="0" r="r" b="b"/>
            <a:pathLst>
              <a:path w="27" h="3361">
                <a:moveTo>
                  <a:pt x="0" y="105"/>
                </a:moveTo>
                <a:lnTo>
                  <a:pt x="0" y="3361"/>
                </a:lnTo>
                <a:lnTo>
                  <a:pt x="27" y="3361"/>
                </a:lnTo>
                <a:lnTo>
                  <a:pt x="27" y="0"/>
                </a:lnTo>
                <a:lnTo>
                  <a:pt x="0" y="105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Forme libre : forme 169"/>
          <p:cNvSpPr/>
          <p:nvPr/>
        </p:nvSpPr>
        <p:spPr>
          <a:xfrm>
            <a:off x="9200880" y="2847960"/>
            <a:ext cx="10080" cy="1209960"/>
          </a:xfrm>
          <a:custGeom>
            <a:avLst/>
            <a:gdLst/>
            <a:ahLst/>
            <a:cxnLst/>
            <a:rect l="0" t="0" r="r" b="b"/>
            <a:pathLst>
              <a:path w="28" h="3361">
                <a:moveTo>
                  <a:pt x="0" y="0"/>
                </a:moveTo>
                <a:lnTo>
                  <a:pt x="0" y="3361"/>
                </a:lnTo>
                <a:lnTo>
                  <a:pt x="28" y="3361"/>
                </a:lnTo>
                <a:lnTo>
                  <a:pt x="28" y="10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ZoneTexte 170"/>
          <p:cNvSpPr txBox="1"/>
          <p:nvPr/>
        </p:nvSpPr>
        <p:spPr>
          <a:xfrm>
            <a:off x="9619560" y="2481120"/>
            <a:ext cx="15739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1" u="none" strike="noStrike">
                <a:solidFill>
                  <a:srgbClr val="101828"/>
                </a:solidFill>
                <a:effectLst/>
                <a:uFillTx/>
                <a:latin typeface="Georgia"/>
                <a:ea typeface="Georgia"/>
              </a:rPr>
              <a:t>des performances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ZoneTexte 171"/>
          <p:cNvSpPr txBox="1"/>
          <p:nvPr/>
        </p:nvSpPr>
        <p:spPr>
          <a:xfrm>
            <a:off x="9400680" y="3110040"/>
            <a:ext cx="1152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002FA7"/>
                </a:solidFill>
                <a:effectLst/>
                <a:uFillTx/>
                <a:latin typeface="FontAwesome6Free-Solid"/>
                <a:ea typeface="FontAwesome6Free-Solid"/>
              </a:rPr>
              <a:t>✓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ZoneTexte 172"/>
          <p:cNvSpPr txBox="1"/>
          <p:nvPr/>
        </p:nvSpPr>
        <p:spPr>
          <a:xfrm>
            <a:off x="9595800" y="3094920"/>
            <a:ext cx="4773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364153"/>
                </a:solidFill>
                <a:effectLst/>
                <a:uFillTx/>
                <a:latin typeface="DejaVuSans"/>
                <a:ea typeface="DejaVuSans"/>
              </a:rPr>
              <a:t>R², MSE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ZoneTexte 173"/>
          <p:cNvSpPr txBox="1"/>
          <p:nvPr/>
        </p:nvSpPr>
        <p:spPr>
          <a:xfrm>
            <a:off x="9400680" y="3405240"/>
            <a:ext cx="1152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002FA7"/>
                </a:solidFill>
                <a:effectLst/>
                <a:uFillTx/>
                <a:latin typeface="FontAwesome6Free-Solid"/>
                <a:ea typeface="FontAwesome6Free-Solid"/>
              </a:rPr>
              <a:t>✓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ZoneTexte 174"/>
          <p:cNvSpPr txBox="1"/>
          <p:nvPr/>
        </p:nvSpPr>
        <p:spPr>
          <a:xfrm>
            <a:off x="9595800" y="3390120"/>
            <a:ext cx="566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364153"/>
                </a:solidFill>
                <a:effectLst/>
                <a:uFillTx/>
                <a:latin typeface="DejaVuSans"/>
                <a:ea typeface="DejaVuSans"/>
              </a:rPr>
              <a:t>Accuracy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ZoneTexte 175"/>
          <p:cNvSpPr txBox="1"/>
          <p:nvPr/>
        </p:nvSpPr>
        <p:spPr>
          <a:xfrm>
            <a:off x="9400680" y="3710160"/>
            <a:ext cx="1152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002FA7"/>
                </a:solidFill>
                <a:effectLst/>
                <a:uFillTx/>
                <a:latin typeface="FontAwesome6Free-Solid"/>
                <a:ea typeface="FontAwesome6Free-Solid"/>
              </a:rPr>
              <a:t>✓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Forme libre : forme 176"/>
          <p:cNvSpPr/>
          <p:nvPr/>
        </p:nvSpPr>
        <p:spPr>
          <a:xfrm>
            <a:off x="2285640" y="4438440"/>
            <a:ext cx="7620480" cy="10080"/>
          </a:xfrm>
          <a:custGeom>
            <a:avLst/>
            <a:gdLst/>
            <a:ahLst/>
            <a:cxnLst/>
            <a:rect l="0" t="0" r="r" b="b"/>
            <a:pathLst>
              <a:path w="21168" h="28">
                <a:moveTo>
                  <a:pt x="0" y="0"/>
                </a:moveTo>
                <a:lnTo>
                  <a:pt x="21168" y="0"/>
                </a:lnTo>
                <a:lnTo>
                  <a:pt x="211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ZoneTexte 177"/>
          <p:cNvSpPr txBox="1"/>
          <p:nvPr/>
        </p:nvSpPr>
        <p:spPr>
          <a:xfrm>
            <a:off x="9595800" y="3695040"/>
            <a:ext cx="12888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364153"/>
                </a:solidFill>
                <a:effectLst/>
                <a:uFillTx/>
                <a:latin typeface="DejaVuSans"/>
                <a:ea typeface="DejaVuSans"/>
              </a:rPr>
              <a:t>Matrice de confusion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ZoneTexte 178"/>
          <p:cNvSpPr txBox="1"/>
          <p:nvPr/>
        </p:nvSpPr>
        <p:spPr>
          <a:xfrm>
            <a:off x="3709800" y="4695840"/>
            <a:ext cx="4446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A7282"/>
                </a:solidFill>
                <a:effectLst/>
                <a:uFillTx/>
                <a:latin typeface="DejaVuSans"/>
                <a:ea typeface="DejaVuSans"/>
              </a:rPr>
              <a:t>ACCÈS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ZoneTexte 179"/>
          <p:cNvSpPr txBox="1"/>
          <p:nvPr/>
        </p:nvSpPr>
        <p:spPr>
          <a:xfrm>
            <a:off x="4575240" y="4695840"/>
            <a:ext cx="11026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A7282"/>
                </a:solidFill>
                <a:effectLst/>
                <a:uFillTx/>
                <a:latin typeface="DejaVuSans"/>
                <a:ea typeface="DejaVuSans"/>
              </a:rPr>
              <a:t>PRÉTRAITEMENT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ZoneTexte 180"/>
          <p:cNvSpPr txBox="1"/>
          <p:nvPr/>
        </p:nvSpPr>
        <p:spPr>
          <a:xfrm>
            <a:off x="6126480" y="4695840"/>
            <a:ext cx="10479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A7282"/>
                </a:solidFill>
                <a:effectLst/>
                <a:uFillTx/>
                <a:latin typeface="DejaVuSans"/>
                <a:ea typeface="DejaVuSans"/>
              </a:rPr>
              <a:t>ENTRAÎNEMENT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ZoneTexte 181"/>
          <p:cNvSpPr txBox="1"/>
          <p:nvPr/>
        </p:nvSpPr>
        <p:spPr>
          <a:xfrm>
            <a:off x="7619040" y="4695840"/>
            <a:ext cx="8510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A7282"/>
                </a:solidFill>
                <a:effectLst/>
                <a:uFillTx/>
                <a:latin typeface="DejaVuSans"/>
                <a:ea typeface="DejaVuSans"/>
              </a:rPr>
              <a:t>ÉVALUATION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ZoneTexte 182"/>
          <p:cNvSpPr txBox="1"/>
          <p:nvPr/>
        </p:nvSpPr>
        <p:spPr>
          <a:xfrm>
            <a:off x="285840" y="6428160"/>
            <a:ext cx="29228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99A1AF"/>
                </a:solidFill>
                <a:effectLst/>
                <a:uFillTx/>
                <a:latin typeface="DejaVuSans"/>
                <a:ea typeface="DejaVuSans"/>
              </a:rPr>
              <a:t>Mini-Projet Machine Learning | M1 IA | Janvier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ZoneTexte 183"/>
          <p:cNvSpPr txBox="1"/>
          <p:nvPr/>
        </p:nvSpPr>
        <p:spPr>
          <a:xfrm>
            <a:off x="11760840" y="6428160"/>
            <a:ext cx="1461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99A1AF"/>
                </a:solidFill>
                <a:effectLst/>
                <a:uFillTx/>
                <a:latin typeface="DejaVuSans"/>
                <a:ea typeface="DejaVuSans"/>
              </a:rPr>
              <a:t>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ZoneTexte 184"/>
          <p:cNvSpPr txBox="1"/>
          <p:nvPr/>
        </p:nvSpPr>
        <p:spPr>
          <a:xfrm>
            <a:off x="3182040" y="3297960"/>
            <a:ext cx="171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002FA7"/>
                </a:solidFill>
                <a:effectLst/>
                <a:uFillTx/>
                <a:latin typeface="FontAwesome6Free-Solid"/>
                <a:ea typeface="FontAwesome6Free-Solid"/>
              </a:rPr>
              <a:t>〉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ZoneTexte 185"/>
          <p:cNvSpPr txBox="1"/>
          <p:nvPr/>
        </p:nvSpPr>
        <p:spPr>
          <a:xfrm>
            <a:off x="6042600" y="3297960"/>
            <a:ext cx="171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002FA7"/>
                </a:solidFill>
                <a:effectLst/>
                <a:uFillTx/>
                <a:latin typeface="FontAwesome6Free-Solid"/>
                <a:ea typeface="FontAwesome6Free-Solid"/>
              </a:rPr>
              <a:t>〉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ZoneTexte 186"/>
          <p:cNvSpPr txBox="1"/>
          <p:nvPr/>
        </p:nvSpPr>
        <p:spPr>
          <a:xfrm>
            <a:off x="8902800" y="3297960"/>
            <a:ext cx="171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002FA7"/>
                </a:solidFill>
                <a:effectLst/>
                <a:uFillTx/>
                <a:latin typeface="FontAwesome6Free-Solid"/>
                <a:ea typeface="FontAwesome6Free-Solid"/>
              </a:rPr>
              <a:t>〉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ZoneTexte 187"/>
          <p:cNvSpPr txBox="1"/>
          <p:nvPr/>
        </p:nvSpPr>
        <p:spPr>
          <a:xfrm>
            <a:off x="4322880" y="4710240"/>
            <a:ext cx="1137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002FA7"/>
                </a:solidFill>
                <a:effectLst/>
                <a:uFillTx/>
                <a:latin typeface="FontAwesome6Free-Solid"/>
                <a:ea typeface="FontAwesome6Free-Solid"/>
              </a:rPr>
              <a:t>→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ZoneTexte 188"/>
          <p:cNvSpPr txBox="1"/>
          <p:nvPr/>
        </p:nvSpPr>
        <p:spPr>
          <a:xfrm>
            <a:off x="5874120" y="4710240"/>
            <a:ext cx="1137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002FA7"/>
                </a:solidFill>
                <a:effectLst/>
                <a:uFillTx/>
                <a:latin typeface="FontAwesome6Free-Solid"/>
                <a:ea typeface="FontAwesome6Free-Solid"/>
              </a:rPr>
              <a:t>→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ZoneTexte 189"/>
          <p:cNvSpPr txBox="1"/>
          <p:nvPr/>
        </p:nvSpPr>
        <p:spPr>
          <a:xfrm>
            <a:off x="7366680" y="4710240"/>
            <a:ext cx="1137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002FA7"/>
                </a:solidFill>
                <a:effectLst/>
                <a:uFillTx/>
                <a:latin typeface="FontAwesome6Free-Solid"/>
                <a:ea typeface="FontAwesome6Free-Solid"/>
              </a:rPr>
              <a:t>→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Forme libre : forme 19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Forme libre : forme 191"/>
          <p:cNvSpPr/>
          <p:nvPr/>
        </p:nvSpPr>
        <p:spPr>
          <a:xfrm>
            <a:off x="285480" y="628560"/>
            <a:ext cx="11620800" cy="9720"/>
          </a:xfrm>
          <a:custGeom>
            <a:avLst/>
            <a:gdLst/>
            <a:ahLst/>
            <a:cxnLst/>
            <a:rect l="0" t="0" r="r" b="b"/>
            <a:pathLst>
              <a:path w="32280" h="27">
                <a:moveTo>
                  <a:pt x="0" y="0"/>
                </a:moveTo>
                <a:lnTo>
                  <a:pt x="32280" y="0"/>
                </a:lnTo>
                <a:lnTo>
                  <a:pt x="322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ZoneTexte 192"/>
          <p:cNvSpPr txBox="1"/>
          <p:nvPr/>
        </p:nvSpPr>
        <p:spPr>
          <a:xfrm>
            <a:off x="285840" y="317160"/>
            <a:ext cx="2169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1" u="none" strike="noStrike">
                <a:solidFill>
                  <a:srgbClr val="101828"/>
                </a:solidFill>
                <a:effectLst/>
                <a:uFillTx/>
                <a:latin typeface="DejaVuSans"/>
                <a:ea typeface="DejaVuSans"/>
              </a:rPr>
              <a:t>RÉGRESSION LINÉAIRE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ZoneTexte 193"/>
          <p:cNvSpPr txBox="1"/>
          <p:nvPr/>
        </p:nvSpPr>
        <p:spPr>
          <a:xfrm>
            <a:off x="9726480" y="343080"/>
            <a:ext cx="2171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101828"/>
                </a:solidFill>
                <a:effectLst/>
                <a:uFillTx/>
                <a:latin typeface="DejaVuSans"/>
                <a:ea typeface="DejaVuSans"/>
              </a:rPr>
              <a:t>Partie 1 — Medical Insurance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ZoneTexte 194"/>
          <p:cNvSpPr txBox="1"/>
          <p:nvPr/>
        </p:nvSpPr>
        <p:spPr>
          <a:xfrm>
            <a:off x="285840" y="1028520"/>
            <a:ext cx="283968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0" u="none" strike="noStrike">
                <a:solidFill>
                  <a:srgbClr val="101828"/>
                </a:solidFill>
                <a:effectLst/>
                <a:uFillTx/>
                <a:latin typeface="Georgia"/>
                <a:ea typeface="Georgia"/>
              </a:rPr>
              <a:t>Analyse du dataset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Forme libre : forme 195"/>
          <p:cNvSpPr/>
          <p:nvPr/>
        </p:nvSpPr>
        <p:spPr>
          <a:xfrm>
            <a:off x="285480" y="2143080"/>
            <a:ext cx="381600" cy="381240"/>
          </a:xfrm>
          <a:custGeom>
            <a:avLst/>
            <a:gdLst/>
            <a:ahLst/>
            <a:cxnLst/>
            <a:rect l="0" t="0" r="r" b="b"/>
            <a:pathLst>
              <a:path w="1060" h="1059">
                <a:moveTo>
                  <a:pt x="1060" y="529"/>
                </a:moveTo>
                <a:cubicBezTo>
                  <a:pt x="1060" y="564"/>
                  <a:pt x="1056" y="598"/>
                  <a:pt x="1049" y="632"/>
                </a:cubicBezTo>
                <a:cubicBezTo>
                  <a:pt x="1043" y="666"/>
                  <a:pt x="1033" y="699"/>
                  <a:pt x="1019" y="731"/>
                </a:cubicBezTo>
                <a:cubicBezTo>
                  <a:pt x="1006" y="763"/>
                  <a:pt x="990" y="794"/>
                  <a:pt x="970" y="823"/>
                </a:cubicBezTo>
                <a:cubicBezTo>
                  <a:pt x="951" y="852"/>
                  <a:pt x="929" y="878"/>
                  <a:pt x="905" y="903"/>
                </a:cubicBezTo>
                <a:cubicBezTo>
                  <a:pt x="880" y="929"/>
                  <a:pt x="853" y="950"/>
                  <a:pt x="824" y="970"/>
                </a:cubicBezTo>
                <a:cubicBezTo>
                  <a:pt x="796" y="989"/>
                  <a:pt x="764" y="1005"/>
                  <a:pt x="732" y="1019"/>
                </a:cubicBezTo>
                <a:cubicBezTo>
                  <a:pt x="700" y="1032"/>
                  <a:pt x="667" y="1042"/>
                  <a:pt x="633" y="1049"/>
                </a:cubicBezTo>
                <a:cubicBezTo>
                  <a:pt x="599" y="1056"/>
                  <a:pt x="564" y="1059"/>
                  <a:pt x="529" y="1059"/>
                </a:cubicBezTo>
                <a:cubicBezTo>
                  <a:pt x="495" y="1059"/>
                  <a:pt x="460" y="1056"/>
                  <a:pt x="426" y="1049"/>
                </a:cubicBezTo>
                <a:cubicBezTo>
                  <a:pt x="392" y="1042"/>
                  <a:pt x="359" y="1032"/>
                  <a:pt x="327" y="1019"/>
                </a:cubicBezTo>
                <a:cubicBezTo>
                  <a:pt x="295" y="1005"/>
                  <a:pt x="264" y="989"/>
                  <a:pt x="235" y="970"/>
                </a:cubicBezTo>
                <a:cubicBezTo>
                  <a:pt x="207" y="950"/>
                  <a:pt x="180" y="929"/>
                  <a:pt x="155" y="903"/>
                </a:cubicBezTo>
                <a:cubicBezTo>
                  <a:pt x="131" y="878"/>
                  <a:pt x="109" y="852"/>
                  <a:pt x="89" y="823"/>
                </a:cubicBezTo>
                <a:cubicBezTo>
                  <a:pt x="70" y="794"/>
                  <a:pt x="54" y="763"/>
                  <a:pt x="41" y="731"/>
                </a:cubicBezTo>
                <a:cubicBezTo>
                  <a:pt x="27" y="699"/>
                  <a:pt x="17" y="666"/>
                  <a:pt x="10" y="632"/>
                </a:cubicBezTo>
                <a:cubicBezTo>
                  <a:pt x="4" y="598"/>
                  <a:pt x="0" y="564"/>
                  <a:pt x="0" y="529"/>
                </a:cubicBezTo>
                <a:cubicBezTo>
                  <a:pt x="0" y="494"/>
                  <a:pt x="4" y="460"/>
                  <a:pt x="10" y="426"/>
                </a:cubicBezTo>
                <a:cubicBezTo>
                  <a:pt x="17" y="391"/>
                  <a:pt x="27" y="358"/>
                  <a:pt x="41" y="326"/>
                </a:cubicBezTo>
                <a:cubicBezTo>
                  <a:pt x="54" y="294"/>
                  <a:pt x="70" y="264"/>
                  <a:pt x="89" y="235"/>
                </a:cubicBezTo>
                <a:cubicBezTo>
                  <a:pt x="109" y="206"/>
                  <a:pt x="131" y="179"/>
                  <a:pt x="155" y="155"/>
                </a:cubicBezTo>
                <a:cubicBezTo>
                  <a:pt x="180" y="130"/>
                  <a:pt x="207" y="108"/>
                  <a:pt x="235" y="89"/>
                </a:cubicBezTo>
                <a:cubicBezTo>
                  <a:pt x="264" y="70"/>
                  <a:pt x="295" y="53"/>
                  <a:pt x="327" y="40"/>
                </a:cubicBezTo>
                <a:cubicBezTo>
                  <a:pt x="359" y="27"/>
                  <a:pt x="392" y="17"/>
                  <a:pt x="426" y="10"/>
                </a:cubicBezTo>
                <a:cubicBezTo>
                  <a:pt x="460" y="3"/>
                  <a:pt x="495" y="0"/>
                  <a:pt x="529" y="0"/>
                </a:cubicBezTo>
                <a:cubicBezTo>
                  <a:pt x="564" y="0"/>
                  <a:pt x="599" y="3"/>
                  <a:pt x="633" y="10"/>
                </a:cubicBezTo>
                <a:cubicBezTo>
                  <a:pt x="667" y="17"/>
                  <a:pt x="700" y="27"/>
                  <a:pt x="732" y="40"/>
                </a:cubicBezTo>
                <a:cubicBezTo>
                  <a:pt x="764" y="53"/>
                  <a:pt x="796" y="70"/>
                  <a:pt x="824" y="89"/>
                </a:cubicBezTo>
                <a:cubicBezTo>
                  <a:pt x="853" y="108"/>
                  <a:pt x="880" y="130"/>
                  <a:pt x="905" y="155"/>
                </a:cubicBezTo>
                <a:cubicBezTo>
                  <a:pt x="929" y="179"/>
                  <a:pt x="951" y="206"/>
                  <a:pt x="970" y="235"/>
                </a:cubicBezTo>
                <a:cubicBezTo>
                  <a:pt x="990" y="264"/>
                  <a:pt x="1006" y="294"/>
                  <a:pt x="1019" y="326"/>
                </a:cubicBezTo>
                <a:cubicBezTo>
                  <a:pt x="1033" y="358"/>
                  <a:pt x="1043" y="391"/>
                  <a:pt x="1049" y="426"/>
                </a:cubicBezTo>
                <a:cubicBezTo>
                  <a:pt x="1056" y="460"/>
                  <a:pt x="1060" y="494"/>
                  <a:pt x="1060" y="529"/>
                </a:cubicBezTo>
                <a:close/>
              </a:path>
            </a:pathLst>
          </a:custGeom>
          <a:solidFill>
            <a:srgbClr val="E3EC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ZoneTexte 196"/>
          <p:cNvSpPr txBox="1"/>
          <p:nvPr/>
        </p:nvSpPr>
        <p:spPr>
          <a:xfrm>
            <a:off x="285840" y="1438200"/>
            <a:ext cx="281016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0" u="none" strike="noStrike">
                <a:solidFill>
                  <a:srgbClr val="101828"/>
                </a:solidFill>
                <a:effectLst/>
                <a:uFillTx/>
                <a:latin typeface="Georgia"/>
                <a:ea typeface="Georgia"/>
              </a:rPr>
              <a:t>Medical Insurance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ZoneTexte 197"/>
          <p:cNvSpPr txBox="1"/>
          <p:nvPr/>
        </p:nvSpPr>
        <p:spPr>
          <a:xfrm>
            <a:off x="401400" y="2240640"/>
            <a:ext cx="171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002FA7"/>
                </a:solidFill>
                <a:effectLst/>
                <a:uFillTx/>
                <a:latin typeface="FontAwesome6Free-Solid"/>
                <a:ea typeface="FontAwesome6Free-Solid"/>
              </a:rPr>
              <a:t>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ZoneTexte 198"/>
          <p:cNvSpPr txBox="1"/>
          <p:nvPr/>
        </p:nvSpPr>
        <p:spPr>
          <a:xfrm>
            <a:off x="819000" y="2174400"/>
            <a:ext cx="19242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1" u="none" strike="noStrike">
                <a:solidFill>
                  <a:srgbClr val="101828"/>
                </a:solidFill>
                <a:effectLst/>
                <a:uFillTx/>
                <a:latin typeface="DejaVuSans"/>
                <a:ea typeface="DejaVuSans"/>
              </a:rPr>
              <a:t>Dataset &amp; Variables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ZoneTexte 199"/>
          <p:cNvSpPr txBox="1"/>
          <p:nvPr/>
        </p:nvSpPr>
        <p:spPr>
          <a:xfrm>
            <a:off x="819000" y="2516040"/>
            <a:ext cx="26071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1" u="none" strike="noStrike">
                <a:solidFill>
                  <a:srgbClr val="364153"/>
                </a:solidFill>
                <a:effectLst/>
                <a:uFillTx/>
                <a:latin typeface="DejaVuSans"/>
                <a:ea typeface="DejaVuSans"/>
              </a:rPr>
              <a:t>Dataset : </a:t>
            </a:r>
            <a:r>
              <a:rPr lang="en-US" sz="1200" b="0" u="none" strike="noStrike">
                <a:solidFill>
                  <a:srgbClr val="364153"/>
                </a:solidFill>
                <a:effectLst/>
                <a:uFillTx/>
                <a:latin typeface="DejaVuSans"/>
                <a:ea typeface="DejaVuSans"/>
              </a:rPr>
              <a:t>Medical Insurance Cost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ZoneTexte 200"/>
          <p:cNvSpPr txBox="1"/>
          <p:nvPr/>
        </p:nvSpPr>
        <p:spPr>
          <a:xfrm>
            <a:off x="819000" y="2781360"/>
            <a:ext cx="11952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A7282"/>
                </a:solidFill>
                <a:effectLst/>
                <a:uFillTx/>
                <a:latin typeface="DejaVuSans"/>
                <a:ea typeface="DejaVuSans"/>
              </a:rPr>
              <a:t>(Target : charges)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ZoneTexte 201"/>
          <p:cNvSpPr txBox="1"/>
          <p:nvPr/>
        </p:nvSpPr>
        <p:spPr>
          <a:xfrm>
            <a:off x="819000" y="3087720"/>
            <a:ext cx="3429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1" u="none" strike="noStrike">
                <a:solidFill>
                  <a:srgbClr val="364153"/>
                </a:solidFill>
                <a:effectLst/>
                <a:uFillTx/>
                <a:latin typeface="DejaVuSans"/>
                <a:ea typeface="DejaVuSans"/>
              </a:rPr>
              <a:t>Variables : </a:t>
            </a:r>
            <a:r>
              <a:rPr lang="en-US" sz="1200" b="0" u="none" strike="noStrike">
                <a:solidFill>
                  <a:srgbClr val="364153"/>
                </a:solidFill>
                <a:effectLst/>
                <a:uFillTx/>
                <a:latin typeface="DejaVuSans"/>
                <a:ea typeface="DejaVuSans"/>
              </a:rPr>
              <a:t>sex, smoker, region (encodées),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Forme libre : forme 202"/>
          <p:cNvSpPr/>
          <p:nvPr/>
        </p:nvSpPr>
        <p:spPr>
          <a:xfrm>
            <a:off x="285480" y="3857400"/>
            <a:ext cx="381600" cy="381240"/>
          </a:xfrm>
          <a:custGeom>
            <a:avLst/>
            <a:gdLst/>
            <a:ahLst/>
            <a:cxnLst/>
            <a:rect l="0" t="0" r="r" b="b"/>
            <a:pathLst>
              <a:path w="1060" h="1059">
                <a:moveTo>
                  <a:pt x="1060" y="530"/>
                </a:moveTo>
                <a:cubicBezTo>
                  <a:pt x="1060" y="565"/>
                  <a:pt x="1056" y="599"/>
                  <a:pt x="1049" y="634"/>
                </a:cubicBezTo>
                <a:cubicBezTo>
                  <a:pt x="1043" y="668"/>
                  <a:pt x="1033" y="701"/>
                  <a:pt x="1019" y="733"/>
                </a:cubicBezTo>
                <a:cubicBezTo>
                  <a:pt x="1006" y="765"/>
                  <a:pt x="990" y="795"/>
                  <a:pt x="970" y="824"/>
                </a:cubicBezTo>
                <a:cubicBezTo>
                  <a:pt x="951" y="853"/>
                  <a:pt x="929" y="880"/>
                  <a:pt x="905" y="904"/>
                </a:cubicBezTo>
                <a:cubicBezTo>
                  <a:pt x="880" y="929"/>
                  <a:pt x="853" y="951"/>
                  <a:pt x="824" y="970"/>
                </a:cubicBezTo>
                <a:cubicBezTo>
                  <a:pt x="796" y="990"/>
                  <a:pt x="764" y="1006"/>
                  <a:pt x="732" y="1019"/>
                </a:cubicBezTo>
                <a:cubicBezTo>
                  <a:pt x="700" y="1032"/>
                  <a:pt x="667" y="1043"/>
                  <a:pt x="633" y="1049"/>
                </a:cubicBezTo>
                <a:cubicBezTo>
                  <a:pt x="599" y="1056"/>
                  <a:pt x="564" y="1059"/>
                  <a:pt x="529" y="1059"/>
                </a:cubicBezTo>
                <a:cubicBezTo>
                  <a:pt x="495" y="1059"/>
                  <a:pt x="460" y="1056"/>
                  <a:pt x="426" y="1049"/>
                </a:cubicBezTo>
                <a:cubicBezTo>
                  <a:pt x="392" y="1043"/>
                  <a:pt x="359" y="1032"/>
                  <a:pt x="327" y="1019"/>
                </a:cubicBezTo>
                <a:cubicBezTo>
                  <a:pt x="295" y="1006"/>
                  <a:pt x="264" y="990"/>
                  <a:pt x="235" y="970"/>
                </a:cubicBezTo>
                <a:cubicBezTo>
                  <a:pt x="207" y="951"/>
                  <a:pt x="180" y="929"/>
                  <a:pt x="155" y="904"/>
                </a:cubicBezTo>
                <a:cubicBezTo>
                  <a:pt x="131" y="880"/>
                  <a:pt x="109" y="853"/>
                  <a:pt x="89" y="824"/>
                </a:cubicBezTo>
                <a:cubicBezTo>
                  <a:pt x="70" y="795"/>
                  <a:pt x="54" y="765"/>
                  <a:pt x="41" y="733"/>
                </a:cubicBezTo>
                <a:cubicBezTo>
                  <a:pt x="27" y="701"/>
                  <a:pt x="17" y="668"/>
                  <a:pt x="10" y="634"/>
                </a:cubicBezTo>
                <a:cubicBezTo>
                  <a:pt x="4" y="599"/>
                  <a:pt x="0" y="565"/>
                  <a:pt x="0" y="530"/>
                </a:cubicBezTo>
                <a:cubicBezTo>
                  <a:pt x="0" y="496"/>
                  <a:pt x="4" y="461"/>
                  <a:pt x="10" y="427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4"/>
                  <a:pt x="89" y="235"/>
                </a:cubicBezTo>
                <a:cubicBezTo>
                  <a:pt x="109" y="206"/>
                  <a:pt x="131" y="180"/>
                  <a:pt x="155" y="155"/>
                </a:cubicBezTo>
                <a:cubicBezTo>
                  <a:pt x="180" y="131"/>
                  <a:pt x="207" y="109"/>
                  <a:pt x="235" y="89"/>
                </a:cubicBezTo>
                <a:cubicBezTo>
                  <a:pt x="264" y="70"/>
                  <a:pt x="295" y="54"/>
                  <a:pt x="327" y="40"/>
                </a:cubicBezTo>
                <a:cubicBezTo>
                  <a:pt x="359" y="27"/>
                  <a:pt x="392" y="17"/>
                  <a:pt x="426" y="10"/>
                </a:cubicBezTo>
                <a:cubicBezTo>
                  <a:pt x="460" y="4"/>
                  <a:pt x="495" y="0"/>
                  <a:pt x="529" y="0"/>
                </a:cubicBezTo>
                <a:cubicBezTo>
                  <a:pt x="564" y="0"/>
                  <a:pt x="599" y="4"/>
                  <a:pt x="633" y="10"/>
                </a:cubicBezTo>
                <a:cubicBezTo>
                  <a:pt x="667" y="17"/>
                  <a:pt x="700" y="27"/>
                  <a:pt x="732" y="40"/>
                </a:cubicBezTo>
                <a:cubicBezTo>
                  <a:pt x="764" y="54"/>
                  <a:pt x="796" y="70"/>
                  <a:pt x="824" y="89"/>
                </a:cubicBezTo>
                <a:cubicBezTo>
                  <a:pt x="853" y="109"/>
                  <a:pt x="880" y="131"/>
                  <a:pt x="905" y="155"/>
                </a:cubicBezTo>
                <a:cubicBezTo>
                  <a:pt x="929" y="180"/>
                  <a:pt x="951" y="206"/>
                  <a:pt x="970" y="235"/>
                </a:cubicBezTo>
                <a:cubicBezTo>
                  <a:pt x="990" y="264"/>
                  <a:pt x="1006" y="295"/>
                  <a:pt x="1019" y="327"/>
                </a:cubicBezTo>
                <a:cubicBezTo>
                  <a:pt x="1033" y="359"/>
                  <a:pt x="1043" y="392"/>
                  <a:pt x="1049" y="427"/>
                </a:cubicBezTo>
                <a:cubicBezTo>
                  <a:pt x="1056" y="461"/>
                  <a:pt x="1060" y="496"/>
                  <a:pt x="1060" y="530"/>
                </a:cubicBezTo>
                <a:close/>
              </a:path>
            </a:pathLst>
          </a:custGeom>
          <a:solidFill>
            <a:srgbClr val="E3EC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ZoneTexte 203"/>
          <p:cNvSpPr txBox="1"/>
          <p:nvPr/>
        </p:nvSpPr>
        <p:spPr>
          <a:xfrm>
            <a:off x="819000" y="3335040"/>
            <a:ext cx="6642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364153"/>
                </a:solidFill>
                <a:effectLst/>
                <a:uFillTx/>
                <a:latin typeface="DejaVuSans"/>
                <a:ea typeface="DejaVuSans"/>
              </a:rPr>
              <a:t>âge, IMC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ZoneTexte 204"/>
          <p:cNvSpPr txBox="1"/>
          <p:nvPr/>
        </p:nvSpPr>
        <p:spPr>
          <a:xfrm>
            <a:off x="390600" y="3955320"/>
            <a:ext cx="171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002FA7"/>
                </a:solidFill>
                <a:effectLst/>
                <a:uFillTx/>
                <a:latin typeface="FontAwesome6Free-Solid"/>
                <a:ea typeface="FontAwesome6Free-Solid"/>
              </a:rPr>
              <a:t>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ZoneTexte 205"/>
          <p:cNvSpPr txBox="1"/>
          <p:nvPr/>
        </p:nvSpPr>
        <p:spPr>
          <a:xfrm>
            <a:off x="819000" y="3889080"/>
            <a:ext cx="135936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1" u="none" strike="noStrike">
                <a:solidFill>
                  <a:srgbClr val="101828"/>
                </a:solidFill>
                <a:effectLst/>
                <a:uFillTx/>
                <a:latin typeface="DejaVuSans"/>
                <a:ea typeface="DejaVuSans"/>
              </a:rPr>
              <a:t>Résultats EDA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ZoneTexte 206"/>
          <p:cNvSpPr txBox="1"/>
          <p:nvPr/>
        </p:nvSpPr>
        <p:spPr>
          <a:xfrm>
            <a:off x="819000" y="4230720"/>
            <a:ext cx="35294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364153"/>
                </a:solidFill>
                <a:effectLst/>
                <a:uFillTx/>
                <a:latin typeface="DejaVuSans"/>
                <a:ea typeface="DejaVuSans"/>
              </a:rPr>
              <a:t>L'analyse des corrélations révèle que </a:t>
            </a:r>
            <a:r>
              <a:rPr lang="en-US" sz="1200" b="1" u="none" strike="noStrike">
                <a:solidFill>
                  <a:srgbClr val="002FA7"/>
                </a:solidFill>
                <a:effectLst/>
                <a:uFillTx/>
                <a:latin typeface="DejaVuSans"/>
                <a:ea typeface="DejaVuSans"/>
              </a:rPr>
              <a:t>smoker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ZoneTexte 207"/>
          <p:cNvSpPr txBox="1"/>
          <p:nvPr/>
        </p:nvSpPr>
        <p:spPr>
          <a:xfrm>
            <a:off x="819000" y="4478040"/>
            <a:ext cx="34426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364153"/>
                </a:solidFill>
                <a:effectLst/>
                <a:uFillTx/>
                <a:latin typeface="DejaVuSans"/>
                <a:ea typeface="DejaVuSans"/>
              </a:rPr>
              <a:t>est le facteur le plus inﬂuent sur les charges,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Forme libre : forme 208"/>
          <p:cNvSpPr/>
          <p:nvPr/>
        </p:nvSpPr>
        <p:spPr>
          <a:xfrm>
            <a:off x="4819320" y="1533240"/>
            <a:ext cx="7086960" cy="3601080"/>
          </a:xfrm>
          <a:custGeom>
            <a:avLst/>
            <a:gdLst/>
            <a:ahLst/>
            <a:cxnLst/>
            <a:rect l="0" t="0" r="r" b="b"/>
            <a:pathLst>
              <a:path w="19686" h="10003">
                <a:moveTo>
                  <a:pt x="0" y="0"/>
                </a:moveTo>
                <a:lnTo>
                  <a:pt x="19686" y="0"/>
                </a:lnTo>
                <a:lnTo>
                  <a:pt x="19686" y="10003"/>
                </a:lnTo>
                <a:lnTo>
                  <a:pt x="0" y="10003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Forme libre : forme 209"/>
          <p:cNvSpPr/>
          <p:nvPr/>
        </p:nvSpPr>
        <p:spPr>
          <a:xfrm>
            <a:off x="4824360" y="1538280"/>
            <a:ext cx="7077240" cy="3591000"/>
          </a:xfrm>
          <a:custGeom>
            <a:avLst/>
            <a:gdLst/>
            <a:ahLst/>
            <a:cxnLst/>
            <a:rect l="0" t="0" r="r" b="b"/>
            <a:pathLst>
              <a:path w="19659" h="9975" fill="none">
                <a:moveTo>
                  <a:pt x="0" y="0"/>
                </a:moveTo>
                <a:lnTo>
                  <a:pt x="19659" y="0"/>
                </a:lnTo>
                <a:lnTo>
                  <a:pt x="19659" y="9975"/>
                </a:lnTo>
                <a:lnTo>
                  <a:pt x="0" y="9975"/>
                </a:lnTo>
                <a:lnTo>
                  <a:pt x="0" y="0"/>
                </a:ln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Forme libre : forme 210"/>
          <p:cNvSpPr/>
          <p:nvPr/>
        </p:nvSpPr>
        <p:spPr>
          <a:xfrm>
            <a:off x="4905360" y="1618920"/>
            <a:ext cx="6915240" cy="3429360"/>
          </a:xfrm>
          <a:custGeom>
            <a:avLst/>
            <a:gdLst/>
            <a:ahLst/>
            <a:cxnLst/>
            <a:rect l="0" t="0" r="r" b="b"/>
            <a:pathLst>
              <a:path w="19209" h="9526">
                <a:moveTo>
                  <a:pt x="0" y="0"/>
                </a:moveTo>
                <a:lnTo>
                  <a:pt x="19209" y="0"/>
                </a:lnTo>
                <a:lnTo>
                  <a:pt x="19209" y="9526"/>
                </a:lnTo>
                <a:lnTo>
                  <a:pt x="0" y="952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ZoneTexte 212"/>
          <p:cNvSpPr txBox="1"/>
          <p:nvPr/>
        </p:nvSpPr>
        <p:spPr>
          <a:xfrm>
            <a:off x="819000" y="4725720"/>
            <a:ext cx="17352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364153"/>
                </a:solidFill>
                <a:effectLst/>
                <a:uFillTx/>
                <a:latin typeface="DejaVuSans"/>
                <a:ea typeface="DejaVuSans"/>
              </a:rPr>
              <a:t>suivi par l'âge et l'IMC.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ZoneTexte 213"/>
          <p:cNvSpPr txBox="1"/>
          <p:nvPr/>
        </p:nvSpPr>
        <p:spPr>
          <a:xfrm>
            <a:off x="6278400" y="5275440"/>
            <a:ext cx="1137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002FA7"/>
                </a:solidFill>
                <a:effectLst/>
                <a:uFillTx/>
                <a:latin typeface="DejaVuSans"/>
                <a:ea typeface="DejaVuSans"/>
              </a:rPr>
              <a:t>●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Forme libre : forme 214"/>
          <p:cNvSpPr/>
          <p:nvPr/>
        </p:nvSpPr>
        <p:spPr>
          <a:xfrm>
            <a:off x="285480" y="6105240"/>
            <a:ext cx="11620800" cy="10080"/>
          </a:xfrm>
          <a:custGeom>
            <a:avLst/>
            <a:gdLst/>
            <a:ahLst/>
            <a:cxnLst/>
            <a:rect l="0" t="0" r="r" b="b"/>
            <a:pathLst>
              <a:path w="32280" h="28">
                <a:moveTo>
                  <a:pt x="0" y="0"/>
                </a:moveTo>
                <a:lnTo>
                  <a:pt x="32280" y="0"/>
                </a:lnTo>
                <a:lnTo>
                  <a:pt x="3228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ZoneTexte 215"/>
          <p:cNvSpPr txBox="1"/>
          <p:nvPr/>
        </p:nvSpPr>
        <p:spPr>
          <a:xfrm>
            <a:off x="6454440" y="5267520"/>
            <a:ext cx="39708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i="1" u="none" strike="noStrike">
                <a:solidFill>
                  <a:srgbClr val="6A7282"/>
                </a:solidFill>
                <a:effectLst/>
                <a:uFillTx/>
                <a:latin typeface="DejaVuSans"/>
                <a:ea typeface="DejaVuSans"/>
              </a:rPr>
              <a:t>Matrice de corrélation (Heatmap) des variables explicatives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ZoneTexte 216"/>
          <p:cNvSpPr txBox="1"/>
          <p:nvPr/>
        </p:nvSpPr>
        <p:spPr>
          <a:xfrm>
            <a:off x="285840" y="6275520"/>
            <a:ext cx="18968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1" u="none" strike="noStrike">
                <a:solidFill>
                  <a:srgbClr val="101828"/>
                </a:solidFill>
                <a:effectLst/>
                <a:uFillTx/>
                <a:latin typeface="DejaVuSans"/>
                <a:ea typeface="DejaVuSans"/>
              </a:rPr>
              <a:t>Mini-Projet Machine Learning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ZoneTexte 217"/>
          <p:cNvSpPr txBox="1"/>
          <p:nvPr/>
        </p:nvSpPr>
        <p:spPr>
          <a:xfrm>
            <a:off x="285840" y="6428160"/>
            <a:ext cx="148212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6A7282"/>
                </a:solidFill>
                <a:effectLst/>
                <a:uFillTx/>
                <a:latin typeface="DejaVuSans"/>
                <a:ea typeface="DejaVuSans"/>
              </a:rPr>
              <a:t>M1 Intelligence Artiﬁcielle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ZoneTexte 218"/>
          <p:cNvSpPr txBox="1"/>
          <p:nvPr/>
        </p:nvSpPr>
        <p:spPr>
          <a:xfrm>
            <a:off x="11760840" y="6428160"/>
            <a:ext cx="1461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99A1AF"/>
                </a:solidFill>
                <a:effectLst/>
                <a:uFillTx/>
                <a:latin typeface="DejaVuSans"/>
                <a:ea typeface="DejaVuSans"/>
              </a:rPr>
              <a:t>07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78A1AF1-9A50-4C43-3896-C4DA049810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6000" y="1533240"/>
            <a:ext cx="7246300" cy="41571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Forme libre : forme 21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Forme libre : forme 22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Forme libre : forme 221"/>
          <p:cNvSpPr/>
          <p:nvPr/>
        </p:nvSpPr>
        <p:spPr>
          <a:xfrm>
            <a:off x="285480" y="628560"/>
            <a:ext cx="11620800" cy="9720"/>
          </a:xfrm>
          <a:custGeom>
            <a:avLst/>
            <a:gdLst/>
            <a:ahLst/>
            <a:cxnLst/>
            <a:rect l="0" t="0" r="r" b="b"/>
            <a:pathLst>
              <a:path w="32280" h="27">
                <a:moveTo>
                  <a:pt x="0" y="0"/>
                </a:moveTo>
                <a:lnTo>
                  <a:pt x="32280" y="0"/>
                </a:lnTo>
                <a:lnTo>
                  <a:pt x="322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ZoneTexte 222"/>
          <p:cNvSpPr txBox="1"/>
          <p:nvPr/>
        </p:nvSpPr>
        <p:spPr>
          <a:xfrm>
            <a:off x="285840" y="317160"/>
            <a:ext cx="864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1" u="none" strike="noStrike">
                <a:solidFill>
                  <a:srgbClr val="101828"/>
                </a:solidFill>
                <a:effectLst/>
                <a:uFillTx/>
                <a:latin typeface="DejaVuSans"/>
                <a:ea typeface="DejaVuSans"/>
              </a:rPr>
              <a:t>PARTIE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ZoneTexte 223"/>
          <p:cNvSpPr txBox="1"/>
          <p:nvPr/>
        </p:nvSpPr>
        <p:spPr>
          <a:xfrm>
            <a:off x="10073160" y="343080"/>
            <a:ext cx="182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101828"/>
                </a:solidFill>
                <a:effectLst/>
                <a:uFillTx/>
                <a:latin typeface="DejaVuSans"/>
                <a:ea typeface="DejaVuSans"/>
              </a:rPr>
              <a:t>Modèle et performances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Forme libre : forme 224"/>
          <p:cNvSpPr/>
          <p:nvPr/>
        </p:nvSpPr>
        <p:spPr>
          <a:xfrm>
            <a:off x="285480" y="2152440"/>
            <a:ext cx="4762800" cy="1067040"/>
          </a:xfrm>
          <a:custGeom>
            <a:avLst/>
            <a:gdLst/>
            <a:ahLst/>
            <a:cxnLst/>
            <a:rect l="0" t="0" r="r" b="b"/>
            <a:pathLst>
              <a:path w="13230" h="2964">
                <a:moveTo>
                  <a:pt x="0" y="0"/>
                </a:moveTo>
                <a:lnTo>
                  <a:pt x="13230" y="0"/>
                </a:lnTo>
                <a:lnTo>
                  <a:pt x="13230" y="2964"/>
                </a:lnTo>
                <a:lnTo>
                  <a:pt x="0" y="2964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Forme libre : forme 225"/>
          <p:cNvSpPr/>
          <p:nvPr/>
        </p:nvSpPr>
        <p:spPr>
          <a:xfrm>
            <a:off x="285480" y="2152440"/>
            <a:ext cx="38520" cy="1067040"/>
          </a:xfrm>
          <a:custGeom>
            <a:avLst/>
            <a:gdLst/>
            <a:ahLst/>
            <a:cxnLst/>
            <a:rect l="0" t="0" r="r" b="b"/>
            <a:pathLst>
              <a:path w="107" h="2964">
                <a:moveTo>
                  <a:pt x="0" y="0"/>
                </a:moveTo>
                <a:lnTo>
                  <a:pt x="107" y="0"/>
                </a:lnTo>
                <a:lnTo>
                  <a:pt x="107" y="2964"/>
                </a:lnTo>
                <a:lnTo>
                  <a:pt x="0" y="2964"/>
                </a:lnTo>
                <a:lnTo>
                  <a:pt x="0" y="0"/>
                </a:lnTo>
                <a:close/>
              </a:path>
            </a:pathLst>
          </a:custGeom>
          <a:solidFill>
            <a:srgbClr val="002FA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ZoneTexte 226"/>
          <p:cNvSpPr txBox="1"/>
          <p:nvPr/>
        </p:nvSpPr>
        <p:spPr>
          <a:xfrm>
            <a:off x="285840" y="1403280"/>
            <a:ext cx="4072680" cy="433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000" b="0" u="none" strike="noStrike">
                <a:solidFill>
                  <a:srgbClr val="101828"/>
                </a:solidFill>
                <a:effectLst/>
                <a:uFillTx/>
                <a:latin typeface="Georgia"/>
                <a:ea typeface="Georgia"/>
              </a:rPr>
              <a:t>Modèle et performances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ZoneTexte 227"/>
          <p:cNvSpPr txBox="1"/>
          <p:nvPr/>
        </p:nvSpPr>
        <p:spPr>
          <a:xfrm>
            <a:off x="552600" y="2400480"/>
            <a:ext cx="18792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6A7282"/>
                </a:solidFill>
                <a:effectLst/>
                <a:uFillTx/>
                <a:latin typeface="DejaVuSans"/>
                <a:ea typeface="DejaVuSans"/>
              </a:rPr>
              <a:t>MODÈLE MATHÉMATIQUE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ZoneTexte 228"/>
          <p:cNvSpPr txBox="1"/>
          <p:nvPr/>
        </p:nvSpPr>
        <p:spPr>
          <a:xfrm>
            <a:off x="552600" y="2652480"/>
            <a:ext cx="15159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250" b="0" i="1" u="none" strike="noStrike">
                <a:solidFill>
                  <a:srgbClr val="101828"/>
                </a:solidFill>
                <a:effectLst/>
                <a:uFillTx/>
                <a:latin typeface="Georgia"/>
                <a:ea typeface="Georgia"/>
              </a:rPr>
              <a:t>y = β₀ + Σ β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ZoneTexte 229"/>
          <p:cNvSpPr txBox="1"/>
          <p:nvPr/>
        </p:nvSpPr>
        <p:spPr>
          <a:xfrm>
            <a:off x="2063520" y="2643120"/>
            <a:ext cx="285480" cy="33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250" b="0" i="1" u="none" strike="noStrike">
                <a:solidFill>
                  <a:srgbClr val="101828"/>
                </a:solidFill>
                <a:effectLst/>
                <a:uFillTx/>
                <a:latin typeface="Cambria"/>
                <a:ea typeface="Cambria"/>
              </a:rPr>
              <a:t>ᵢ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ZoneTexte 230"/>
          <p:cNvSpPr txBox="1"/>
          <p:nvPr/>
        </p:nvSpPr>
        <p:spPr>
          <a:xfrm>
            <a:off x="2125080" y="2652480"/>
            <a:ext cx="2854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250" b="0" i="1" u="none" strike="noStrike">
                <a:solidFill>
                  <a:srgbClr val="101828"/>
                </a:solidFill>
                <a:effectLst/>
                <a:uFillTx/>
                <a:latin typeface="Georgia"/>
                <a:ea typeface="Georgia"/>
              </a:rPr>
              <a:t> x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ZoneTexte 231"/>
          <p:cNvSpPr txBox="1"/>
          <p:nvPr/>
        </p:nvSpPr>
        <p:spPr>
          <a:xfrm>
            <a:off x="2337120" y="2643120"/>
            <a:ext cx="285480" cy="33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250" b="0" i="1" u="none" strike="noStrike">
                <a:solidFill>
                  <a:srgbClr val="101828"/>
                </a:solidFill>
                <a:effectLst/>
                <a:uFillTx/>
                <a:latin typeface="Cambria"/>
                <a:ea typeface="Cambria"/>
              </a:rPr>
              <a:t>ᵢ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ZoneTexte 232"/>
          <p:cNvSpPr txBox="1"/>
          <p:nvPr/>
        </p:nvSpPr>
        <p:spPr>
          <a:xfrm>
            <a:off x="2398320" y="2652480"/>
            <a:ext cx="4561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250" b="0" i="1" u="none" strike="noStrike">
                <a:solidFill>
                  <a:srgbClr val="101828"/>
                </a:solidFill>
                <a:effectLst/>
                <a:uFillTx/>
                <a:latin typeface="Georgia"/>
                <a:ea typeface="Georgia"/>
              </a:rPr>
              <a:t> + ε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ZoneTexte 233"/>
          <p:cNvSpPr txBox="1"/>
          <p:nvPr/>
        </p:nvSpPr>
        <p:spPr>
          <a:xfrm>
            <a:off x="285840" y="3532320"/>
            <a:ext cx="6080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1" u="none" strike="noStrike">
                <a:solidFill>
                  <a:srgbClr val="6A7282"/>
                </a:solidFill>
                <a:effectLst/>
                <a:uFillTx/>
                <a:latin typeface="DejaVuSans"/>
                <a:ea typeface="DejaVuSans"/>
              </a:rPr>
              <a:t>R² SCORE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ZoneTexte 234"/>
          <p:cNvSpPr txBox="1"/>
          <p:nvPr/>
        </p:nvSpPr>
        <p:spPr>
          <a:xfrm>
            <a:off x="285840" y="3701160"/>
            <a:ext cx="1324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002FA7"/>
                </a:solidFill>
                <a:effectLst/>
                <a:uFillTx/>
                <a:latin typeface="DejaVuSans"/>
                <a:ea typeface="DejaVuSans"/>
              </a:rPr>
              <a:t>0.7833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ZoneTexte 235"/>
          <p:cNvSpPr txBox="1"/>
          <p:nvPr/>
        </p:nvSpPr>
        <p:spPr>
          <a:xfrm>
            <a:off x="2781360" y="3532320"/>
            <a:ext cx="2750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1" u="none" strike="noStrike">
                <a:solidFill>
                  <a:srgbClr val="6A7282"/>
                </a:solidFill>
                <a:effectLst/>
                <a:uFillTx/>
                <a:latin typeface="DejaVuSans"/>
                <a:ea typeface="DejaVuSans"/>
              </a:rPr>
              <a:t>MSE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ZoneTexte 236"/>
          <p:cNvSpPr txBox="1"/>
          <p:nvPr/>
        </p:nvSpPr>
        <p:spPr>
          <a:xfrm>
            <a:off x="2781360" y="3731040"/>
            <a:ext cx="14468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u="none" strike="noStrike">
                <a:solidFill>
                  <a:srgbClr val="002FA7"/>
                </a:solidFill>
                <a:effectLst/>
                <a:uFillTx/>
                <a:latin typeface="DejaVuSans"/>
                <a:ea typeface="DejaVuSans"/>
              </a:rPr>
              <a:t>33,596,915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ZoneTexte 237"/>
          <p:cNvSpPr txBox="1"/>
          <p:nvPr/>
        </p:nvSpPr>
        <p:spPr>
          <a:xfrm>
            <a:off x="285840" y="4441320"/>
            <a:ext cx="43765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1" u="none" strike="noStrike">
                <a:solidFill>
                  <a:srgbClr val="101828"/>
                </a:solidFill>
                <a:effectLst/>
                <a:uFillTx/>
                <a:latin typeface="DejaVuSans"/>
                <a:ea typeface="DejaVuSans"/>
              </a:rPr>
              <a:t>Variable smoker :</a:t>
            </a:r>
            <a:r>
              <a:rPr lang="en-US" sz="1350" b="0" u="none" strike="noStrike">
                <a:solidFill>
                  <a:srgbClr val="4A5565"/>
                </a:solidFill>
                <a:effectLst/>
                <a:uFillTx/>
                <a:latin typeface="DejaVuSans"/>
                <a:ea typeface="DejaVuSans"/>
              </a:rPr>
              <a:t> β = 23593.98. C'est un impact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ZoneTexte 238"/>
          <p:cNvSpPr txBox="1"/>
          <p:nvPr/>
        </p:nvSpPr>
        <p:spPr>
          <a:xfrm>
            <a:off x="285840" y="4717800"/>
            <a:ext cx="16124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A5565"/>
                </a:solidFill>
                <a:effectLst/>
                <a:uFillTx/>
                <a:latin typeface="DejaVuSans"/>
                <a:ea typeface="DejaVuSans"/>
              </a:rPr>
              <a:t>majeur sur le coût.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ZoneTexte 239"/>
          <p:cNvSpPr txBox="1"/>
          <p:nvPr/>
        </p:nvSpPr>
        <p:spPr>
          <a:xfrm>
            <a:off x="285840" y="5146200"/>
            <a:ext cx="37738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A5565"/>
                </a:solidFill>
                <a:effectLst/>
                <a:uFillTx/>
                <a:latin typeface="DejaVuSans"/>
                <a:ea typeface="DejaVuSans"/>
              </a:rPr>
              <a:t>Suivi par l'IMC et l'âge qui ont une inﬂuence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Forme libre : forme 240"/>
          <p:cNvSpPr/>
          <p:nvPr/>
        </p:nvSpPr>
        <p:spPr>
          <a:xfrm>
            <a:off x="5510160" y="1099800"/>
            <a:ext cx="6391440" cy="4696200"/>
          </a:xfrm>
          <a:custGeom>
            <a:avLst/>
            <a:gdLst/>
            <a:ahLst/>
            <a:cxnLst/>
            <a:rect l="0" t="0" r="r" b="b"/>
            <a:pathLst>
              <a:path w="17754" h="13045">
                <a:moveTo>
                  <a:pt x="0" y="12953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5" y="19"/>
                  <a:pt x="45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lnTo>
                  <a:pt x="17662" y="0"/>
                </a:lnTo>
                <a:cubicBezTo>
                  <a:pt x="17674" y="0"/>
                  <a:pt x="17686" y="3"/>
                  <a:pt x="17697" y="7"/>
                </a:cubicBezTo>
                <a:cubicBezTo>
                  <a:pt x="17708" y="12"/>
                  <a:pt x="17718" y="19"/>
                  <a:pt x="17727" y="28"/>
                </a:cubicBezTo>
                <a:cubicBezTo>
                  <a:pt x="17736" y="36"/>
                  <a:pt x="17742" y="46"/>
                  <a:pt x="17747" y="58"/>
                </a:cubicBezTo>
                <a:cubicBezTo>
                  <a:pt x="17752" y="69"/>
                  <a:pt x="17754" y="81"/>
                  <a:pt x="17754" y="93"/>
                </a:cubicBezTo>
                <a:lnTo>
                  <a:pt x="17754" y="12953"/>
                </a:lnTo>
                <a:cubicBezTo>
                  <a:pt x="17754" y="12965"/>
                  <a:pt x="17752" y="12977"/>
                  <a:pt x="17747" y="12988"/>
                </a:cubicBezTo>
                <a:cubicBezTo>
                  <a:pt x="17742" y="13000"/>
                  <a:pt x="17736" y="13010"/>
                  <a:pt x="17727" y="13018"/>
                </a:cubicBezTo>
                <a:cubicBezTo>
                  <a:pt x="17718" y="13027"/>
                  <a:pt x="17708" y="13034"/>
                  <a:pt x="17697" y="13038"/>
                </a:cubicBezTo>
                <a:cubicBezTo>
                  <a:pt x="17686" y="13043"/>
                  <a:pt x="17674" y="13045"/>
                  <a:pt x="17662" y="13045"/>
                </a:cubicBezTo>
                <a:lnTo>
                  <a:pt x="92" y="13045"/>
                </a:lnTo>
                <a:cubicBezTo>
                  <a:pt x="80" y="13045"/>
                  <a:pt x="68" y="13043"/>
                  <a:pt x="57" y="13038"/>
                </a:cubicBezTo>
                <a:cubicBezTo>
                  <a:pt x="45" y="13034"/>
                  <a:pt x="35" y="13027"/>
                  <a:pt x="27" y="13018"/>
                </a:cubicBezTo>
                <a:cubicBezTo>
                  <a:pt x="18" y="13010"/>
                  <a:pt x="11" y="13000"/>
                  <a:pt x="7" y="12988"/>
                </a:cubicBezTo>
                <a:cubicBezTo>
                  <a:pt x="2" y="12977"/>
                  <a:pt x="0" y="12965"/>
                  <a:pt x="0" y="1295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Forme libre : forme 241"/>
          <p:cNvSpPr/>
          <p:nvPr/>
        </p:nvSpPr>
        <p:spPr>
          <a:xfrm>
            <a:off x="5510160" y="1099800"/>
            <a:ext cx="6391440" cy="4696200"/>
          </a:xfrm>
          <a:custGeom>
            <a:avLst/>
            <a:gdLst/>
            <a:ahLst/>
            <a:cxnLst/>
            <a:rect l="0" t="0" r="r" b="b"/>
            <a:pathLst>
              <a:path w="17754" h="13045" fill="none">
                <a:moveTo>
                  <a:pt x="0" y="12953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5" y="19"/>
                  <a:pt x="45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lnTo>
                  <a:pt x="17662" y="0"/>
                </a:lnTo>
                <a:cubicBezTo>
                  <a:pt x="17674" y="0"/>
                  <a:pt x="17686" y="3"/>
                  <a:pt x="17697" y="7"/>
                </a:cubicBezTo>
                <a:cubicBezTo>
                  <a:pt x="17708" y="12"/>
                  <a:pt x="17718" y="19"/>
                  <a:pt x="17727" y="28"/>
                </a:cubicBezTo>
                <a:cubicBezTo>
                  <a:pt x="17736" y="36"/>
                  <a:pt x="17742" y="46"/>
                  <a:pt x="17747" y="58"/>
                </a:cubicBezTo>
                <a:cubicBezTo>
                  <a:pt x="17752" y="69"/>
                  <a:pt x="17754" y="81"/>
                  <a:pt x="17754" y="93"/>
                </a:cubicBezTo>
                <a:lnTo>
                  <a:pt x="17754" y="12953"/>
                </a:lnTo>
                <a:cubicBezTo>
                  <a:pt x="17754" y="12965"/>
                  <a:pt x="17752" y="12977"/>
                  <a:pt x="17747" y="12988"/>
                </a:cubicBezTo>
                <a:cubicBezTo>
                  <a:pt x="17742" y="13000"/>
                  <a:pt x="17736" y="13010"/>
                  <a:pt x="17727" y="13018"/>
                </a:cubicBezTo>
                <a:cubicBezTo>
                  <a:pt x="17718" y="13027"/>
                  <a:pt x="17708" y="13034"/>
                  <a:pt x="17697" y="13038"/>
                </a:cubicBezTo>
                <a:cubicBezTo>
                  <a:pt x="17686" y="13043"/>
                  <a:pt x="17674" y="13045"/>
                  <a:pt x="17662" y="13045"/>
                </a:cubicBezTo>
                <a:lnTo>
                  <a:pt x="92" y="13045"/>
                </a:lnTo>
                <a:cubicBezTo>
                  <a:pt x="80" y="13045"/>
                  <a:pt x="68" y="13043"/>
                  <a:pt x="57" y="13038"/>
                </a:cubicBezTo>
                <a:cubicBezTo>
                  <a:pt x="45" y="13034"/>
                  <a:pt x="35" y="13027"/>
                  <a:pt x="27" y="13018"/>
                </a:cubicBezTo>
                <a:cubicBezTo>
                  <a:pt x="18" y="13010"/>
                  <a:pt x="11" y="13000"/>
                  <a:pt x="7" y="12988"/>
                </a:cubicBezTo>
                <a:cubicBezTo>
                  <a:pt x="2" y="12977"/>
                  <a:pt x="0" y="12965"/>
                  <a:pt x="0" y="12953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ZoneTexte 242"/>
          <p:cNvSpPr txBox="1"/>
          <p:nvPr/>
        </p:nvSpPr>
        <p:spPr>
          <a:xfrm>
            <a:off x="285840" y="5422680"/>
            <a:ext cx="23072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A5565"/>
                </a:solidFill>
                <a:effectLst/>
                <a:uFillTx/>
                <a:latin typeface="DejaVuSans"/>
                <a:ea typeface="DejaVuSans"/>
              </a:rPr>
              <a:t>signiﬁcative mais moindre.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Forme libre : forme 243"/>
          <p:cNvSpPr/>
          <p:nvPr/>
        </p:nvSpPr>
        <p:spPr>
          <a:xfrm>
            <a:off x="285480" y="6257880"/>
            <a:ext cx="11620800" cy="9720"/>
          </a:xfrm>
          <a:custGeom>
            <a:avLst/>
            <a:gdLst/>
            <a:ahLst/>
            <a:cxnLst/>
            <a:rect l="0" t="0" r="r" b="b"/>
            <a:pathLst>
              <a:path w="32280" h="27">
                <a:moveTo>
                  <a:pt x="0" y="0"/>
                </a:moveTo>
                <a:lnTo>
                  <a:pt x="32280" y="0"/>
                </a:lnTo>
                <a:lnTo>
                  <a:pt x="322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ZoneTexte 244"/>
          <p:cNvSpPr txBox="1"/>
          <p:nvPr/>
        </p:nvSpPr>
        <p:spPr>
          <a:xfrm>
            <a:off x="7515000" y="1352520"/>
            <a:ext cx="2291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101828"/>
                </a:solidFill>
                <a:effectLst/>
                <a:uFillTx/>
                <a:latin typeface="DejaVuSans"/>
                <a:ea typeface="DejaVuSans"/>
              </a:rPr>
              <a:t>IMPACT DES COEFFICIENTS (Β)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ZoneTexte 245"/>
          <p:cNvSpPr txBox="1"/>
          <p:nvPr/>
        </p:nvSpPr>
        <p:spPr>
          <a:xfrm>
            <a:off x="285840" y="6428160"/>
            <a:ext cx="29228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99A1AF"/>
                </a:solidFill>
                <a:effectLst/>
                <a:uFillTx/>
                <a:latin typeface="DejaVuSans"/>
                <a:ea typeface="DejaVuSans"/>
              </a:rPr>
              <a:t>Mini-Projet Machine Learning | M1 IA | Janvier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47" name="Image 246"/>
          <p:cNvPicPr/>
          <p:nvPr/>
        </p:nvPicPr>
        <p:blipFill>
          <a:blip r:embed="rId2"/>
          <a:stretch/>
        </p:blipFill>
        <p:spPr>
          <a:xfrm>
            <a:off x="5743440" y="1752480"/>
            <a:ext cx="5924160" cy="380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ZoneTexte 247"/>
          <p:cNvSpPr txBox="1"/>
          <p:nvPr/>
        </p:nvSpPr>
        <p:spPr>
          <a:xfrm>
            <a:off x="11760840" y="6428160"/>
            <a:ext cx="1461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99A1AF"/>
                </a:solidFill>
                <a:effectLst/>
                <a:uFillTx/>
                <a:latin typeface="DejaVuSans"/>
                <a:ea typeface="DejaVuSans"/>
              </a:rPr>
              <a:t>08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Forme libre : forme 24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Forme libre : forme 24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Forme libre : forme 250"/>
          <p:cNvSpPr/>
          <p:nvPr/>
        </p:nvSpPr>
        <p:spPr>
          <a:xfrm>
            <a:off x="285480" y="628560"/>
            <a:ext cx="11620800" cy="9720"/>
          </a:xfrm>
          <a:custGeom>
            <a:avLst/>
            <a:gdLst/>
            <a:ahLst/>
            <a:cxnLst/>
            <a:rect l="0" t="0" r="r" b="b"/>
            <a:pathLst>
              <a:path w="32280" h="27">
                <a:moveTo>
                  <a:pt x="0" y="0"/>
                </a:moveTo>
                <a:lnTo>
                  <a:pt x="32280" y="0"/>
                </a:lnTo>
                <a:lnTo>
                  <a:pt x="322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ZoneTexte 251"/>
          <p:cNvSpPr txBox="1"/>
          <p:nvPr/>
        </p:nvSpPr>
        <p:spPr>
          <a:xfrm>
            <a:off x="285840" y="317160"/>
            <a:ext cx="864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1" u="none" strike="noStrike">
                <a:solidFill>
                  <a:srgbClr val="101828"/>
                </a:solidFill>
                <a:effectLst/>
                <a:uFillTx/>
                <a:latin typeface="DejaVuSans"/>
                <a:ea typeface="DejaVuSans"/>
              </a:rPr>
              <a:t>PARTIE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ZoneTexte 252"/>
          <p:cNvSpPr txBox="1"/>
          <p:nvPr/>
        </p:nvSpPr>
        <p:spPr>
          <a:xfrm>
            <a:off x="9866880" y="343080"/>
            <a:ext cx="20282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101828"/>
                </a:solidFill>
                <a:effectLst/>
                <a:uFillTx/>
                <a:latin typeface="DejaVuSans"/>
                <a:ea typeface="DejaVuSans"/>
              </a:rPr>
              <a:t>Régression logistique (Iris)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Forme libre : forme 253"/>
          <p:cNvSpPr/>
          <p:nvPr/>
        </p:nvSpPr>
        <p:spPr>
          <a:xfrm>
            <a:off x="857160" y="265716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1271" y="635"/>
                </a:moveTo>
                <a:cubicBezTo>
                  <a:pt x="1271" y="656"/>
                  <a:pt x="1270" y="677"/>
                  <a:pt x="1268" y="698"/>
                </a:cubicBezTo>
                <a:cubicBezTo>
                  <a:pt x="1266" y="718"/>
                  <a:pt x="1263" y="739"/>
                  <a:pt x="1259" y="759"/>
                </a:cubicBezTo>
                <a:cubicBezTo>
                  <a:pt x="1254" y="780"/>
                  <a:pt x="1249" y="800"/>
                  <a:pt x="1243" y="820"/>
                </a:cubicBezTo>
                <a:cubicBezTo>
                  <a:pt x="1237" y="840"/>
                  <a:pt x="1230" y="859"/>
                  <a:pt x="1222" y="879"/>
                </a:cubicBezTo>
                <a:cubicBezTo>
                  <a:pt x="1214" y="899"/>
                  <a:pt x="1206" y="917"/>
                  <a:pt x="1196" y="936"/>
                </a:cubicBezTo>
                <a:cubicBezTo>
                  <a:pt x="1186" y="954"/>
                  <a:pt x="1175" y="972"/>
                  <a:pt x="1164" y="989"/>
                </a:cubicBezTo>
                <a:cubicBezTo>
                  <a:pt x="1152" y="1006"/>
                  <a:pt x="1140" y="1023"/>
                  <a:pt x="1127" y="1039"/>
                </a:cubicBezTo>
                <a:cubicBezTo>
                  <a:pt x="1113" y="1055"/>
                  <a:pt x="1099" y="1071"/>
                  <a:pt x="1085" y="1085"/>
                </a:cubicBezTo>
                <a:cubicBezTo>
                  <a:pt x="1070" y="1100"/>
                  <a:pt x="1055" y="1114"/>
                  <a:pt x="1039" y="1127"/>
                </a:cubicBezTo>
                <a:cubicBezTo>
                  <a:pt x="1023" y="1140"/>
                  <a:pt x="1006" y="1153"/>
                  <a:pt x="989" y="1164"/>
                </a:cubicBezTo>
                <a:cubicBezTo>
                  <a:pt x="971" y="1176"/>
                  <a:pt x="953" y="1187"/>
                  <a:pt x="935" y="1196"/>
                </a:cubicBezTo>
                <a:cubicBezTo>
                  <a:pt x="917" y="1206"/>
                  <a:pt x="898" y="1215"/>
                  <a:pt x="879" y="1223"/>
                </a:cubicBezTo>
                <a:cubicBezTo>
                  <a:pt x="860" y="1231"/>
                  <a:pt x="840" y="1238"/>
                  <a:pt x="820" y="1244"/>
                </a:cubicBezTo>
                <a:cubicBezTo>
                  <a:pt x="800" y="1250"/>
                  <a:pt x="779" y="1255"/>
                  <a:pt x="759" y="1259"/>
                </a:cubicBezTo>
                <a:cubicBezTo>
                  <a:pt x="738" y="1263"/>
                  <a:pt x="718" y="1266"/>
                  <a:pt x="697" y="1268"/>
                </a:cubicBezTo>
                <a:cubicBezTo>
                  <a:pt x="676" y="1270"/>
                  <a:pt x="656" y="1271"/>
                  <a:pt x="635" y="1271"/>
                </a:cubicBezTo>
                <a:cubicBezTo>
                  <a:pt x="614" y="1271"/>
                  <a:pt x="593" y="1270"/>
                  <a:pt x="573" y="1268"/>
                </a:cubicBezTo>
                <a:cubicBezTo>
                  <a:pt x="552" y="1266"/>
                  <a:pt x="531" y="1263"/>
                  <a:pt x="511" y="1259"/>
                </a:cubicBezTo>
                <a:cubicBezTo>
                  <a:pt x="490" y="1255"/>
                  <a:pt x="470" y="1250"/>
                  <a:pt x="450" y="1244"/>
                </a:cubicBezTo>
                <a:cubicBezTo>
                  <a:pt x="431" y="1238"/>
                  <a:pt x="411" y="1231"/>
                  <a:pt x="392" y="1223"/>
                </a:cubicBezTo>
                <a:cubicBezTo>
                  <a:pt x="373" y="1215"/>
                  <a:pt x="354" y="1206"/>
                  <a:pt x="335" y="1196"/>
                </a:cubicBezTo>
                <a:cubicBezTo>
                  <a:pt x="317" y="1187"/>
                  <a:pt x="299" y="1176"/>
                  <a:pt x="282" y="1164"/>
                </a:cubicBezTo>
                <a:cubicBezTo>
                  <a:pt x="265" y="1153"/>
                  <a:pt x="248" y="1140"/>
                  <a:pt x="232" y="1127"/>
                </a:cubicBezTo>
                <a:cubicBezTo>
                  <a:pt x="216" y="1114"/>
                  <a:pt x="200" y="1100"/>
                  <a:pt x="186" y="1085"/>
                </a:cubicBezTo>
                <a:cubicBezTo>
                  <a:pt x="171" y="1071"/>
                  <a:pt x="157" y="1055"/>
                  <a:pt x="144" y="1039"/>
                </a:cubicBezTo>
                <a:cubicBezTo>
                  <a:pt x="131" y="1023"/>
                  <a:pt x="118" y="1006"/>
                  <a:pt x="107" y="989"/>
                </a:cubicBezTo>
                <a:cubicBezTo>
                  <a:pt x="95" y="972"/>
                  <a:pt x="85" y="954"/>
                  <a:pt x="75" y="936"/>
                </a:cubicBezTo>
                <a:cubicBezTo>
                  <a:pt x="65" y="917"/>
                  <a:pt x="56" y="899"/>
                  <a:pt x="48" y="879"/>
                </a:cubicBezTo>
                <a:cubicBezTo>
                  <a:pt x="40" y="859"/>
                  <a:pt x="33" y="840"/>
                  <a:pt x="27" y="820"/>
                </a:cubicBezTo>
                <a:cubicBezTo>
                  <a:pt x="21" y="800"/>
                  <a:pt x="16" y="780"/>
                  <a:pt x="12" y="759"/>
                </a:cubicBezTo>
                <a:cubicBezTo>
                  <a:pt x="8" y="739"/>
                  <a:pt x="5" y="718"/>
                  <a:pt x="3" y="698"/>
                </a:cubicBezTo>
                <a:cubicBezTo>
                  <a:pt x="1" y="677"/>
                  <a:pt x="0" y="656"/>
                  <a:pt x="0" y="635"/>
                </a:cubicBezTo>
                <a:cubicBezTo>
                  <a:pt x="0" y="615"/>
                  <a:pt x="1" y="594"/>
                  <a:pt x="3" y="573"/>
                </a:cubicBezTo>
                <a:cubicBezTo>
                  <a:pt x="5" y="552"/>
                  <a:pt x="8" y="532"/>
                  <a:pt x="12" y="511"/>
                </a:cubicBezTo>
                <a:cubicBezTo>
                  <a:pt x="16" y="491"/>
                  <a:pt x="21" y="471"/>
                  <a:pt x="27" y="451"/>
                </a:cubicBezTo>
                <a:cubicBezTo>
                  <a:pt x="33" y="431"/>
                  <a:pt x="40" y="412"/>
                  <a:pt x="48" y="392"/>
                </a:cubicBezTo>
                <a:cubicBezTo>
                  <a:pt x="56" y="373"/>
                  <a:pt x="65" y="354"/>
                  <a:pt x="75" y="336"/>
                </a:cubicBezTo>
                <a:cubicBezTo>
                  <a:pt x="85" y="318"/>
                  <a:pt x="95" y="300"/>
                  <a:pt x="107" y="283"/>
                </a:cubicBezTo>
                <a:cubicBezTo>
                  <a:pt x="118" y="265"/>
                  <a:pt x="131" y="249"/>
                  <a:pt x="144" y="233"/>
                </a:cubicBezTo>
                <a:cubicBezTo>
                  <a:pt x="157" y="216"/>
                  <a:pt x="171" y="201"/>
                  <a:pt x="186" y="186"/>
                </a:cubicBezTo>
                <a:cubicBezTo>
                  <a:pt x="200" y="172"/>
                  <a:pt x="216" y="158"/>
                  <a:pt x="232" y="145"/>
                </a:cubicBezTo>
                <a:cubicBezTo>
                  <a:pt x="248" y="131"/>
                  <a:pt x="265" y="119"/>
                  <a:pt x="282" y="107"/>
                </a:cubicBezTo>
                <a:cubicBezTo>
                  <a:pt x="299" y="96"/>
                  <a:pt x="317" y="85"/>
                  <a:pt x="335" y="75"/>
                </a:cubicBezTo>
                <a:cubicBezTo>
                  <a:pt x="354" y="66"/>
                  <a:pt x="373" y="57"/>
                  <a:pt x="392" y="49"/>
                </a:cubicBezTo>
                <a:cubicBezTo>
                  <a:pt x="411" y="41"/>
                  <a:pt x="431" y="34"/>
                  <a:pt x="450" y="28"/>
                </a:cubicBezTo>
                <a:cubicBezTo>
                  <a:pt x="470" y="22"/>
                  <a:pt x="490" y="17"/>
                  <a:pt x="511" y="13"/>
                </a:cubicBezTo>
                <a:cubicBezTo>
                  <a:pt x="531" y="9"/>
                  <a:pt x="552" y="5"/>
                  <a:pt x="573" y="3"/>
                </a:cubicBezTo>
                <a:cubicBezTo>
                  <a:pt x="593" y="1"/>
                  <a:pt x="614" y="0"/>
                  <a:pt x="635" y="0"/>
                </a:cubicBezTo>
                <a:cubicBezTo>
                  <a:pt x="656" y="0"/>
                  <a:pt x="676" y="1"/>
                  <a:pt x="697" y="3"/>
                </a:cubicBezTo>
                <a:cubicBezTo>
                  <a:pt x="718" y="5"/>
                  <a:pt x="738" y="9"/>
                  <a:pt x="759" y="13"/>
                </a:cubicBezTo>
                <a:cubicBezTo>
                  <a:pt x="779" y="17"/>
                  <a:pt x="800" y="22"/>
                  <a:pt x="820" y="28"/>
                </a:cubicBezTo>
                <a:cubicBezTo>
                  <a:pt x="840" y="34"/>
                  <a:pt x="860" y="41"/>
                  <a:pt x="879" y="49"/>
                </a:cubicBezTo>
                <a:cubicBezTo>
                  <a:pt x="898" y="57"/>
                  <a:pt x="917" y="66"/>
                  <a:pt x="935" y="75"/>
                </a:cubicBezTo>
                <a:cubicBezTo>
                  <a:pt x="953" y="85"/>
                  <a:pt x="971" y="96"/>
                  <a:pt x="989" y="107"/>
                </a:cubicBezTo>
                <a:cubicBezTo>
                  <a:pt x="1006" y="119"/>
                  <a:pt x="1023" y="131"/>
                  <a:pt x="1039" y="145"/>
                </a:cubicBezTo>
                <a:cubicBezTo>
                  <a:pt x="1055" y="158"/>
                  <a:pt x="1070" y="172"/>
                  <a:pt x="1085" y="186"/>
                </a:cubicBezTo>
                <a:cubicBezTo>
                  <a:pt x="1099" y="201"/>
                  <a:pt x="1113" y="216"/>
                  <a:pt x="1127" y="233"/>
                </a:cubicBezTo>
                <a:cubicBezTo>
                  <a:pt x="1140" y="249"/>
                  <a:pt x="1152" y="265"/>
                  <a:pt x="1164" y="283"/>
                </a:cubicBezTo>
                <a:cubicBezTo>
                  <a:pt x="1175" y="300"/>
                  <a:pt x="1186" y="318"/>
                  <a:pt x="1196" y="336"/>
                </a:cubicBezTo>
                <a:cubicBezTo>
                  <a:pt x="1206" y="354"/>
                  <a:pt x="1214" y="373"/>
                  <a:pt x="1222" y="392"/>
                </a:cubicBezTo>
                <a:cubicBezTo>
                  <a:pt x="1230" y="412"/>
                  <a:pt x="1237" y="431"/>
                  <a:pt x="1243" y="451"/>
                </a:cubicBezTo>
                <a:cubicBezTo>
                  <a:pt x="1249" y="471"/>
                  <a:pt x="1254" y="491"/>
                  <a:pt x="1259" y="511"/>
                </a:cubicBezTo>
                <a:cubicBezTo>
                  <a:pt x="1263" y="532"/>
                  <a:pt x="1266" y="552"/>
                  <a:pt x="1268" y="573"/>
                </a:cubicBezTo>
                <a:cubicBezTo>
                  <a:pt x="1270" y="594"/>
                  <a:pt x="1271" y="615"/>
                  <a:pt x="1271" y="635"/>
                </a:cubicBezTo>
                <a:close/>
              </a:path>
            </a:pathLst>
          </a:custGeom>
          <a:solidFill>
            <a:srgbClr val="E3EC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ZoneTexte 254"/>
          <p:cNvSpPr txBox="1"/>
          <p:nvPr/>
        </p:nvSpPr>
        <p:spPr>
          <a:xfrm>
            <a:off x="857160" y="1751400"/>
            <a:ext cx="4446360" cy="46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200" b="0" u="none" strike="noStrike">
                <a:solidFill>
                  <a:srgbClr val="101828"/>
                </a:solidFill>
                <a:effectLst/>
                <a:uFillTx/>
                <a:latin typeface="Georgia"/>
                <a:ea typeface="Georgia"/>
              </a:rPr>
              <a:t>Préparation des données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ZoneTexte 255"/>
          <p:cNvSpPr txBox="1"/>
          <p:nvPr/>
        </p:nvSpPr>
        <p:spPr>
          <a:xfrm>
            <a:off x="1002600" y="2786040"/>
            <a:ext cx="19008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002FA7"/>
                </a:solidFill>
                <a:effectLst/>
                <a:uFillTx/>
                <a:latin typeface="FontAwesome6Free-Solid"/>
                <a:ea typeface="FontAwesome6Free-Solid"/>
              </a:rPr>
              <a:t>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ZoneTexte 256"/>
          <p:cNvSpPr txBox="1"/>
          <p:nvPr/>
        </p:nvSpPr>
        <p:spPr>
          <a:xfrm>
            <a:off x="1504800" y="2650680"/>
            <a:ext cx="7534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1" u="none" strike="noStrike">
                <a:solidFill>
                  <a:srgbClr val="101828"/>
                </a:solidFill>
                <a:effectLst/>
                <a:uFillTx/>
                <a:latin typeface="DejaVuSans"/>
                <a:ea typeface="DejaVuSans"/>
              </a:rPr>
              <a:t>Dataset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Forme libre : forme 257"/>
          <p:cNvSpPr/>
          <p:nvPr/>
        </p:nvSpPr>
        <p:spPr>
          <a:xfrm>
            <a:off x="857160" y="351468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1271" y="635"/>
                </a:moveTo>
                <a:cubicBezTo>
                  <a:pt x="1271" y="655"/>
                  <a:pt x="1270" y="676"/>
                  <a:pt x="1268" y="697"/>
                </a:cubicBezTo>
                <a:cubicBezTo>
                  <a:pt x="1266" y="718"/>
                  <a:pt x="1263" y="738"/>
                  <a:pt x="1259" y="759"/>
                </a:cubicBezTo>
                <a:cubicBezTo>
                  <a:pt x="1254" y="779"/>
                  <a:pt x="1249" y="799"/>
                  <a:pt x="1243" y="819"/>
                </a:cubicBezTo>
                <a:cubicBezTo>
                  <a:pt x="1237" y="839"/>
                  <a:pt x="1230" y="858"/>
                  <a:pt x="1222" y="878"/>
                </a:cubicBezTo>
                <a:cubicBezTo>
                  <a:pt x="1214" y="897"/>
                  <a:pt x="1206" y="916"/>
                  <a:pt x="1196" y="934"/>
                </a:cubicBezTo>
                <a:cubicBezTo>
                  <a:pt x="1186" y="952"/>
                  <a:pt x="1175" y="970"/>
                  <a:pt x="1164" y="987"/>
                </a:cubicBezTo>
                <a:cubicBezTo>
                  <a:pt x="1152" y="1005"/>
                  <a:pt x="1140" y="1021"/>
                  <a:pt x="1127" y="1038"/>
                </a:cubicBezTo>
                <a:cubicBezTo>
                  <a:pt x="1113" y="1055"/>
                  <a:pt x="1099" y="1070"/>
                  <a:pt x="1085" y="1085"/>
                </a:cubicBezTo>
                <a:cubicBezTo>
                  <a:pt x="1070" y="1099"/>
                  <a:pt x="1055" y="1113"/>
                  <a:pt x="1039" y="1126"/>
                </a:cubicBezTo>
                <a:cubicBezTo>
                  <a:pt x="1023" y="1140"/>
                  <a:pt x="1006" y="1152"/>
                  <a:pt x="989" y="1164"/>
                </a:cubicBezTo>
                <a:cubicBezTo>
                  <a:pt x="971" y="1175"/>
                  <a:pt x="953" y="1186"/>
                  <a:pt x="935" y="1196"/>
                </a:cubicBezTo>
                <a:cubicBezTo>
                  <a:pt x="917" y="1205"/>
                  <a:pt x="898" y="1214"/>
                  <a:pt x="879" y="1222"/>
                </a:cubicBezTo>
                <a:cubicBezTo>
                  <a:pt x="860" y="1230"/>
                  <a:pt x="840" y="1237"/>
                  <a:pt x="820" y="1243"/>
                </a:cubicBezTo>
                <a:cubicBezTo>
                  <a:pt x="800" y="1249"/>
                  <a:pt x="779" y="1254"/>
                  <a:pt x="759" y="1258"/>
                </a:cubicBezTo>
                <a:cubicBezTo>
                  <a:pt x="738" y="1262"/>
                  <a:pt x="718" y="1266"/>
                  <a:pt x="697" y="1268"/>
                </a:cubicBezTo>
                <a:cubicBezTo>
                  <a:pt x="676" y="1270"/>
                  <a:pt x="656" y="1271"/>
                  <a:pt x="635" y="1271"/>
                </a:cubicBezTo>
                <a:cubicBezTo>
                  <a:pt x="614" y="1271"/>
                  <a:pt x="593" y="1270"/>
                  <a:pt x="573" y="1268"/>
                </a:cubicBezTo>
                <a:cubicBezTo>
                  <a:pt x="552" y="1266"/>
                  <a:pt x="531" y="1262"/>
                  <a:pt x="511" y="1258"/>
                </a:cubicBezTo>
                <a:cubicBezTo>
                  <a:pt x="490" y="1254"/>
                  <a:pt x="470" y="1249"/>
                  <a:pt x="450" y="1243"/>
                </a:cubicBezTo>
                <a:cubicBezTo>
                  <a:pt x="431" y="1237"/>
                  <a:pt x="411" y="1230"/>
                  <a:pt x="392" y="1222"/>
                </a:cubicBezTo>
                <a:cubicBezTo>
                  <a:pt x="373" y="1214"/>
                  <a:pt x="354" y="1205"/>
                  <a:pt x="335" y="1196"/>
                </a:cubicBezTo>
                <a:cubicBezTo>
                  <a:pt x="317" y="1186"/>
                  <a:pt x="299" y="1175"/>
                  <a:pt x="282" y="1164"/>
                </a:cubicBezTo>
                <a:cubicBezTo>
                  <a:pt x="265" y="1152"/>
                  <a:pt x="248" y="1140"/>
                  <a:pt x="232" y="1126"/>
                </a:cubicBezTo>
                <a:cubicBezTo>
                  <a:pt x="216" y="1113"/>
                  <a:pt x="200" y="1099"/>
                  <a:pt x="186" y="1085"/>
                </a:cubicBezTo>
                <a:cubicBezTo>
                  <a:pt x="171" y="1070"/>
                  <a:pt x="157" y="1055"/>
                  <a:pt x="144" y="1038"/>
                </a:cubicBezTo>
                <a:cubicBezTo>
                  <a:pt x="131" y="1021"/>
                  <a:pt x="118" y="1005"/>
                  <a:pt x="107" y="987"/>
                </a:cubicBezTo>
                <a:cubicBezTo>
                  <a:pt x="95" y="970"/>
                  <a:pt x="85" y="952"/>
                  <a:pt x="75" y="934"/>
                </a:cubicBezTo>
                <a:cubicBezTo>
                  <a:pt x="65" y="916"/>
                  <a:pt x="56" y="897"/>
                  <a:pt x="48" y="878"/>
                </a:cubicBezTo>
                <a:cubicBezTo>
                  <a:pt x="40" y="858"/>
                  <a:pt x="33" y="839"/>
                  <a:pt x="27" y="819"/>
                </a:cubicBezTo>
                <a:cubicBezTo>
                  <a:pt x="21" y="799"/>
                  <a:pt x="16" y="779"/>
                  <a:pt x="12" y="759"/>
                </a:cubicBezTo>
                <a:cubicBezTo>
                  <a:pt x="8" y="738"/>
                  <a:pt x="5" y="718"/>
                  <a:pt x="3" y="697"/>
                </a:cubicBezTo>
                <a:cubicBezTo>
                  <a:pt x="1" y="676"/>
                  <a:pt x="0" y="655"/>
                  <a:pt x="0" y="635"/>
                </a:cubicBezTo>
                <a:cubicBezTo>
                  <a:pt x="0" y="614"/>
                  <a:pt x="1" y="593"/>
                  <a:pt x="3" y="572"/>
                </a:cubicBezTo>
                <a:cubicBezTo>
                  <a:pt x="5" y="552"/>
                  <a:pt x="8" y="531"/>
                  <a:pt x="12" y="511"/>
                </a:cubicBezTo>
                <a:cubicBezTo>
                  <a:pt x="16" y="490"/>
                  <a:pt x="21" y="470"/>
                  <a:pt x="27" y="450"/>
                </a:cubicBezTo>
                <a:cubicBezTo>
                  <a:pt x="33" y="430"/>
                  <a:pt x="40" y="411"/>
                  <a:pt x="48" y="392"/>
                </a:cubicBezTo>
                <a:cubicBezTo>
                  <a:pt x="56" y="372"/>
                  <a:pt x="65" y="354"/>
                  <a:pt x="75" y="335"/>
                </a:cubicBezTo>
                <a:cubicBezTo>
                  <a:pt x="85" y="317"/>
                  <a:pt x="95" y="299"/>
                  <a:pt x="107" y="282"/>
                </a:cubicBezTo>
                <a:cubicBezTo>
                  <a:pt x="118" y="265"/>
                  <a:pt x="131" y="248"/>
                  <a:pt x="144" y="232"/>
                </a:cubicBezTo>
                <a:cubicBezTo>
                  <a:pt x="157" y="216"/>
                  <a:pt x="171" y="200"/>
                  <a:pt x="186" y="186"/>
                </a:cubicBezTo>
                <a:cubicBezTo>
                  <a:pt x="200" y="171"/>
                  <a:pt x="216" y="157"/>
                  <a:pt x="232" y="144"/>
                </a:cubicBezTo>
                <a:cubicBezTo>
                  <a:pt x="248" y="131"/>
                  <a:pt x="265" y="118"/>
                  <a:pt x="282" y="107"/>
                </a:cubicBezTo>
                <a:cubicBezTo>
                  <a:pt x="299" y="95"/>
                  <a:pt x="317" y="84"/>
                  <a:pt x="335" y="75"/>
                </a:cubicBezTo>
                <a:cubicBezTo>
                  <a:pt x="354" y="65"/>
                  <a:pt x="373" y="56"/>
                  <a:pt x="392" y="48"/>
                </a:cubicBezTo>
                <a:cubicBezTo>
                  <a:pt x="411" y="40"/>
                  <a:pt x="431" y="33"/>
                  <a:pt x="450" y="27"/>
                </a:cubicBezTo>
                <a:cubicBezTo>
                  <a:pt x="470" y="21"/>
                  <a:pt x="490" y="16"/>
                  <a:pt x="511" y="12"/>
                </a:cubicBezTo>
                <a:cubicBezTo>
                  <a:pt x="531" y="8"/>
                  <a:pt x="552" y="5"/>
                  <a:pt x="573" y="3"/>
                </a:cubicBezTo>
                <a:cubicBezTo>
                  <a:pt x="593" y="1"/>
                  <a:pt x="614" y="0"/>
                  <a:pt x="635" y="0"/>
                </a:cubicBezTo>
                <a:cubicBezTo>
                  <a:pt x="656" y="0"/>
                  <a:pt x="676" y="1"/>
                  <a:pt x="697" y="3"/>
                </a:cubicBezTo>
                <a:cubicBezTo>
                  <a:pt x="718" y="5"/>
                  <a:pt x="738" y="8"/>
                  <a:pt x="759" y="12"/>
                </a:cubicBezTo>
                <a:cubicBezTo>
                  <a:pt x="779" y="16"/>
                  <a:pt x="800" y="21"/>
                  <a:pt x="820" y="27"/>
                </a:cubicBezTo>
                <a:cubicBezTo>
                  <a:pt x="840" y="33"/>
                  <a:pt x="860" y="40"/>
                  <a:pt x="879" y="48"/>
                </a:cubicBezTo>
                <a:cubicBezTo>
                  <a:pt x="898" y="56"/>
                  <a:pt x="917" y="65"/>
                  <a:pt x="935" y="75"/>
                </a:cubicBezTo>
                <a:cubicBezTo>
                  <a:pt x="953" y="84"/>
                  <a:pt x="971" y="95"/>
                  <a:pt x="989" y="107"/>
                </a:cubicBezTo>
                <a:cubicBezTo>
                  <a:pt x="1006" y="118"/>
                  <a:pt x="1023" y="131"/>
                  <a:pt x="1039" y="144"/>
                </a:cubicBezTo>
                <a:cubicBezTo>
                  <a:pt x="1055" y="157"/>
                  <a:pt x="1070" y="171"/>
                  <a:pt x="1085" y="186"/>
                </a:cubicBezTo>
                <a:cubicBezTo>
                  <a:pt x="1099" y="200"/>
                  <a:pt x="1113" y="216"/>
                  <a:pt x="1127" y="232"/>
                </a:cubicBezTo>
                <a:cubicBezTo>
                  <a:pt x="1140" y="248"/>
                  <a:pt x="1152" y="265"/>
                  <a:pt x="1164" y="282"/>
                </a:cubicBezTo>
                <a:cubicBezTo>
                  <a:pt x="1175" y="299"/>
                  <a:pt x="1186" y="317"/>
                  <a:pt x="1196" y="335"/>
                </a:cubicBezTo>
                <a:cubicBezTo>
                  <a:pt x="1206" y="354"/>
                  <a:pt x="1214" y="372"/>
                  <a:pt x="1222" y="392"/>
                </a:cubicBezTo>
                <a:cubicBezTo>
                  <a:pt x="1230" y="411"/>
                  <a:pt x="1237" y="430"/>
                  <a:pt x="1243" y="450"/>
                </a:cubicBezTo>
                <a:cubicBezTo>
                  <a:pt x="1249" y="470"/>
                  <a:pt x="1254" y="490"/>
                  <a:pt x="1259" y="511"/>
                </a:cubicBezTo>
                <a:cubicBezTo>
                  <a:pt x="1263" y="531"/>
                  <a:pt x="1266" y="552"/>
                  <a:pt x="1268" y="572"/>
                </a:cubicBezTo>
                <a:cubicBezTo>
                  <a:pt x="1270" y="593"/>
                  <a:pt x="1271" y="614"/>
                  <a:pt x="1271" y="635"/>
                </a:cubicBezTo>
                <a:close/>
              </a:path>
            </a:pathLst>
          </a:custGeom>
          <a:solidFill>
            <a:srgbClr val="E3EC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ZoneTexte 258"/>
          <p:cNvSpPr txBox="1"/>
          <p:nvPr/>
        </p:nvSpPr>
        <p:spPr>
          <a:xfrm>
            <a:off x="1504800" y="2954160"/>
            <a:ext cx="38822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4A5565"/>
                </a:solidFill>
                <a:effectLst/>
                <a:uFillTx/>
                <a:latin typeface="DejaVuSans"/>
                <a:ea typeface="DejaVuSans"/>
              </a:rPr>
              <a:t>Utilisation du dataset </a:t>
            </a:r>
            <a:r>
              <a:rPr lang="en-US" sz="1200" b="1" u="none" strike="noStrike">
                <a:solidFill>
                  <a:srgbClr val="4A5565"/>
                </a:solidFill>
                <a:effectLst/>
                <a:uFillTx/>
                <a:latin typeface="DejaVuSans"/>
                <a:ea typeface="DejaVuSans"/>
              </a:rPr>
              <a:t>Iris </a:t>
            </a:r>
            <a:r>
              <a:rPr lang="en-US" sz="1200" b="0" u="none" strike="noStrike">
                <a:solidFill>
                  <a:srgbClr val="4A5565"/>
                </a:solidFill>
                <a:effectLst/>
                <a:uFillTx/>
                <a:latin typeface="DejaVuSans"/>
                <a:ea typeface="DejaVuSans"/>
              </a:rPr>
              <a:t>(natif dans Scikit-Learn).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ZoneTexte 259"/>
          <p:cNvSpPr txBox="1"/>
          <p:nvPr/>
        </p:nvSpPr>
        <p:spPr>
          <a:xfrm>
            <a:off x="990720" y="3643200"/>
            <a:ext cx="19116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002FA7"/>
                </a:solidFill>
                <a:effectLst/>
                <a:uFillTx/>
                <a:latin typeface="FontAwesome6Free-Solid"/>
                <a:ea typeface="FontAwesome6Free-Solid"/>
              </a:rPr>
              <a:t>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ZoneTexte 260"/>
          <p:cNvSpPr txBox="1"/>
          <p:nvPr/>
        </p:nvSpPr>
        <p:spPr>
          <a:xfrm>
            <a:off x="1504800" y="3507840"/>
            <a:ext cx="11707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1" u="none" strike="noStrike">
                <a:solidFill>
                  <a:srgbClr val="101828"/>
                </a:solidFill>
                <a:effectLst/>
                <a:uFillTx/>
                <a:latin typeface="DejaVuSans"/>
                <a:ea typeface="DejaVuSans"/>
              </a:rPr>
              <a:t>Formulation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ZoneTexte 261"/>
          <p:cNvSpPr txBox="1"/>
          <p:nvPr/>
        </p:nvSpPr>
        <p:spPr>
          <a:xfrm>
            <a:off x="1504800" y="3811320"/>
            <a:ext cx="28602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4A5565"/>
                </a:solidFill>
                <a:effectLst/>
                <a:uFillTx/>
                <a:latin typeface="DejaVuSans"/>
                <a:ea typeface="DejaVuSans"/>
              </a:rPr>
              <a:t>Transformation en problème binaire 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Forme libre : forme 262"/>
          <p:cNvSpPr/>
          <p:nvPr/>
        </p:nvSpPr>
        <p:spPr>
          <a:xfrm>
            <a:off x="857160" y="461952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1271" y="636"/>
                </a:moveTo>
                <a:cubicBezTo>
                  <a:pt x="1271" y="657"/>
                  <a:pt x="1270" y="677"/>
                  <a:pt x="1268" y="698"/>
                </a:cubicBezTo>
                <a:cubicBezTo>
                  <a:pt x="1266" y="719"/>
                  <a:pt x="1263" y="739"/>
                  <a:pt x="1259" y="760"/>
                </a:cubicBezTo>
                <a:cubicBezTo>
                  <a:pt x="1254" y="780"/>
                  <a:pt x="1249" y="800"/>
                  <a:pt x="1243" y="820"/>
                </a:cubicBezTo>
                <a:cubicBezTo>
                  <a:pt x="1237" y="840"/>
                  <a:pt x="1230" y="860"/>
                  <a:pt x="1222" y="879"/>
                </a:cubicBezTo>
                <a:cubicBezTo>
                  <a:pt x="1214" y="898"/>
                  <a:pt x="1206" y="917"/>
                  <a:pt x="1196" y="935"/>
                </a:cubicBezTo>
                <a:cubicBezTo>
                  <a:pt x="1186" y="953"/>
                  <a:pt x="1175" y="971"/>
                  <a:pt x="1164" y="989"/>
                </a:cubicBezTo>
                <a:cubicBezTo>
                  <a:pt x="1152" y="1006"/>
                  <a:pt x="1140" y="1023"/>
                  <a:pt x="1127" y="1039"/>
                </a:cubicBezTo>
                <a:cubicBezTo>
                  <a:pt x="1113" y="1055"/>
                  <a:pt x="1099" y="1070"/>
                  <a:pt x="1085" y="1085"/>
                </a:cubicBezTo>
                <a:cubicBezTo>
                  <a:pt x="1070" y="1100"/>
                  <a:pt x="1055" y="1113"/>
                  <a:pt x="1039" y="1127"/>
                </a:cubicBezTo>
                <a:cubicBezTo>
                  <a:pt x="1023" y="1140"/>
                  <a:pt x="1006" y="1152"/>
                  <a:pt x="989" y="1164"/>
                </a:cubicBezTo>
                <a:cubicBezTo>
                  <a:pt x="971" y="1175"/>
                  <a:pt x="953" y="1186"/>
                  <a:pt x="935" y="1196"/>
                </a:cubicBezTo>
                <a:cubicBezTo>
                  <a:pt x="917" y="1206"/>
                  <a:pt x="898" y="1214"/>
                  <a:pt x="879" y="1222"/>
                </a:cubicBezTo>
                <a:cubicBezTo>
                  <a:pt x="860" y="1230"/>
                  <a:pt x="840" y="1237"/>
                  <a:pt x="820" y="1243"/>
                </a:cubicBezTo>
                <a:cubicBezTo>
                  <a:pt x="800" y="1249"/>
                  <a:pt x="779" y="1255"/>
                  <a:pt x="759" y="1259"/>
                </a:cubicBezTo>
                <a:cubicBezTo>
                  <a:pt x="738" y="1263"/>
                  <a:pt x="718" y="1266"/>
                  <a:pt x="697" y="1268"/>
                </a:cubicBezTo>
                <a:cubicBezTo>
                  <a:pt x="676" y="1270"/>
                  <a:pt x="656" y="1271"/>
                  <a:pt x="635" y="1271"/>
                </a:cubicBezTo>
                <a:cubicBezTo>
                  <a:pt x="614" y="1271"/>
                  <a:pt x="593" y="1270"/>
                  <a:pt x="573" y="1268"/>
                </a:cubicBezTo>
                <a:cubicBezTo>
                  <a:pt x="552" y="1266"/>
                  <a:pt x="531" y="1263"/>
                  <a:pt x="511" y="1259"/>
                </a:cubicBezTo>
                <a:cubicBezTo>
                  <a:pt x="490" y="1255"/>
                  <a:pt x="470" y="1249"/>
                  <a:pt x="450" y="1243"/>
                </a:cubicBezTo>
                <a:cubicBezTo>
                  <a:pt x="431" y="1237"/>
                  <a:pt x="411" y="1230"/>
                  <a:pt x="392" y="1222"/>
                </a:cubicBezTo>
                <a:cubicBezTo>
                  <a:pt x="373" y="1214"/>
                  <a:pt x="354" y="1206"/>
                  <a:pt x="335" y="1196"/>
                </a:cubicBezTo>
                <a:cubicBezTo>
                  <a:pt x="317" y="1186"/>
                  <a:pt x="299" y="1175"/>
                  <a:pt x="282" y="1164"/>
                </a:cubicBezTo>
                <a:cubicBezTo>
                  <a:pt x="265" y="1152"/>
                  <a:pt x="248" y="1140"/>
                  <a:pt x="232" y="1127"/>
                </a:cubicBezTo>
                <a:cubicBezTo>
                  <a:pt x="216" y="1113"/>
                  <a:pt x="200" y="1100"/>
                  <a:pt x="186" y="1085"/>
                </a:cubicBezTo>
                <a:cubicBezTo>
                  <a:pt x="171" y="1070"/>
                  <a:pt x="157" y="1055"/>
                  <a:pt x="144" y="1039"/>
                </a:cubicBezTo>
                <a:cubicBezTo>
                  <a:pt x="131" y="1023"/>
                  <a:pt x="118" y="1006"/>
                  <a:pt x="107" y="989"/>
                </a:cubicBezTo>
                <a:cubicBezTo>
                  <a:pt x="95" y="971"/>
                  <a:pt x="85" y="953"/>
                  <a:pt x="75" y="935"/>
                </a:cubicBezTo>
                <a:cubicBezTo>
                  <a:pt x="65" y="917"/>
                  <a:pt x="56" y="898"/>
                  <a:pt x="48" y="879"/>
                </a:cubicBezTo>
                <a:cubicBezTo>
                  <a:pt x="40" y="860"/>
                  <a:pt x="33" y="840"/>
                  <a:pt x="27" y="820"/>
                </a:cubicBezTo>
                <a:cubicBezTo>
                  <a:pt x="21" y="800"/>
                  <a:pt x="16" y="780"/>
                  <a:pt x="12" y="760"/>
                </a:cubicBezTo>
                <a:cubicBezTo>
                  <a:pt x="8" y="739"/>
                  <a:pt x="5" y="719"/>
                  <a:pt x="3" y="698"/>
                </a:cubicBezTo>
                <a:cubicBezTo>
                  <a:pt x="1" y="677"/>
                  <a:pt x="0" y="657"/>
                  <a:pt x="0" y="636"/>
                </a:cubicBezTo>
                <a:cubicBezTo>
                  <a:pt x="0" y="615"/>
                  <a:pt x="1" y="594"/>
                  <a:pt x="3" y="574"/>
                </a:cubicBezTo>
                <a:cubicBezTo>
                  <a:pt x="5" y="553"/>
                  <a:pt x="8" y="532"/>
                  <a:pt x="12" y="512"/>
                </a:cubicBezTo>
                <a:cubicBezTo>
                  <a:pt x="16" y="491"/>
                  <a:pt x="21" y="470"/>
                  <a:pt x="27" y="450"/>
                </a:cubicBezTo>
                <a:cubicBezTo>
                  <a:pt x="33" y="431"/>
                  <a:pt x="40" y="411"/>
                  <a:pt x="48" y="392"/>
                </a:cubicBezTo>
                <a:cubicBezTo>
                  <a:pt x="56" y="373"/>
                  <a:pt x="65" y="354"/>
                  <a:pt x="75" y="335"/>
                </a:cubicBezTo>
                <a:cubicBezTo>
                  <a:pt x="85" y="317"/>
                  <a:pt x="95" y="299"/>
                  <a:pt x="107" y="282"/>
                </a:cubicBezTo>
                <a:cubicBezTo>
                  <a:pt x="118" y="265"/>
                  <a:pt x="131" y="248"/>
                  <a:pt x="144" y="232"/>
                </a:cubicBezTo>
                <a:cubicBezTo>
                  <a:pt x="157" y="216"/>
                  <a:pt x="171" y="200"/>
                  <a:pt x="186" y="186"/>
                </a:cubicBezTo>
                <a:cubicBezTo>
                  <a:pt x="200" y="171"/>
                  <a:pt x="216" y="157"/>
                  <a:pt x="232" y="144"/>
                </a:cubicBezTo>
                <a:cubicBezTo>
                  <a:pt x="248" y="131"/>
                  <a:pt x="265" y="118"/>
                  <a:pt x="282" y="107"/>
                </a:cubicBezTo>
                <a:cubicBezTo>
                  <a:pt x="299" y="95"/>
                  <a:pt x="317" y="85"/>
                  <a:pt x="335" y="75"/>
                </a:cubicBezTo>
                <a:cubicBezTo>
                  <a:pt x="354" y="65"/>
                  <a:pt x="373" y="56"/>
                  <a:pt x="392" y="48"/>
                </a:cubicBezTo>
                <a:cubicBezTo>
                  <a:pt x="411" y="40"/>
                  <a:pt x="431" y="33"/>
                  <a:pt x="450" y="27"/>
                </a:cubicBezTo>
                <a:cubicBezTo>
                  <a:pt x="470" y="21"/>
                  <a:pt x="490" y="16"/>
                  <a:pt x="511" y="12"/>
                </a:cubicBezTo>
                <a:cubicBezTo>
                  <a:pt x="531" y="8"/>
                  <a:pt x="552" y="5"/>
                  <a:pt x="573" y="3"/>
                </a:cubicBezTo>
                <a:cubicBezTo>
                  <a:pt x="593" y="1"/>
                  <a:pt x="614" y="0"/>
                  <a:pt x="635" y="0"/>
                </a:cubicBezTo>
                <a:cubicBezTo>
                  <a:pt x="656" y="0"/>
                  <a:pt x="676" y="1"/>
                  <a:pt x="697" y="3"/>
                </a:cubicBezTo>
                <a:cubicBezTo>
                  <a:pt x="718" y="5"/>
                  <a:pt x="738" y="8"/>
                  <a:pt x="759" y="12"/>
                </a:cubicBezTo>
                <a:cubicBezTo>
                  <a:pt x="779" y="16"/>
                  <a:pt x="800" y="21"/>
                  <a:pt x="820" y="27"/>
                </a:cubicBezTo>
                <a:cubicBezTo>
                  <a:pt x="840" y="33"/>
                  <a:pt x="860" y="40"/>
                  <a:pt x="879" y="48"/>
                </a:cubicBezTo>
                <a:cubicBezTo>
                  <a:pt x="898" y="56"/>
                  <a:pt x="917" y="65"/>
                  <a:pt x="935" y="75"/>
                </a:cubicBezTo>
                <a:cubicBezTo>
                  <a:pt x="953" y="85"/>
                  <a:pt x="971" y="95"/>
                  <a:pt x="989" y="107"/>
                </a:cubicBezTo>
                <a:cubicBezTo>
                  <a:pt x="1006" y="118"/>
                  <a:pt x="1023" y="131"/>
                  <a:pt x="1039" y="144"/>
                </a:cubicBezTo>
                <a:cubicBezTo>
                  <a:pt x="1055" y="157"/>
                  <a:pt x="1070" y="171"/>
                  <a:pt x="1085" y="186"/>
                </a:cubicBezTo>
                <a:cubicBezTo>
                  <a:pt x="1099" y="200"/>
                  <a:pt x="1113" y="216"/>
                  <a:pt x="1127" y="232"/>
                </a:cubicBezTo>
                <a:cubicBezTo>
                  <a:pt x="1140" y="248"/>
                  <a:pt x="1152" y="265"/>
                  <a:pt x="1164" y="282"/>
                </a:cubicBezTo>
                <a:cubicBezTo>
                  <a:pt x="1175" y="299"/>
                  <a:pt x="1186" y="317"/>
                  <a:pt x="1196" y="335"/>
                </a:cubicBezTo>
                <a:cubicBezTo>
                  <a:pt x="1206" y="354"/>
                  <a:pt x="1214" y="373"/>
                  <a:pt x="1222" y="392"/>
                </a:cubicBezTo>
                <a:cubicBezTo>
                  <a:pt x="1230" y="411"/>
                  <a:pt x="1237" y="431"/>
                  <a:pt x="1243" y="450"/>
                </a:cubicBezTo>
                <a:cubicBezTo>
                  <a:pt x="1249" y="470"/>
                  <a:pt x="1254" y="491"/>
                  <a:pt x="1259" y="512"/>
                </a:cubicBezTo>
                <a:cubicBezTo>
                  <a:pt x="1263" y="532"/>
                  <a:pt x="1266" y="553"/>
                  <a:pt x="1268" y="574"/>
                </a:cubicBezTo>
                <a:cubicBezTo>
                  <a:pt x="1270" y="594"/>
                  <a:pt x="1271" y="615"/>
                  <a:pt x="1271" y="636"/>
                </a:cubicBezTo>
                <a:close/>
              </a:path>
            </a:pathLst>
          </a:custGeom>
          <a:solidFill>
            <a:srgbClr val="E3EC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ZoneTexte 263"/>
          <p:cNvSpPr txBox="1"/>
          <p:nvPr/>
        </p:nvSpPr>
        <p:spPr>
          <a:xfrm>
            <a:off x="1504800" y="4059000"/>
            <a:ext cx="23976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002FA7"/>
                </a:solidFill>
                <a:effectLst/>
                <a:uFillTx/>
                <a:latin typeface="DejaVuSans"/>
                <a:ea typeface="DejaVuSans"/>
              </a:rPr>
              <a:t>Iris-Setosa (classe 0)</a:t>
            </a:r>
            <a:r>
              <a:rPr lang="en-US" sz="1200" b="0" u="none" strike="noStrike">
                <a:solidFill>
                  <a:srgbClr val="4A5565"/>
                </a:solidFill>
                <a:effectLst/>
                <a:uFillTx/>
                <a:latin typeface="DejaVuSans"/>
                <a:ea typeface="DejaVuSans"/>
              </a:rPr>
              <a:t> vs Autres.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ZoneTexte 264"/>
          <p:cNvSpPr txBox="1"/>
          <p:nvPr/>
        </p:nvSpPr>
        <p:spPr>
          <a:xfrm>
            <a:off x="990720" y="4748040"/>
            <a:ext cx="19116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002FA7"/>
                </a:solidFill>
                <a:effectLst/>
                <a:uFillTx/>
                <a:latin typeface="FontAwesome6Free-Solid"/>
                <a:ea typeface="FontAwesome6Free-Solid"/>
              </a:rPr>
              <a:t>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ZoneTexte 265"/>
          <p:cNvSpPr txBox="1"/>
          <p:nvPr/>
        </p:nvSpPr>
        <p:spPr>
          <a:xfrm>
            <a:off x="1504800" y="4613040"/>
            <a:ext cx="135936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1" u="none" strike="noStrike">
                <a:solidFill>
                  <a:srgbClr val="101828"/>
                </a:solidFill>
                <a:effectLst/>
                <a:uFillTx/>
                <a:latin typeface="DejaVuSans"/>
                <a:ea typeface="DejaVuSans"/>
              </a:rPr>
              <a:t>Prétraitement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ZoneTexte 266"/>
          <p:cNvSpPr txBox="1"/>
          <p:nvPr/>
        </p:nvSpPr>
        <p:spPr>
          <a:xfrm>
            <a:off x="1504800" y="4916520"/>
            <a:ext cx="30844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4A5565"/>
                </a:solidFill>
                <a:effectLst/>
                <a:uFillTx/>
                <a:latin typeface="DejaVuSans"/>
                <a:ea typeface="DejaVuSans"/>
              </a:rPr>
              <a:t>Normalisation des variables d'entrée via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Forme libre : forme 267"/>
          <p:cNvSpPr/>
          <p:nvPr/>
        </p:nvSpPr>
        <p:spPr>
          <a:xfrm>
            <a:off x="285480" y="6181560"/>
            <a:ext cx="11620800" cy="9720"/>
          </a:xfrm>
          <a:custGeom>
            <a:avLst/>
            <a:gdLst/>
            <a:ahLst/>
            <a:cxnLst/>
            <a:rect l="0" t="0" r="r" b="b"/>
            <a:pathLst>
              <a:path w="32280" h="27">
                <a:moveTo>
                  <a:pt x="0" y="0"/>
                </a:moveTo>
                <a:lnTo>
                  <a:pt x="32280" y="0"/>
                </a:lnTo>
                <a:lnTo>
                  <a:pt x="322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ZoneTexte 268"/>
          <p:cNvSpPr txBox="1"/>
          <p:nvPr/>
        </p:nvSpPr>
        <p:spPr>
          <a:xfrm>
            <a:off x="1504800" y="5163840"/>
            <a:ext cx="13730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1" u="none" strike="noStrike">
                <a:solidFill>
                  <a:srgbClr val="4A5565"/>
                </a:solidFill>
                <a:effectLst/>
                <a:uFillTx/>
                <a:latin typeface="DejaVuSans"/>
                <a:ea typeface="DejaVuSans"/>
              </a:rPr>
              <a:t>StandardScaler</a:t>
            </a:r>
            <a:r>
              <a:rPr lang="en-US" sz="1200" b="0" u="none" strike="noStrike">
                <a:solidFill>
                  <a:srgbClr val="4A5565"/>
                </a:solidFill>
                <a:effectLst/>
                <a:uFillTx/>
                <a:latin typeface="DejaVuSans"/>
                <a:ea typeface="DejaVuSans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ZoneTexte 269"/>
          <p:cNvSpPr txBox="1"/>
          <p:nvPr/>
        </p:nvSpPr>
        <p:spPr>
          <a:xfrm>
            <a:off x="285840" y="6428160"/>
            <a:ext cx="32310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99A1AF"/>
                </a:solidFill>
                <a:effectLst/>
                <a:uFillTx/>
                <a:latin typeface="DejaVuSans"/>
                <a:ea typeface="DejaVuSans"/>
              </a:rPr>
              <a:t>MINI-PROJET MACHINE LEARNING | M1 IA | JANVIER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Forme libre : forme 270"/>
          <p:cNvSpPr/>
          <p:nvPr/>
        </p:nvSpPr>
        <p:spPr>
          <a:xfrm>
            <a:off x="6581520" y="1923840"/>
            <a:ext cx="4572360" cy="3277080"/>
          </a:xfrm>
          <a:custGeom>
            <a:avLst/>
            <a:gdLst/>
            <a:ahLst/>
            <a:cxnLst/>
            <a:rect l="0" t="0" r="r" b="b"/>
            <a:pathLst>
              <a:path w="12701" h="9103">
                <a:moveTo>
                  <a:pt x="0" y="0"/>
                </a:moveTo>
                <a:lnTo>
                  <a:pt x="12701" y="0"/>
                </a:lnTo>
                <a:lnTo>
                  <a:pt x="12701" y="9103"/>
                </a:lnTo>
                <a:lnTo>
                  <a:pt x="0" y="9103"/>
                </a:lnTo>
                <a:lnTo>
                  <a:pt x="0" y="0"/>
                </a:lnTo>
                <a:close/>
              </a:path>
            </a:pathLst>
          </a:custGeom>
          <a:solidFill>
            <a:srgbClr val="002FA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Forme libre : forme 271"/>
          <p:cNvSpPr/>
          <p:nvPr/>
        </p:nvSpPr>
        <p:spPr>
          <a:xfrm>
            <a:off x="10086840" y="1923840"/>
            <a:ext cx="1067040" cy="1067040"/>
          </a:xfrm>
          <a:custGeom>
            <a:avLst/>
            <a:gdLst/>
            <a:ahLst/>
            <a:cxnLst/>
            <a:rect l="0" t="0" r="r" b="b"/>
            <a:pathLst>
              <a:path w="2964" h="2964">
                <a:moveTo>
                  <a:pt x="2964" y="2788"/>
                </a:moveTo>
                <a:cubicBezTo>
                  <a:pt x="2952" y="2793"/>
                  <a:pt x="2940" y="2798"/>
                  <a:pt x="2928" y="2803"/>
                </a:cubicBezTo>
                <a:cubicBezTo>
                  <a:pt x="2864" y="2830"/>
                  <a:pt x="2798" y="2853"/>
                  <a:pt x="2732" y="2873"/>
                </a:cubicBezTo>
                <a:cubicBezTo>
                  <a:pt x="2666" y="2893"/>
                  <a:pt x="2598" y="2910"/>
                  <a:pt x="2530" y="2924"/>
                </a:cubicBezTo>
                <a:cubicBezTo>
                  <a:pt x="2462" y="2937"/>
                  <a:pt x="2394" y="2947"/>
                  <a:pt x="2325" y="2954"/>
                </a:cubicBezTo>
                <a:cubicBezTo>
                  <a:pt x="2256" y="2961"/>
                  <a:pt x="2187" y="2964"/>
                  <a:pt x="2118" y="2964"/>
                </a:cubicBezTo>
                <a:cubicBezTo>
                  <a:pt x="2048" y="2964"/>
                  <a:pt x="1979" y="2961"/>
                  <a:pt x="1910" y="2954"/>
                </a:cubicBezTo>
                <a:cubicBezTo>
                  <a:pt x="1841" y="2947"/>
                  <a:pt x="1773" y="2937"/>
                  <a:pt x="1705" y="2924"/>
                </a:cubicBezTo>
                <a:cubicBezTo>
                  <a:pt x="1637" y="2910"/>
                  <a:pt x="1569" y="2893"/>
                  <a:pt x="1503" y="2873"/>
                </a:cubicBezTo>
                <a:cubicBezTo>
                  <a:pt x="1437" y="2853"/>
                  <a:pt x="1372" y="2830"/>
                  <a:pt x="1308" y="2803"/>
                </a:cubicBezTo>
                <a:cubicBezTo>
                  <a:pt x="1243" y="2777"/>
                  <a:pt x="1181" y="2747"/>
                  <a:pt x="1120" y="2714"/>
                </a:cubicBezTo>
                <a:cubicBezTo>
                  <a:pt x="1059" y="2682"/>
                  <a:pt x="999" y="2646"/>
                  <a:pt x="942" y="2608"/>
                </a:cubicBezTo>
                <a:cubicBezTo>
                  <a:pt x="884" y="2569"/>
                  <a:pt x="828" y="2528"/>
                  <a:pt x="775" y="2484"/>
                </a:cubicBezTo>
                <a:cubicBezTo>
                  <a:pt x="721" y="2440"/>
                  <a:pt x="670" y="2393"/>
                  <a:pt x="621" y="2344"/>
                </a:cubicBezTo>
                <a:cubicBezTo>
                  <a:pt x="572" y="2295"/>
                  <a:pt x="525" y="2244"/>
                  <a:pt x="481" y="2191"/>
                </a:cubicBezTo>
                <a:cubicBezTo>
                  <a:pt x="437" y="2137"/>
                  <a:pt x="396" y="2081"/>
                  <a:pt x="358" y="2023"/>
                </a:cubicBezTo>
                <a:cubicBezTo>
                  <a:pt x="319" y="1965"/>
                  <a:pt x="283" y="1906"/>
                  <a:pt x="251" y="1845"/>
                </a:cubicBezTo>
                <a:cubicBezTo>
                  <a:pt x="218" y="1783"/>
                  <a:pt x="189" y="1721"/>
                  <a:pt x="162" y="1657"/>
                </a:cubicBezTo>
                <a:cubicBezTo>
                  <a:pt x="135" y="1593"/>
                  <a:pt x="111" y="1528"/>
                  <a:pt x="91" y="1461"/>
                </a:cubicBezTo>
                <a:cubicBezTo>
                  <a:pt x="71" y="1395"/>
                  <a:pt x="54" y="1328"/>
                  <a:pt x="41" y="1260"/>
                </a:cubicBezTo>
                <a:cubicBezTo>
                  <a:pt x="27" y="1192"/>
                  <a:pt x="17" y="1123"/>
                  <a:pt x="10" y="1054"/>
                </a:cubicBezTo>
                <a:cubicBezTo>
                  <a:pt x="3" y="985"/>
                  <a:pt x="0" y="916"/>
                  <a:pt x="0" y="847"/>
                </a:cubicBezTo>
                <a:cubicBezTo>
                  <a:pt x="0" y="777"/>
                  <a:pt x="3" y="708"/>
                  <a:pt x="10" y="639"/>
                </a:cubicBezTo>
                <a:cubicBezTo>
                  <a:pt x="17" y="570"/>
                  <a:pt x="27" y="502"/>
                  <a:pt x="41" y="434"/>
                </a:cubicBezTo>
                <a:cubicBezTo>
                  <a:pt x="54" y="366"/>
                  <a:pt x="71" y="299"/>
                  <a:pt x="91" y="232"/>
                </a:cubicBezTo>
                <a:cubicBezTo>
                  <a:pt x="111" y="166"/>
                  <a:pt x="135" y="101"/>
                  <a:pt x="162" y="37"/>
                </a:cubicBezTo>
                <a:cubicBezTo>
                  <a:pt x="167" y="24"/>
                  <a:pt x="172" y="12"/>
                  <a:pt x="178" y="0"/>
                </a:cubicBezTo>
                <a:lnTo>
                  <a:pt x="2964" y="0"/>
                </a:lnTo>
                <a:lnTo>
                  <a:pt x="2964" y="2788"/>
                </a:lnTo>
                <a:close/>
              </a:path>
            </a:pathLst>
          </a:custGeom>
          <a:solidFill>
            <a:srgbClr val="0404A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Forme libre : forme 272"/>
          <p:cNvSpPr/>
          <p:nvPr/>
        </p:nvSpPr>
        <p:spPr>
          <a:xfrm>
            <a:off x="6581520" y="4476600"/>
            <a:ext cx="724320" cy="724320"/>
          </a:xfrm>
          <a:custGeom>
            <a:avLst/>
            <a:gdLst/>
            <a:ahLst/>
            <a:cxnLst/>
            <a:rect l="0" t="0" r="r" b="b"/>
            <a:pathLst>
              <a:path w="2012" h="2012">
                <a:moveTo>
                  <a:pt x="2012" y="1271"/>
                </a:moveTo>
                <a:cubicBezTo>
                  <a:pt x="2012" y="1313"/>
                  <a:pt x="2010" y="1354"/>
                  <a:pt x="2006" y="1395"/>
                </a:cubicBezTo>
                <a:cubicBezTo>
                  <a:pt x="2002" y="1437"/>
                  <a:pt x="1996" y="1478"/>
                  <a:pt x="1988" y="1519"/>
                </a:cubicBezTo>
                <a:cubicBezTo>
                  <a:pt x="1980" y="1559"/>
                  <a:pt x="1969" y="1600"/>
                  <a:pt x="1957" y="1640"/>
                </a:cubicBezTo>
                <a:cubicBezTo>
                  <a:pt x="1945" y="1679"/>
                  <a:pt x="1931" y="1718"/>
                  <a:pt x="1915" y="1757"/>
                </a:cubicBezTo>
                <a:cubicBezTo>
                  <a:pt x="1899" y="1795"/>
                  <a:pt x="1882" y="1833"/>
                  <a:pt x="1862" y="1870"/>
                </a:cubicBezTo>
                <a:cubicBezTo>
                  <a:pt x="1842" y="1906"/>
                  <a:pt x="1821" y="1942"/>
                  <a:pt x="1798" y="1976"/>
                </a:cubicBezTo>
                <a:cubicBezTo>
                  <a:pt x="1790" y="1988"/>
                  <a:pt x="1782" y="2000"/>
                  <a:pt x="1774" y="2012"/>
                </a:cubicBezTo>
                <a:lnTo>
                  <a:pt x="0" y="2012"/>
                </a:lnTo>
                <a:lnTo>
                  <a:pt x="0" y="238"/>
                </a:lnTo>
                <a:cubicBezTo>
                  <a:pt x="12" y="230"/>
                  <a:pt x="24" y="222"/>
                  <a:pt x="35" y="214"/>
                </a:cubicBezTo>
                <a:cubicBezTo>
                  <a:pt x="70" y="191"/>
                  <a:pt x="106" y="169"/>
                  <a:pt x="142" y="150"/>
                </a:cubicBezTo>
                <a:cubicBezTo>
                  <a:pt x="179" y="130"/>
                  <a:pt x="217" y="113"/>
                  <a:pt x="255" y="97"/>
                </a:cubicBezTo>
                <a:cubicBezTo>
                  <a:pt x="293" y="81"/>
                  <a:pt x="333" y="67"/>
                  <a:pt x="372" y="55"/>
                </a:cubicBezTo>
                <a:cubicBezTo>
                  <a:pt x="412" y="43"/>
                  <a:pt x="452" y="32"/>
                  <a:pt x="493" y="24"/>
                </a:cubicBezTo>
                <a:cubicBezTo>
                  <a:pt x="534" y="16"/>
                  <a:pt x="575" y="10"/>
                  <a:pt x="617" y="6"/>
                </a:cubicBezTo>
                <a:cubicBezTo>
                  <a:pt x="658" y="2"/>
                  <a:pt x="699" y="0"/>
                  <a:pt x="741" y="0"/>
                </a:cubicBezTo>
                <a:cubicBezTo>
                  <a:pt x="783" y="0"/>
                  <a:pt x="825" y="2"/>
                  <a:pt x="867" y="6"/>
                </a:cubicBezTo>
                <a:cubicBezTo>
                  <a:pt x="908" y="10"/>
                  <a:pt x="949" y="16"/>
                  <a:pt x="990" y="24"/>
                </a:cubicBezTo>
                <a:cubicBezTo>
                  <a:pt x="1031" y="32"/>
                  <a:pt x="1071" y="43"/>
                  <a:pt x="1111" y="55"/>
                </a:cubicBezTo>
                <a:cubicBezTo>
                  <a:pt x="1151" y="67"/>
                  <a:pt x="1190" y="81"/>
                  <a:pt x="1228" y="97"/>
                </a:cubicBezTo>
                <a:cubicBezTo>
                  <a:pt x="1266" y="113"/>
                  <a:pt x="1304" y="130"/>
                  <a:pt x="1341" y="150"/>
                </a:cubicBezTo>
                <a:cubicBezTo>
                  <a:pt x="1377" y="169"/>
                  <a:pt x="1413" y="191"/>
                  <a:pt x="1448" y="214"/>
                </a:cubicBezTo>
                <a:cubicBezTo>
                  <a:pt x="1482" y="237"/>
                  <a:pt x="1516" y="262"/>
                  <a:pt x="1548" y="288"/>
                </a:cubicBezTo>
                <a:cubicBezTo>
                  <a:pt x="1580" y="315"/>
                  <a:pt x="1611" y="342"/>
                  <a:pt x="1640" y="372"/>
                </a:cubicBezTo>
                <a:cubicBezTo>
                  <a:pt x="1669" y="401"/>
                  <a:pt x="1697" y="432"/>
                  <a:pt x="1724" y="464"/>
                </a:cubicBezTo>
                <a:cubicBezTo>
                  <a:pt x="1750" y="496"/>
                  <a:pt x="1775" y="530"/>
                  <a:pt x="1798" y="564"/>
                </a:cubicBezTo>
                <a:cubicBezTo>
                  <a:pt x="1821" y="599"/>
                  <a:pt x="1842" y="636"/>
                  <a:pt x="1862" y="672"/>
                </a:cubicBezTo>
                <a:cubicBezTo>
                  <a:pt x="1882" y="709"/>
                  <a:pt x="1899" y="746"/>
                  <a:pt x="1915" y="785"/>
                </a:cubicBezTo>
                <a:cubicBezTo>
                  <a:pt x="1931" y="823"/>
                  <a:pt x="1945" y="862"/>
                  <a:pt x="1957" y="902"/>
                </a:cubicBezTo>
                <a:cubicBezTo>
                  <a:pt x="1969" y="942"/>
                  <a:pt x="1980" y="982"/>
                  <a:pt x="1988" y="1023"/>
                </a:cubicBezTo>
                <a:cubicBezTo>
                  <a:pt x="1996" y="1064"/>
                  <a:pt x="2002" y="1105"/>
                  <a:pt x="2006" y="1146"/>
                </a:cubicBezTo>
                <a:cubicBezTo>
                  <a:pt x="2010" y="1188"/>
                  <a:pt x="2012" y="1229"/>
                  <a:pt x="2012" y="1271"/>
                </a:cubicBezTo>
                <a:close/>
              </a:path>
            </a:pathLst>
          </a:custGeom>
          <a:solidFill>
            <a:srgbClr val="0404A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Forme libre : forme 273"/>
          <p:cNvSpPr/>
          <p:nvPr/>
        </p:nvSpPr>
        <p:spPr>
          <a:xfrm>
            <a:off x="7038720" y="2705040"/>
            <a:ext cx="1810080" cy="9720"/>
          </a:xfrm>
          <a:custGeom>
            <a:avLst/>
            <a:gdLst/>
            <a:ahLst/>
            <a:cxnLst/>
            <a:rect l="0" t="0" r="r" b="b"/>
            <a:pathLst>
              <a:path w="5028" h="27">
                <a:moveTo>
                  <a:pt x="0" y="0"/>
                </a:moveTo>
                <a:lnTo>
                  <a:pt x="5028" y="0"/>
                </a:lnTo>
                <a:lnTo>
                  <a:pt x="50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ZoneTexte 274"/>
          <p:cNvSpPr txBox="1"/>
          <p:nvPr/>
        </p:nvSpPr>
        <p:spPr>
          <a:xfrm>
            <a:off x="11747160" y="6428160"/>
            <a:ext cx="1598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1" u="none" strike="noStrike">
                <a:solidFill>
                  <a:srgbClr val="99A1AF"/>
                </a:solidFill>
                <a:effectLst/>
                <a:uFillTx/>
                <a:latin typeface="DejaVuSans"/>
                <a:ea typeface="DejaVuSans"/>
              </a:rPr>
              <a:t>09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ZoneTexte 275"/>
          <p:cNvSpPr txBox="1"/>
          <p:nvPr/>
        </p:nvSpPr>
        <p:spPr>
          <a:xfrm>
            <a:off x="7039080" y="2419560"/>
            <a:ext cx="1570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FONCTION SIGMOÏDE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Forme libre : forme 276"/>
          <p:cNvSpPr/>
          <p:nvPr/>
        </p:nvSpPr>
        <p:spPr>
          <a:xfrm>
            <a:off x="9391320" y="3419280"/>
            <a:ext cx="1000800" cy="19440"/>
          </a:xfrm>
          <a:custGeom>
            <a:avLst/>
            <a:gdLst/>
            <a:ahLst/>
            <a:cxnLst/>
            <a:rect l="0" t="0" r="r" b="b"/>
            <a:pathLst>
              <a:path w="2780" h="54">
                <a:moveTo>
                  <a:pt x="0" y="0"/>
                </a:moveTo>
                <a:lnTo>
                  <a:pt x="2780" y="0"/>
                </a:lnTo>
                <a:lnTo>
                  <a:pt x="278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ZoneTexte 277"/>
          <p:cNvSpPr txBox="1"/>
          <p:nvPr/>
        </p:nvSpPr>
        <p:spPr>
          <a:xfrm>
            <a:off x="7259760" y="3252600"/>
            <a:ext cx="1898280" cy="452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150" b="0" i="1" u="none" strike="noStrike" dirty="0">
                <a:solidFill>
                  <a:srgbClr val="F3F4F6"/>
                </a:solidFill>
                <a:effectLst/>
                <a:uFillTx/>
                <a:latin typeface="Georgia"/>
                <a:ea typeface="Georgia"/>
              </a:rPr>
              <a:t>P(y=1|x) =</a:t>
            </a:r>
            <a:endParaRPr lang="en-US" sz="31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ZoneTexte 278"/>
          <p:cNvSpPr txBox="1"/>
          <p:nvPr/>
        </p:nvSpPr>
        <p:spPr>
          <a:xfrm>
            <a:off x="9808560" y="2995560"/>
            <a:ext cx="399600" cy="452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15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1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ZoneTexte 279"/>
          <p:cNvSpPr txBox="1"/>
          <p:nvPr/>
        </p:nvSpPr>
        <p:spPr>
          <a:xfrm>
            <a:off x="9393120" y="3500280"/>
            <a:ext cx="814680" cy="452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15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1 + e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ZoneTexte 280"/>
          <p:cNvSpPr txBox="1"/>
          <p:nvPr/>
        </p:nvSpPr>
        <p:spPr>
          <a:xfrm>
            <a:off x="7125120" y="4278240"/>
            <a:ext cx="34920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Cette fonction transforme la sortie linéaire en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ZoneTexte 281"/>
          <p:cNvSpPr txBox="1"/>
          <p:nvPr/>
        </p:nvSpPr>
        <p:spPr>
          <a:xfrm>
            <a:off x="7421040" y="4525920"/>
            <a:ext cx="29012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une probabilité comprise entre 0 et 1.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ZoneTexte 282"/>
          <p:cNvSpPr txBox="1"/>
          <p:nvPr/>
        </p:nvSpPr>
        <p:spPr>
          <a:xfrm>
            <a:off x="10208880" y="354312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-z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Forme libre : forme 28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Forme libre : forme 284"/>
          <p:cNvSpPr/>
          <p:nvPr/>
        </p:nvSpPr>
        <p:spPr>
          <a:xfrm>
            <a:off x="285480" y="628560"/>
            <a:ext cx="11620800" cy="9720"/>
          </a:xfrm>
          <a:custGeom>
            <a:avLst/>
            <a:gdLst/>
            <a:ahLst/>
            <a:cxnLst/>
            <a:rect l="0" t="0" r="r" b="b"/>
            <a:pathLst>
              <a:path w="32280" h="27">
                <a:moveTo>
                  <a:pt x="0" y="0"/>
                </a:moveTo>
                <a:lnTo>
                  <a:pt x="32280" y="0"/>
                </a:lnTo>
                <a:lnTo>
                  <a:pt x="322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ZoneTexte 285"/>
          <p:cNvSpPr txBox="1"/>
          <p:nvPr/>
        </p:nvSpPr>
        <p:spPr>
          <a:xfrm>
            <a:off x="285840" y="317160"/>
            <a:ext cx="1107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1" u="none" strike="noStrike">
                <a:solidFill>
                  <a:srgbClr val="101828"/>
                </a:solidFill>
                <a:effectLst/>
                <a:uFillTx/>
                <a:latin typeface="DejaVuSans"/>
                <a:ea typeface="DejaVuSans"/>
              </a:rPr>
              <a:t>RÉSULTATS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ZoneTexte 286"/>
          <p:cNvSpPr txBox="1"/>
          <p:nvPr/>
        </p:nvSpPr>
        <p:spPr>
          <a:xfrm>
            <a:off x="8219160" y="343080"/>
            <a:ext cx="36702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101828"/>
                </a:solidFill>
                <a:effectLst/>
                <a:uFillTx/>
                <a:latin typeface="DejaVuSans"/>
                <a:ea typeface="DejaVuSans"/>
              </a:rPr>
              <a:t>Partie 2 — Performances et matrice de confusion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ZoneTexte 287"/>
          <p:cNvSpPr txBox="1"/>
          <p:nvPr/>
        </p:nvSpPr>
        <p:spPr>
          <a:xfrm>
            <a:off x="285840" y="1303920"/>
            <a:ext cx="2881800" cy="46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200" b="0" u="none" strike="noStrike">
                <a:solidFill>
                  <a:srgbClr val="101828"/>
                </a:solidFill>
                <a:effectLst/>
                <a:uFillTx/>
                <a:latin typeface="Georgia"/>
                <a:ea typeface="Georgia"/>
              </a:rPr>
              <a:t>Performance du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Forme libre : forme 288"/>
          <p:cNvSpPr/>
          <p:nvPr/>
        </p:nvSpPr>
        <p:spPr>
          <a:xfrm>
            <a:off x="285480" y="2571480"/>
            <a:ext cx="38520" cy="952920"/>
          </a:xfrm>
          <a:custGeom>
            <a:avLst/>
            <a:gdLst/>
            <a:ahLst/>
            <a:cxnLst/>
            <a:rect l="0" t="0" r="r" b="b"/>
            <a:pathLst>
              <a:path w="107" h="2647">
                <a:moveTo>
                  <a:pt x="0" y="0"/>
                </a:moveTo>
                <a:lnTo>
                  <a:pt x="107" y="0"/>
                </a:lnTo>
                <a:lnTo>
                  <a:pt x="10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002FA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ZoneTexte 289"/>
          <p:cNvSpPr txBox="1"/>
          <p:nvPr/>
        </p:nvSpPr>
        <p:spPr>
          <a:xfrm>
            <a:off x="285840" y="1789560"/>
            <a:ext cx="1321920" cy="46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200" b="0" u="none" strike="noStrike">
                <a:solidFill>
                  <a:srgbClr val="101828"/>
                </a:solidFill>
                <a:effectLst/>
                <a:uFillTx/>
                <a:latin typeface="Georgia"/>
                <a:ea typeface="Georgia"/>
              </a:rPr>
              <a:t>modèle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ZoneTexte 290"/>
          <p:cNvSpPr txBox="1"/>
          <p:nvPr/>
        </p:nvSpPr>
        <p:spPr>
          <a:xfrm>
            <a:off x="552600" y="2629080"/>
            <a:ext cx="803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002FA7"/>
                </a:solidFill>
                <a:effectLst/>
                <a:uFillTx/>
                <a:latin typeface="DejaVuSans"/>
                <a:ea typeface="DejaVuSans"/>
              </a:rPr>
              <a:t>ACCURACY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Forme libre : forme 291"/>
          <p:cNvSpPr/>
          <p:nvPr/>
        </p:nvSpPr>
        <p:spPr>
          <a:xfrm>
            <a:off x="285480" y="3828960"/>
            <a:ext cx="305280" cy="304920"/>
          </a:xfrm>
          <a:custGeom>
            <a:avLst/>
            <a:gdLst/>
            <a:ahLst/>
            <a:cxnLst/>
            <a:rect l="0" t="0" r="r" b="b"/>
            <a:pathLst>
              <a:path w="848" h="847">
                <a:moveTo>
                  <a:pt x="848" y="423"/>
                </a:moveTo>
                <a:cubicBezTo>
                  <a:pt x="848" y="451"/>
                  <a:pt x="845" y="478"/>
                  <a:pt x="840" y="506"/>
                </a:cubicBezTo>
                <a:cubicBezTo>
                  <a:pt x="834" y="533"/>
                  <a:pt x="826" y="559"/>
                  <a:pt x="816" y="585"/>
                </a:cubicBezTo>
                <a:cubicBezTo>
                  <a:pt x="805" y="611"/>
                  <a:pt x="792" y="635"/>
                  <a:pt x="777" y="658"/>
                </a:cubicBezTo>
                <a:cubicBezTo>
                  <a:pt x="761" y="681"/>
                  <a:pt x="744" y="703"/>
                  <a:pt x="724" y="722"/>
                </a:cubicBezTo>
                <a:cubicBezTo>
                  <a:pt x="704" y="742"/>
                  <a:pt x="683" y="760"/>
                  <a:pt x="660" y="775"/>
                </a:cubicBezTo>
                <a:cubicBezTo>
                  <a:pt x="637" y="792"/>
                  <a:pt x="612" y="805"/>
                  <a:pt x="587" y="815"/>
                </a:cubicBezTo>
                <a:cubicBezTo>
                  <a:pt x="561" y="826"/>
                  <a:pt x="534" y="834"/>
                  <a:pt x="507" y="839"/>
                </a:cubicBezTo>
                <a:cubicBezTo>
                  <a:pt x="480" y="845"/>
                  <a:pt x="451" y="847"/>
                  <a:pt x="424" y="847"/>
                </a:cubicBezTo>
                <a:cubicBezTo>
                  <a:pt x="396" y="847"/>
                  <a:pt x="368" y="845"/>
                  <a:pt x="341" y="839"/>
                </a:cubicBezTo>
                <a:cubicBezTo>
                  <a:pt x="314" y="834"/>
                  <a:pt x="287" y="826"/>
                  <a:pt x="262" y="815"/>
                </a:cubicBezTo>
                <a:cubicBezTo>
                  <a:pt x="236" y="805"/>
                  <a:pt x="212" y="792"/>
                  <a:pt x="188" y="775"/>
                </a:cubicBezTo>
                <a:cubicBezTo>
                  <a:pt x="165" y="760"/>
                  <a:pt x="144" y="742"/>
                  <a:pt x="124" y="722"/>
                </a:cubicBezTo>
                <a:cubicBezTo>
                  <a:pt x="105" y="703"/>
                  <a:pt x="87" y="681"/>
                  <a:pt x="72" y="658"/>
                </a:cubicBezTo>
                <a:cubicBezTo>
                  <a:pt x="56" y="635"/>
                  <a:pt x="43" y="611"/>
                  <a:pt x="32" y="585"/>
                </a:cubicBezTo>
                <a:cubicBezTo>
                  <a:pt x="22" y="559"/>
                  <a:pt x="14" y="533"/>
                  <a:pt x="8" y="506"/>
                </a:cubicBezTo>
                <a:cubicBezTo>
                  <a:pt x="3" y="478"/>
                  <a:pt x="0" y="451"/>
                  <a:pt x="0" y="423"/>
                </a:cubicBezTo>
                <a:cubicBezTo>
                  <a:pt x="0" y="395"/>
                  <a:pt x="3" y="368"/>
                  <a:pt x="8" y="340"/>
                </a:cubicBezTo>
                <a:cubicBezTo>
                  <a:pt x="14" y="313"/>
                  <a:pt x="22" y="287"/>
                  <a:pt x="32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5" y="87"/>
                  <a:pt x="188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7" y="21"/>
                  <a:pt x="314" y="13"/>
                  <a:pt x="341" y="8"/>
                </a:cubicBezTo>
                <a:cubicBezTo>
                  <a:pt x="368" y="2"/>
                  <a:pt x="396" y="0"/>
                  <a:pt x="424" y="0"/>
                </a:cubicBezTo>
                <a:cubicBezTo>
                  <a:pt x="451" y="0"/>
                  <a:pt x="480" y="2"/>
                  <a:pt x="507" y="8"/>
                </a:cubicBezTo>
                <a:cubicBezTo>
                  <a:pt x="534" y="13"/>
                  <a:pt x="561" y="21"/>
                  <a:pt x="587" y="32"/>
                </a:cubicBezTo>
                <a:cubicBezTo>
                  <a:pt x="612" y="43"/>
                  <a:pt x="637" y="56"/>
                  <a:pt x="660" y="71"/>
                </a:cubicBezTo>
                <a:cubicBezTo>
                  <a:pt x="683" y="87"/>
                  <a:pt x="704" y="104"/>
                  <a:pt x="724" y="124"/>
                </a:cubicBezTo>
                <a:cubicBezTo>
                  <a:pt x="744" y="143"/>
                  <a:pt x="761" y="165"/>
                  <a:pt x="777" y="188"/>
                </a:cubicBezTo>
                <a:cubicBezTo>
                  <a:pt x="792" y="211"/>
                  <a:pt x="805" y="235"/>
                  <a:pt x="816" y="261"/>
                </a:cubicBezTo>
                <a:cubicBezTo>
                  <a:pt x="826" y="287"/>
                  <a:pt x="834" y="313"/>
                  <a:pt x="840" y="340"/>
                </a:cubicBezTo>
                <a:cubicBezTo>
                  <a:pt x="845" y="368"/>
                  <a:pt x="848" y="395"/>
                  <a:pt x="848" y="423"/>
                </a:cubicBezTo>
                <a:close/>
              </a:path>
            </a:pathLst>
          </a:custGeom>
          <a:solidFill>
            <a:srgbClr val="E3EC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ZoneTexte 292"/>
          <p:cNvSpPr txBox="1"/>
          <p:nvPr/>
        </p:nvSpPr>
        <p:spPr>
          <a:xfrm>
            <a:off x="552600" y="2831760"/>
            <a:ext cx="1690200" cy="69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4800" b="1" u="none" strike="noStrike">
                <a:solidFill>
                  <a:srgbClr val="101828"/>
                </a:solidFill>
                <a:effectLst/>
                <a:uFillTx/>
                <a:latin typeface="Georgia"/>
                <a:ea typeface="Georgia"/>
              </a:rPr>
              <a:t>100%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ZoneTexte 293"/>
          <p:cNvSpPr txBox="1"/>
          <p:nvPr/>
        </p:nvSpPr>
        <p:spPr>
          <a:xfrm>
            <a:off x="379800" y="3912480"/>
            <a:ext cx="133200" cy="13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002FA7"/>
                </a:solidFill>
                <a:effectLst/>
                <a:uFillTx/>
                <a:latin typeface="FontAwesome6Free-Solid"/>
                <a:ea typeface="FontAwesome6Free-Solid"/>
              </a:rPr>
              <a:t>✓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ZoneTexte 294"/>
          <p:cNvSpPr txBox="1"/>
          <p:nvPr/>
        </p:nvSpPr>
        <p:spPr>
          <a:xfrm>
            <a:off x="743040" y="3871440"/>
            <a:ext cx="2656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101828"/>
                </a:solidFill>
                <a:effectLst/>
                <a:uFillTx/>
                <a:latin typeface="DejaVuSans"/>
                <a:ea typeface="DejaVuSans"/>
              </a:rPr>
              <a:t>20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ZoneTexte 295"/>
          <p:cNvSpPr txBox="1"/>
          <p:nvPr/>
        </p:nvSpPr>
        <p:spPr>
          <a:xfrm>
            <a:off x="1008000" y="390672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4A5565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Forme libre : forme 296"/>
          <p:cNvSpPr/>
          <p:nvPr/>
        </p:nvSpPr>
        <p:spPr>
          <a:xfrm>
            <a:off x="285480" y="4286160"/>
            <a:ext cx="305280" cy="304920"/>
          </a:xfrm>
          <a:custGeom>
            <a:avLst/>
            <a:gdLst/>
            <a:ahLst/>
            <a:cxnLst/>
            <a:rect l="0" t="0" r="r" b="b"/>
            <a:pathLst>
              <a:path w="848" h="847">
                <a:moveTo>
                  <a:pt x="848" y="424"/>
                </a:moveTo>
                <a:cubicBezTo>
                  <a:pt x="848" y="452"/>
                  <a:pt x="845" y="479"/>
                  <a:pt x="840" y="507"/>
                </a:cubicBezTo>
                <a:cubicBezTo>
                  <a:pt x="834" y="534"/>
                  <a:pt x="826" y="560"/>
                  <a:pt x="816" y="586"/>
                </a:cubicBezTo>
                <a:cubicBezTo>
                  <a:pt x="805" y="612"/>
                  <a:pt x="792" y="636"/>
                  <a:pt x="777" y="659"/>
                </a:cubicBezTo>
                <a:cubicBezTo>
                  <a:pt x="761" y="682"/>
                  <a:pt x="744" y="704"/>
                  <a:pt x="724" y="723"/>
                </a:cubicBezTo>
                <a:cubicBezTo>
                  <a:pt x="704" y="743"/>
                  <a:pt x="683" y="761"/>
                  <a:pt x="660" y="776"/>
                </a:cubicBezTo>
                <a:cubicBezTo>
                  <a:pt x="637" y="792"/>
                  <a:pt x="612" y="805"/>
                  <a:pt x="587" y="815"/>
                </a:cubicBezTo>
                <a:cubicBezTo>
                  <a:pt x="561" y="826"/>
                  <a:pt x="534" y="834"/>
                  <a:pt x="507" y="839"/>
                </a:cubicBezTo>
                <a:cubicBezTo>
                  <a:pt x="480" y="845"/>
                  <a:pt x="451" y="847"/>
                  <a:pt x="424" y="847"/>
                </a:cubicBezTo>
                <a:cubicBezTo>
                  <a:pt x="396" y="847"/>
                  <a:pt x="368" y="845"/>
                  <a:pt x="341" y="839"/>
                </a:cubicBezTo>
                <a:cubicBezTo>
                  <a:pt x="314" y="834"/>
                  <a:pt x="287" y="826"/>
                  <a:pt x="262" y="815"/>
                </a:cubicBezTo>
                <a:cubicBezTo>
                  <a:pt x="236" y="805"/>
                  <a:pt x="212" y="792"/>
                  <a:pt x="188" y="776"/>
                </a:cubicBezTo>
                <a:cubicBezTo>
                  <a:pt x="165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2" y="586"/>
                </a:cubicBezTo>
                <a:cubicBezTo>
                  <a:pt x="22" y="560"/>
                  <a:pt x="14" y="534"/>
                  <a:pt x="8" y="507"/>
                </a:cubicBezTo>
                <a:cubicBezTo>
                  <a:pt x="3" y="479"/>
                  <a:pt x="0" y="452"/>
                  <a:pt x="0" y="424"/>
                </a:cubicBezTo>
                <a:cubicBezTo>
                  <a:pt x="0" y="396"/>
                  <a:pt x="3" y="369"/>
                  <a:pt x="8" y="340"/>
                </a:cubicBezTo>
                <a:cubicBezTo>
                  <a:pt x="14" y="313"/>
                  <a:pt x="22" y="287"/>
                  <a:pt x="32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5" y="87"/>
                  <a:pt x="188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7" y="21"/>
                  <a:pt x="314" y="13"/>
                  <a:pt x="341" y="8"/>
                </a:cubicBezTo>
                <a:cubicBezTo>
                  <a:pt x="368" y="2"/>
                  <a:pt x="396" y="0"/>
                  <a:pt x="424" y="0"/>
                </a:cubicBezTo>
                <a:cubicBezTo>
                  <a:pt x="451" y="0"/>
                  <a:pt x="480" y="2"/>
                  <a:pt x="507" y="8"/>
                </a:cubicBezTo>
                <a:cubicBezTo>
                  <a:pt x="534" y="13"/>
                  <a:pt x="561" y="21"/>
                  <a:pt x="587" y="32"/>
                </a:cubicBezTo>
                <a:cubicBezTo>
                  <a:pt x="612" y="43"/>
                  <a:pt x="637" y="56"/>
                  <a:pt x="660" y="71"/>
                </a:cubicBezTo>
                <a:cubicBezTo>
                  <a:pt x="683" y="87"/>
                  <a:pt x="704" y="104"/>
                  <a:pt x="724" y="124"/>
                </a:cubicBezTo>
                <a:cubicBezTo>
                  <a:pt x="744" y="143"/>
                  <a:pt x="761" y="165"/>
                  <a:pt x="777" y="188"/>
                </a:cubicBezTo>
                <a:cubicBezTo>
                  <a:pt x="792" y="211"/>
                  <a:pt x="805" y="235"/>
                  <a:pt x="816" y="261"/>
                </a:cubicBezTo>
                <a:cubicBezTo>
                  <a:pt x="826" y="287"/>
                  <a:pt x="834" y="313"/>
                  <a:pt x="840" y="340"/>
                </a:cubicBezTo>
                <a:cubicBezTo>
                  <a:pt x="845" y="369"/>
                  <a:pt x="848" y="396"/>
                  <a:pt x="848" y="424"/>
                </a:cubicBezTo>
                <a:close/>
              </a:path>
            </a:pathLst>
          </a:custGeom>
          <a:solidFill>
            <a:srgbClr val="E3EC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ZoneTexte 297"/>
          <p:cNvSpPr txBox="1"/>
          <p:nvPr/>
        </p:nvSpPr>
        <p:spPr>
          <a:xfrm>
            <a:off x="1132920" y="3906720"/>
            <a:ext cx="10641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4A5565"/>
                </a:solidFill>
                <a:effectLst/>
                <a:uFillTx/>
                <a:latin typeface="DejaVuSans"/>
                <a:ea typeface="DejaVuSans"/>
              </a:rPr>
              <a:t>Vrais Négatifs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ZoneTexte 298"/>
          <p:cNvSpPr txBox="1"/>
          <p:nvPr/>
        </p:nvSpPr>
        <p:spPr>
          <a:xfrm>
            <a:off x="379800" y="4369680"/>
            <a:ext cx="133200" cy="13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002FA7"/>
                </a:solidFill>
                <a:effectLst/>
                <a:uFillTx/>
                <a:latin typeface="FontAwesome6Free-Solid"/>
                <a:ea typeface="FontAwesome6Free-Solid"/>
              </a:rPr>
              <a:t>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ZoneTexte 299"/>
          <p:cNvSpPr txBox="1"/>
          <p:nvPr/>
        </p:nvSpPr>
        <p:spPr>
          <a:xfrm>
            <a:off x="743040" y="4328640"/>
            <a:ext cx="2656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101828"/>
                </a:solidFill>
                <a:effectLst/>
                <a:uFillTx/>
                <a:latin typeface="DejaVuSans"/>
                <a:ea typeface="DejaVuSans"/>
              </a:rPr>
              <a:t>10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ZoneTexte 300"/>
          <p:cNvSpPr txBox="1"/>
          <p:nvPr/>
        </p:nvSpPr>
        <p:spPr>
          <a:xfrm>
            <a:off x="1008000" y="436392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4A5565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Forme libre : forme 301"/>
          <p:cNvSpPr/>
          <p:nvPr/>
        </p:nvSpPr>
        <p:spPr>
          <a:xfrm>
            <a:off x="285480" y="4743360"/>
            <a:ext cx="305280" cy="304920"/>
          </a:xfrm>
          <a:custGeom>
            <a:avLst/>
            <a:gdLst/>
            <a:ahLst/>
            <a:cxnLst/>
            <a:rect l="0" t="0" r="r" b="b"/>
            <a:pathLst>
              <a:path w="848" h="847">
                <a:moveTo>
                  <a:pt x="848" y="423"/>
                </a:moveTo>
                <a:cubicBezTo>
                  <a:pt x="848" y="451"/>
                  <a:pt x="845" y="478"/>
                  <a:pt x="840" y="506"/>
                </a:cubicBezTo>
                <a:cubicBezTo>
                  <a:pt x="834" y="533"/>
                  <a:pt x="826" y="559"/>
                  <a:pt x="816" y="585"/>
                </a:cubicBezTo>
                <a:cubicBezTo>
                  <a:pt x="805" y="611"/>
                  <a:pt x="792" y="635"/>
                  <a:pt x="777" y="658"/>
                </a:cubicBezTo>
                <a:cubicBezTo>
                  <a:pt x="761" y="681"/>
                  <a:pt x="744" y="703"/>
                  <a:pt x="724" y="722"/>
                </a:cubicBezTo>
                <a:cubicBezTo>
                  <a:pt x="704" y="742"/>
                  <a:pt x="683" y="760"/>
                  <a:pt x="660" y="775"/>
                </a:cubicBezTo>
                <a:cubicBezTo>
                  <a:pt x="637" y="792"/>
                  <a:pt x="612" y="805"/>
                  <a:pt x="587" y="815"/>
                </a:cubicBezTo>
                <a:cubicBezTo>
                  <a:pt x="561" y="826"/>
                  <a:pt x="534" y="834"/>
                  <a:pt x="507" y="839"/>
                </a:cubicBezTo>
                <a:cubicBezTo>
                  <a:pt x="480" y="845"/>
                  <a:pt x="451" y="847"/>
                  <a:pt x="424" y="847"/>
                </a:cubicBezTo>
                <a:cubicBezTo>
                  <a:pt x="396" y="847"/>
                  <a:pt x="368" y="845"/>
                  <a:pt x="341" y="839"/>
                </a:cubicBezTo>
                <a:cubicBezTo>
                  <a:pt x="314" y="834"/>
                  <a:pt x="287" y="826"/>
                  <a:pt x="262" y="815"/>
                </a:cubicBezTo>
                <a:cubicBezTo>
                  <a:pt x="236" y="805"/>
                  <a:pt x="212" y="792"/>
                  <a:pt x="188" y="775"/>
                </a:cubicBezTo>
                <a:cubicBezTo>
                  <a:pt x="165" y="760"/>
                  <a:pt x="144" y="742"/>
                  <a:pt x="124" y="722"/>
                </a:cubicBezTo>
                <a:cubicBezTo>
                  <a:pt x="105" y="703"/>
                  <a:pt x="87" y="681"/>
                  <a:pt x="72" y="658"/>
                </a:cubicBezTo>
                <a:cubicBezTo>
                  <a:pt x="56" y="635"/>
                  <a:pt x="43" y="611"/>
                  <a:pt x="32" y="585"/>
                </a:cubicBezTo>
                <a:cubicBezTo>
                  <a:pt x="22" y="559"/>
                  <a:pt x="14" y="533"/>
                  <a:pt x="8" y="506"/>
                </a:cubicBezTo>
                <a:cubicBezTo>
                  <a:pt x="3" y="478"/>
                  <a:pt x="0" y="451"/>
                  <a:pt x="0" y="423"/>
                </a:cubicBezTo>
                <a:cubicBezTo>
                  <a:pt x="0" y="395"/>
                  <a:pt x="3" y="368"/>
                  <a:pt x="8" y="340"/>
                </a:cubicBezTo>
                <a:cubicBezTo>
                  <a:pt x="14" y="313"/>
                  <a:pt x="22" y="287"/>
                  <a:pt x="32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5" y="87"/>
                  <a:pt x="188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7" y="21"/>
                  <a:pt x="314" y="13"/>
                  <a:pt x="341" y="8"/>
                </a:cubicBezTo>
                <a:cubicBezTo>
                  <a:pt x="368" y="2"/>
                  <a:pt x="396" y="0"/>
                  <a:pt x="424" y="0"/>
                </a:cubicBezTo>
                <a:cubicBezTo>
                  <a:pt x="451" y="0"/>
                  <a:pt x="480" y="2"/>
                  <a:pt x="507" y="8"/>
                </a:cubicBezTo>
                <a:cubicBezTo>
                  <a:pt x="534" y="13"/>
                  <a:pt x="561" y="21"/>
                  <a:pt x="587" y="32"/>
                </a:cubicBezTo>
                <a:cubicBezTo>
                  <a:pt x="612" y="43"/>
                  <a:pt x="637" y="56"/>
                  <a:pt x="660" y="71"/>
                </a:cubicBezTo>
                <a:cubicBezTo>
                  <a:pt x="683" y="87"/>
                  <a:pt x="704" y="104"/>
                  <a:pt x="724" y="124"/>
                </a:cubicBezTo>
                <a:cubicBezTo>
                  <a:pt x="744" y="143"/>
                  <a:pt x="761" y="165"/>
                  <a:pt x="777" y="188"/>
                </a:cubicBezTo>
                <a:cubicBezTo>
                  <a:pt x="792" y="211"/>
                  <a:pt x="805" y="235"/>
                  <a:pt x="816" y="261"/>
                </a:cubicBezTo>
                <a:cubicBezTo>
                  <a:pt x="826" y="287"/>
                  <a:pt x="834" y="313"/>
                  <a:pt x="840" y="340"/>
                </a:cubicBezTo>
                <a:cubicBezTo>
                  <a:pt x="845" y="368"/>
                  <a:pt x="848" y="395"/>
                  <a:pt x="848" y="423"/>
                </a:cubicBezTo>
                <a:close/>
              </a:path>
            </a:pathLst>
          </a:custGeom>
          <a:solidFill>
            <a:srgbClr val="DCFCE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ZoneTexte 302"/>
          <p:cNvSpPr txBox="1"/>
          <p:nvPr/>
        </p:nvSpPr>
        <p:spPr>
          <a:xfrm>
            <a:off x="1132920" y="4363920"/>
            <a:ext cx="9730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4A5565"/>
                </a:solidFill>
                <a:effectLst/>
                <a:uFillTx/>
                <a:latin typeface="DejaVuSans"/>
                <a:ea typeface="DejaVuSans"/>
              </a:rPr>
              <a:t>Vrais Positifs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ZoneTexte 303"/>
          <p:cNvSpPr txBox="1"/>
          <p:nvPr/>
        </p:nvSpPr>
        <p:spPr>
          <a:xfrm>
            <a:off x="371520" y="4826880"/>
            <a:ext cx="133200" cy="13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00A63E"/>
                </a:solidFill>
                <a:effectLst/>
                <a:uFillTx/>
                <a:latin typeface="FontAwesome6Free-Solid"/>
                <a:ea typeface="FontAwesome6Free-Solid"/>
              </a:rPr>
              <a:t>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Forme libre : forme 304"/>
          <p:cNvSpPr/>
          <p:nvPr/>
        </p:nvSpPr>
        <p:spPr>
          <a:xfrm>
            <a:off x="4667040" y="1295280"/>
            <a:ext cx="7239240" cy="3810240"/>
          </a:xfrm>
          <a:custGeom>
            <a:avLst/>
            <a:gdLst/>
            <a:ahLst/>
            <a:cxnLst/>
            <a:rect l="0" t="0" r="r" b="b"/>
            <a:pathLst>
              <a:path w="20109" h="10584">
                <a:moveTo>
                  <a:pt x="0" y="0"/>
                </a:moveTo>
                <a:lnTo>
                  <a:pt x="20109" y="0"/>
                </a:lnTo>
                <a:lnTo>
                  <a:pt x="20109" y="10584"/>
                </a:lnTo>
                <a:lnTo>
                  <a:pt x="0" y="10584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Forme libre : forme 305"/>
          <p:cNvSpPr/>
          <p:nvPr/>
        </p:nvSpPr>
        <p:spPr>
          <a:xfrm>
            <a:off x="4671720" y="1299960"/>
            <a:ext cx="7229880" cy="3800880"/>
          </a:xfrm>
          <a:custGeom>
            <a:avLst/>
            <a:gdLst/>
            <a:ahLst/>
            <a:cxnLst/>
            <a:rect l="0" t="0" r="r" b="b"/>
            <a:pathLst>
              <a:path w="20083" h="10558" fill="none">
                <a:moveTo>
                  <a:pt x="0" y="0"/>
                </a:moveTo>
                <a:lnTo>
                  <a:pt x="20083" y="0"/>
                </a:lnTo>
                <a:lnTo>
                  <a:pt x="20083" y="10558"/>
                </a:lnTo>
                <a:lnTo>
                  <a:pt x="0" y="10558"/>
                </a:lnTo>
                <a:lnTo>
                  <a:pt x="0" y="0"/>
                </a:lnTo>
              </a:path>
            </a:pathLst>
          </a:custGeom>
          <a:ln w="9360">
            <a:solidFill>
              <a:srgbClr val="D1D5DC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07" name="Image 306"/>
          <p:cNvPicPr/>
          <p:nvPr/>
        </p:nvPicPr>
        <p:blipFill>
          <a:blip r:embed="rId2"/>
          <a:stretch/>
        </p:blipFill>
        <p:spPr>
          <a:xfrm>
            <a:off x="4712760" y="1238400"/>
            <a:ext cx="7188840" cy="387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8" name="ZoneTexte 307"/>
          <p:cNvSpPr txBox="1"/>
          <p:nvPr/>
        </p:nvSpPr>
        <p:spPr>
          <a:xfrm>
            <a:off x="743040" y="4802040"/>
            <a:ext cx="1575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DejaVuSans"/>
                <a:ea typeface="DejaVuSans"/>
              </a:rPr>
              <a:t>Absence d’erreurs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ZoneTexte 308"/>
          <p:cNvSpPr txBox="1"/>
          <p:nvPr/>
        </p:nvSpPr>
        <p:spPr>
          <a:xfrm>
            <a:off x="4667400" y="53164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002FA7"/>
                </a:solidFill>
                <a:effectLst/>
                <a:uFillTx/>
                <a:latin typeface="DejaVuSans"/>
                <a:ea typeface="DejaVuSans"/>
              </a:rPr>
              <a:t>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ZoneTexte 309"/>
          <p:cNvSpPr txBox="1"/>
          <p:nvPr/>
        </p:nvSpPr>
        <p:spPr>
          <a:xfrm>
            <a:off x="4876560" y="5276160"/>
            <a:ext cx="625968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00" b="0" u="none" strike="noStrike">
                <a:solidFill>
                  <a:srgbClr val="6A7282"/>
                </a:solidFill>
                <a:effectLst/>
                <a:uFillTx/>
                <a:latin typeface="DejaVuSans"/>
                <a:ea typeface="DejaVuSans"/>
              </a:rPr>
              <a:t>Figure 2 – Matrice de confusion - Classiﬁcation binaire Iris. Le modèle prédit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Forme libre : forme 310"/>
          <p:cNvSpPr/>
          <p:nvPr/>
        </p:nvSpPr>
        <p:spPr>
          <a:xfrm>
            <a:off x="285480" y="6257880"/>
            <a:ext cx="11620800" cy="9720"/>
          </a:xfrm>
          <a:custGeom>
            <a:avLst/>
            <a:gdLst/>
            <a:ahLst/>
            <a:cxnLst/>
            <a:rect l="0" t="0" r="r" b="b"/>
            <a:pathLst>
              <a:path w="32280" h="27">
                <a:moveTo>
                  <a:pt x="0" y="0"/>
                </a:moveTo>
                <a:lnTo>
                  <a:pt x="32280" y="0"/>
                </a:lnTo>
                <a:lnTo>
                  <a:pt x="322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ZoneTexte 311"/>
          <p:cNvSpPr txBox="1"/>
          <p:nvPr/>
        </p:nvSpPr>
        <p:spPr>
          <a:xfrm>
            <a:off x="4876560" y="5523840"/>
            <a:ext cx="514512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00" b="0" u="none" strike="noStrike">
                <a:solidFill>
                  <a:srgbClr val="6A7282"/>
                </a:solidFill>
                <a:effectLst/>
                <a:uFillTx/>
                <a:latin typeface="DejaVuSans"/>
                <a:ea typeface="DejaVuSans"/>
              </a:rPr>
              <a:t>parfaitement la classe cible sans faux positifs ni faux négatifs.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ZoneTexte 312"/>
          <p:cNvSpPr txBox="1"/>
          <p:nvPr/>
        </p:nvSpPr>
        <p:spPr>
          <a:xfrm>
            <a:off x="285840" y="6428160"/>
            <a:ext cx="29228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99A1AF"/>
                </a:solidFill>
                <a:effectLst/>
                <a:uFillTx/>
                <a:latin typeface="DejaVuSans"/>
                <a:ea typeface="DejaVuSans"/>
              </a:rPr>
              <a:t>Mini-Projet Machine Learning | M1 IA | Janvier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ZoneTexte 313"/>
          <p:cNvSpPr txBox="1"/>
          <p:nvPr/>
        </p:nvSpPr>
        <p:spPr>
          <a:xfrm>
            <a:off x="11760840" y="6428160"/>
            <a:ext cx="1461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99A1AF"/>
                </a:solidFill>
                <a:effectLst/>
                <a:uFillTx/>
                <a:latin typeface="DejaVuSans"/>
                <a:ea typeface="DejaVuSan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Forme libre : forme 31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Forme libre : forme 315"/>
          <p:cNvSpPr/>
          <p:nvPr/>
        </p:nvSpPr>
        <p:spPr>
          <a:xfrm>
            <a:off x="285480" y="628560"/>
            <a:ext cx="11620800" cy="9720"/>
          </a:xfrm>
          <a:custGeom>
            <a:avLst/>
            <a:gdLst/>
            <a:ahLst/>
            <a:cxnLst/>
            <a:rect l="0" t="0" r="r" b="b"/>
            <a:pathLst>
              <a:path w="32280" h="27">
                <a:moveTo>
                  <a:pt x="0" y="0"/>
                </a:moveTo>
                <a:lnTo>
                  <a:pt x="32280" y="0"/>
                </a:lnTo>
                <a:lnTo>
                  <a:pt x="322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ZoneTexte 316"/>
          <p:cNvSpPr txBox="1"/>
          <p:nvPr/>
        </p:nvSpPr>
        <p:spPr>
          <a:xfrm>
            <a:off x="285840" y="317160"/>
            <a:ext cx="1107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1" u="none" strike="noStrike">
                <a:solidFill>
                  <a:srgbClr val="101828"/>
                </a:solidFill>
                <a:effectLst/>
                <a:uFillTx/>
                <a:latin typeface="DejaVuSans"/>
                <a:ea typeface="DejaVuSans"/>
              </a:rPr>
              <a:t>RÉSULTATS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ZoneTexte 317"/>
          <p:cNvSpPr txBox="1"/>
          <p:nvPr/>
        </p:nvSpPr>
        <p:spPr>
          <a:xfrm>
            <a:off x="10178280" y="343080"/>
            <a:ext cx="17190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101828"/>
                </a:solidFill>
                <a:effectLst/>
                <a:uFillTx/>
                <a:latin typeface="DejaVuSans"/>
                <a:ea typeface="DejaVuSans"/>
              </a:rPr>
              <a:t>Synthèse des résultats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Forme libre : forme 318"/>
          <p:cNvSpPr/>
          <p:nvPr/>
        </p:nvSpPr>
        <p:spPr>
          <a:xfrm>
            <a:off x="285480" y="4667040"/>
            <a:ext cx="11620800" cy="1286280"/>
          </a:xfrm>
          <a:custGeom>
            <a:avLst/>
            <a:gdLst/>
            <a:ahLst/>
            <a:cxnLst/>
            <a:rect l="0" t="0" r="r" b="b"/>
            <a:pathLst>
              <a:path w="32280" h="3573">
                <a:moveTo>
                  <a:pt x="0" y="0"/>
                </a:moveTo>
                <a:lnTo>
                  <a:pt x="32280" y="0"/>
                </a:lnTo>
                <a:lnTo>
                  <a:pt x="32280" y="3573"/>
                </a:lnTo>
                <a:lnTo>
                  <a:pt x="0" y="3573"/>
                </a:lnTo>
                <a:lnTo>
                  <a:pt x="0" y="0"/>
                </a:lnTo>
                <a:close/>
              </a:path>
            </a:pathLst>
          </a:custGeom>
          <a:solidFill>
            <a:srgbClr val="002FA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ZoneTexte 319"/>
          <p:cNvSpPr txBox="1"/>
          <p:nvPr/>
        </p:nvSpPr>
        <p:spPr>
          <a:xfrm>
            <a:off x="285840" y="873000"/>
            <a:ext cx="541044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400" b="0" u="none" strike="noStrike">
                <a:solidFill>
                  <a:srgbClr val="101828"/>
                </a:solidFill>
                <a:effectLst/>
                <a:uFillTx/>
                <a:latin typeface="Georgia"/>
                <a:ea typeface="Georgia"/>
              </a:rPr>
              <a:t>Synthèse comparative des performances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ZoneTexte 321"/>
          <p:cNvSpPr txBox="1"/>
          <p:nvPr/>
        </p:nvSpPr>
        <p:spPr>
          <a:xfrm>
            <a:off x="957240" y="4915080"/>
            <a:ext cx="18064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DBEAFE"/>
                </a:solidFill>
                <a:effectLst/>
                <a:uFillTx/>
                <a:latin typeface="DejaVuSans"/>
                <a:ea typeface="DejaVuSans"/>
              </a:rPr>
              <a:t>CONCLUSION GÉNÉRALE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ZoneTexte 322"/>
          <p:cNvSpPr txBox="1"/>
          <p:nvPr/>
        </p:nvSpPr>
        <p:spPr>
          <a:xfrm>
            <a:off x="285840" y="6428160"/>
            <a:ext cx="166068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99A1AF"/>
                </a:solidFill>
                <a:effectLst/>
                <a:uFillTx/>
                <a:latin typeface="DejaVuSans"/>
                <a:ea typeface="DejaVuSans"/>
              </a:rPr>
              <a:t>Mini-Projet Machine Learning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Forme libre : forme 323"/>
          <p:cNvSpPr/>
          <p:nvPr/>
        </p:nvSpPr>
        <p:spPr>
          <a:xfrm>
            <a:off x="285480" y="1457280"/>
            <a:ext cx="5696280" cy="2981520"/>
          </a:xfrm>
          <a:custGeom>
            <a:avLst/>
            <a:gdLst/>
            <a:ahLst/>
            <a:cxnLst/>
            <a:rect l="0" t="0" r="r" b="b"/>
            <a:pathLst>
              <a:path w="15823" h="8282">
                <a:moveTo>
                  <a:pt x="0" y="0"/>
                </a:moveTo>
                <a:lnTo>
                  <a:pt x="15823" y="0"/>
                </a:lnTo>
                <a:lnTo>
                  <a:pt x="15823" y="8282"/>
                </a:lnTo>
                <a:lnTo>
                  <a:pt x="0" y="8282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Forme libre : forme 324"/>
          <p:cNvSpPr/>
          <p:nvPr/>
        </p:nvSpPr>
        <p:spPr>
          <a:xfrm>
            <a:off x="290160" y="1461960"/>
            <a:ext cx="5686920" cy="2972160"/>
          </a:xfrm>
          <a:custGeom>
            <a:avLst/>
            <a:gdLst/>
            <a:ahLst/>
            <a:cxnLst/>
            <a:rect l="0" t="0" r="r" b="b"/>
            <a:pathLst>
              <a:path w="15797" h="8256" fill="none">
                <a:moveTo>
                  <a:pt x="0" y="0"/>
                </a:moveTo>
                <a:lnTo>
                  <a:pt x="15797" y="0"/>
                </a:lnTo>
                <a:lnTo>
                  <a:pt x="15797" y="8256"/>
                </a:lnTo>
                <a:lnTo>
                  <a:pt x="0" y="8256"/>
                </a:lnTo>
                <a:lnTo>
                  <a:pt x="0" y="0"/>
                </a:ln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Forme libre : forme 325"/>
          <p:cNvSpPr/>
          <p:nvPr/>
        </p:nvSpPr>
        <p:spPr>
          <a:xfrm>
            <a:off x="523800" y="3105000"/>
            <a:ext cx="5220000" cy="9720"/>
          </a:xfrm>
          <a:custGeom>
            <a:avLst/>
            <a:gdLst/>
            <a:ahLst/>
            <a:cxnLst/>
            <a:rect l="0" t="0" r="r" b="b"/>
            <a:pathLst>
              <a:path w="14500" h="27">
                <a:moveTo>
                  <a:pt x="0" y="0"/>
                </a:moveTo>
                <a:lnTo>
                  <a:pt x="14500" y="0"/>
                </a:lnTo>
                <a:lnTo>
                  <a:pt x="145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Forme libre : forme 326"/>
          <p:cNvSpPr/>
          <p:nvPr/>
        </p:nvSpPr>
        <p:spPr>
          <a:xfrm>
            <a:off x="523800" y="169524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1271" y="635"/>
                </a:moveTo>
                <a:cubicBezTo>
                  <a:pt x="1271" y="656"/>
                  <a:pt x="1270" y="677"/>
                  <a:pt x="1268" y="697"/>
                </a:cubicBezTo>
                <a:cubicBezTo>
                  <a:pt x="1266" y="718"/>
                  <a:pt x="1263" y="739"/>
                  <a:pt x="1259" y="759"/>
                </a:cubicBezTo>
                <a:cubicBezTo>
                  <a:pt x="1254" y="779"/>
                  <a:pt x="1249" y="800"/>
                  <a:pt x="1243" y="819"/>
                </a:cubicBezTo>
                <a:cubicBezTo>
                  <a:pt x="1237" y="839"/>
                  <a:pt x="1230" y="859"/>
                  <a:pt x="1222" y="878"/>
                </a:cubicBezTo>
                <a:cubicBezTo>
                  <a:pt x="1214" y="897"/>
                  <a:pt x="1206" y="916"/>
                  <a:pt x="1196" y="934"/>
                </a:cubicBezTo>
                <a:cubicBezTo>
                  <a:pt x="1186" y="953"/>
                  <a:pt x="1175" y="971"/>
                  <a:pt x="1164" y="988"/>
                </a:cubicBezTo>
                <a:cubicBezTo>
                  <a:pt x="1152" y="1006"/>
                  <a:pt x="1140" y="1023"/>
                  <a:pt x="1127" y="1039"/>
                </a:cubicBezTo>
                <a:cubicBezTo>
                  <a:pt x="1113" y="1055"/>
                  <a:pt x="1099" y="1070"/>
                  <a:pt x="1085" y="1085"/>
                </a:cubicBezTo>
                <a:cubicBezTo>
                  <a:pt x="1070" y="1100"/>
                  <a:pt x="1055" y="1114"/>
                  <a:pt x="1039" y="1127"/>
                </a:cubicBezTo>
                <a:cubicBezTo>
                  <a:pt x="1022" y="1140"/>
                  <a:pt x="1006" y="1153"/>
                  <a:pt x="988" y="1164"/>
                </a:cubicBezTo>
                <a:cubicBezTo>
                  <a:pt x="971" y="1176"/>
                  <a:pt x="953" y="1186"/>
                  <a:pt x="935" y="1196"/>
                </a:cubicBezTo>
                <a:cubicBezTo>
                  <a:pt x="917" y="1206"/>
                  <a:pt x="898" y="1215"/>
                  <a:pt x="879" y="1223"/>
                </a:cubicBezTo>
                <a:cubicBezTo>
                  <a:pt x="859" y="1231"/>
                  <a:pt x="840" y="1238"/>
                  <a:pt x="820" y="1244"/>
                </a:cubicBezTo>
                <a:cubicBezTo>
                  <a:pt x="800" y="1250"/>
                  <a:pt x="780" y="1255"/>
                  <a:pt x="760" y="1259"/>
                </a:cubicBezTo>
                <a:cubicBezTo>
                  <a:pt x="739" y="1263"/>
                  <a:pt x="719" y="1266"/>
                  <a:pt x="698" y="1268"/>
                </a:cubicBezTo>
                <a:cubicBezTo>
                  <a:pt x="677" y="1270"/>
                  <a:pt x="657" y="1271"/>
                  <a:pt x="636" y="1271"/>
                </a:cubicBezTo>
                <a:cubicBezTo>
                  <a:pt x="615" y="1271"/>
                  <a:pt x="594" y="1270"/>
                  <a:pt x="573" y="1268"/>
                </a:cubicBezTo>
                <a:cubicBezTo>
                  <a:pt x="553" y="1266"/>
                  <a:pt x="532" y="1263"/>
                  <a:pt x="512" y="1259"/>
                </a:cubicBezTo>
                <a:cubicBezTo>
                  <a:pt x="491" y="1255"/>
                  <a:pt x="471" y="1250"/>
                  <a:pt x="451" y="1244"/>
                </a:cubicBezTo>
                <a:cubicBezTo>
                  <a:pt x="430" y="1238"/>
                  <a:pt x="411" y="1231"/>
                  <a:pt x="392" y="1223"/>
                </a:cubicBezTo>
                <a:cubicBezTo>
                  <a:pt x="372" y="1215"/>
                  <a:pt x="354" y="1206"/>
                  <a:pt x="335" y="1196"/>
                </a:cubicBezTo>
                <a:cubicBezTo>
                  <a:pt x="317" y="1186"/>
                  <a:pt x="299" y="1176"/>
                  <a:pt x="282" y="1164"/>
                </a:cubicBezTo>
                <a:cubicBezTo>
                  <a:pt x="265" y="1153"/>
                  <a:pt x="248" y="1140"/>
                  <a:pt x="232" y="1127"/>
                </a:cubicBezTo>
                <a:cubicBezTo>
                  <a:pt x="216" y="1114"/>
                  <a:pt x="200" y="1100"/>
                  <a:pt x="186" y="1085"/>
                </a:cubicBezTo>
                <a:cubicBezTo>
                  <a:pt x="171" y="1070"/>
                  <a:pt x="157" y="1055"/>
                  <a:pt x="144" y="1039"/>
                </a:cubicBezTo>
                <a:cubicBezTo>
                  <a:pt x="131" y="1023"/>
                  <a:pt x="118" y="1006"/>
                  <a:pt x="107" y="988"/>
                </a:cubicBezTo>
                <a:cubicBezTo>
                  <a:pt x="95" y="971"/>
                  <a:pt x="84" y="953"/>
                  <a:pt x="75" y="934"/>
                </a:cubicBezTo>
                <a:cubicBezTo>
                  <a:pt x="65" y="916"/>
                  <a:pt x="56" y="897"/>
                  <a:pt x="48" y="878"/>
                </a:cubicBezTo>
                <a:cubicBezTo>
                  <a:pt x="40" y="859"/>
                  <a:pt x="33" y="839"/>
                  <a:pt x="27" y="819"/>
                </a:cubicBezTo>
                <a:cubicBezTo>
                  <a:pt x="21" y="800"/>
                  <a:pt x="16" y="779"/>
                  <a:pt x="12" y="759"/>
                </a:cubicBezTo>
                <a:cubicBezTo>
                  <a:pt x="8" y="739"/>
                  <a:pt x="5" y="718"/>
                  <a:pt x="3" y="697"/>
                </a:cubicBezTo>
                <a:cubicBezTo>
                  <a:pt x="1" y="677"/>
                  <a:pt x="0" y="656"/>
                  <a:pt x="0" y="635"/>
                </a:cubicBezTo>
                <a:cubicBezTo>
                  <a:pt x="0" y="614"/>
                  <a:pt x="1" y="594"/>
                  <a:pt x="3" y="573"/>
                </a:cubicBezTo>
                <a:cubicBezTo>
                  <a:pt x="5" y="552"/>
                  <a:pt x="8" y="532"/>
                  <a:pt x="12" y="511"/>
                </a:cubicBezTo>
                <a:cubicBezTo>
                  <a:pt x="16" y="491"/>
                  <a:pt x="21" y="471"/>
                  <a:pt x="27" y="451"/>
                </a:cubicBezTo>
                <a:cubicBezTo>
                  <a:pt x="33" y="431"/>
                  <a:pt x="40" y="411"/>
                  <a:pt x="48" y="392"/>
                </a:cubicBezTo>
                <a:cubicBezTo>
                  <a:pt x="56" y="373"/>
                  <a:pt x="65" y="354"/>
                  <a:pt x="75" y="336"/>
                </a:cubicBezTo>
                <a:cubicBezTo>
                  <a:pt x="84" y="317"/>
                  <a:pt x="95" y="300"/>
                  <a:pt x="107" y="282"/>
                </a:cubicBezTo>
                <a:cubicBezTo>
                  <a:pt x="118" y="265"/>
                  <a:pt x="131" y="248"/>
                  <a:pt x="144" y="232"/>
                </a:cubicBezTo>
                <a:cubicBezTo>
                  <a:pt x="157" y="216"/>
                  <a:pt x="171" y="201"/>
                  <a:pt x="186" y="186"/>
                </a:cubicBezTo>
                <a:cubicBezTo>
                  <a:pt x="200" y="171"/>
                  <a:pt x="216" y="157"/>
                  <a:pt x="232" y="144"/>
                </a:cubicBezTo>
                <a:cubicBezTo>
                  <a:pt x="248" y="131"/>
                  <a:pt x="265" y="119"/>
                  <a:pt x="282" y="107"/>
                </a:cubicBezTo>
                <a:cubicBezTo>
                  <a:pt x="299" y="96"/>
                  <a:pt x="317" y="85"/>
                  <a:pt x="335" y="75"/>
                </a:cubicBezTo>
                <a:cubicBezTo>
                  <a:pt x="354" y="65"/>
                  <a:pt x="372" y="56"/>
                  <a:pt x="392" y="48"/>
                </a:cubicBezTo>
                <a:cubicBezTo>
                  <a:pt x="411" y="40"/>
                  <a:pt x="430" y="33"/>
                  <a:pt x="451" y="27"/>
                </a:cubicBezTo>
                <a:cubicBezTo>
                  <a:pt x="471" y="21"/>
                  <a:pt x="491" y="16"/>
                  <a:pt x="512" y="12"/>
                </a:cubicBezTo>
                <a:cubicBezTo>
                  <a:pt x="532" y="8"/>
                  <a:pt x="553" y="5"/>
                  <a:pt x="573" y="3"/>
                </a:cubicBezTo>
                <a:cubicBezTo>
                  <a:pt x="594" y="1"/>
                  <a:pt x="615" y="0"/>
                  <a:pt x="636" y="0"/>
                </a:cubicBezTo>
                <a:cubicBezTo>
                  <a:pt x="657" y="0"/>
                  <a:pt x="677" y="1"/>
                  <a:pt x="698" y="3"/>
                </a:cubicBezTo>
                <a:cubicBezTo>
                  <a:pt x="719" y="5"/>
                  <a:pt x="739" y="8"/>
                  <a:pt x="760" y="12"/>
                </a:cubicBezTo>
                <a:cubicBezTo>
                  <a:pt x="780" y="16"/>
                  <a:pt x="800" y="21"/>
                  <a:pt x="820" y="27"/>
                </a:cubicBezTo>
                <a:cubicBezTo>
                  <a:pt x="840" y="33"/>
                  <a:pt x="859" y="40"/>
                  <a:pt x="879" y="48"/>
                </a:cubicBezTo>
                <a:cubicBezTo>
                  <a:pt x="898" y="56"/>
                  <a:pt x="917" y="65"/>
                  <a:pt x="935" y="75"/>
                </a:cubicBezTo>
                <a:cubicBezTo>
                  <a:pt x="953" y="85"/>
                  <a:pt x="971" y="96"/>
                  <a:pt x="988" y="107"/>
                </a:cubicBezTo>
                <a:cubicBezTo>
                  <a:pt x="1006" y="119"/>
                  <a:pt x="1022" y="131"/>
                  <a:pt x="1039" y="144"/>
                </a:cubicBezTo>
                <a:cubicBezTo>
                  <a:pt x="1055" y="157"/>
                  <a:pt x="1070" y="171"/>
                  <a:pt x="1085" y="186"/>
                </a:cubicBezTo>
                <a:cubicBezTo>
                  <a:pt x="1099" y="201"/>
                  <a:pt x="1113" y="216"/>
                  <a:pt x="1127" y="232"/>
                </a:cubicBezTo>
                <a:cubicBezTo>
                  <a:pt x="1140" y="248"/>
                  <a:pt x="1152" y="265"/>
                  <a:pt x="1164" y="282"/>
                </a:cubicBezTo>
                <a:cubicBezTo>
                  <a:pt x="1175" y="300"/>
                  <a:pt x="1186" y="317"/>
                  <a:pt x="1196" y="336"/>
                </a:cubicBezTo>
                <a:cubicBezTo>
                  <a:pt x="1206" y="354"/>
                  <a:pt x="1214" y="373"/>
                  <a:pt x="1222" y="392"/>
                </a:cubicBezTo>
                <a:cubicBezTo>
                  <a:pt x="1230" y="411"/>
                  <a:pt x="1237" y="431"/>
                  <a:pt x="1243" y="451"/>
                </a:cubicBezTo>
                <a:cubicBezTo>
                  <a:pt x="1249" y="471"/>
                  <a:pt x="1254" y="491"/>
                  <a:pt x="1259" y="511"/>
                </a:cubicBezTo>
                <a:cubicBezTo>
                  <a:pt x="1263" y="532"/>
                  <a:pt x="1266" y="552"/>
                  <a:pt x="1268" y="573"/>
                </a:cubicBezTo>
                <a:cubicBezTo>
                  <a:pt x="1270" y="594"/>
                  <a:pt x="1271" y="614"/>
                  <a:pt x="1271" y="635"/>
                </a:cubicBezTo>
                <a:close/>
              </a:path>
            </a:pathLst>
          </a:custGeom>
          <a:solidFill>
            <a:srgbClr val="E3EC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ZoneTexte 327"/>
          <p:cNvSpPr txBox="1"/>
          <p:nvPr/>
        </p:nvSpPr>
        <p:spPr>
          <a:xfrm>
            <a:off x="11760840" y="6428160"/>
            <a:ext cx="1461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99A1AF"/>
                </a:solidFill>
                <a:effectLst/>
                <a:uFillTx/>
                <a:latin typeface="DejaVuSans"/>
                <a:ea typeface="DejaVuSan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ZoneTexte 328"/>
          <p:cNvSpPr txBox="1"/>
          <p:nvPr/>
        </p:nvSpPr>
        <p:spPr>
          <a:xfrm>
            <a:off x="666720" y="1831320"/>
            <a:ext cx="171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002FA7"/>
                </a:solidFill>
                <a:effectLst/>
                <a:uFillTx/>
                <a:latin typeface="FontAwesome6Free-Solid"/>
                <a:ea typeface="FontAwesome6Free-Solid"/>
              </a:rPr>
              <a:t>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ZoneTexte 329"/>
          <p:cNvSpPr txBox="1"/>
          <p:nvPr/>
        </p:nvSpPr>
        <p:spPr>
          <a:xfrm>
            <a:off x="1133640" y="1824120"/>
            <a:ext cx="14986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101828"/>
                </a:solidFill>
                <a:effectLst/>
                <a:uFillTx/>
                <a:latin typeface="Georgia"/>
                <a:ea typeface="Georgia"/>
              </a:rPr>
              <a:t>Régression Linéaire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ZoneTexte 330"/>
          <p:cNvSpPr txBox="1"/>
          <p:nvPr/>
        </p:nvSpPr>
        <p:spPr>
          <a:xfrm>
            <a:off x="523800" y="2389320"/>
            <a:ext cx="16038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1" u="none" strike="noStrike">
                <a:solidFill>
                  <a:srgbClr val="6A7282"/>
                </a:solidFill>
                <a:effectLst/>
                <a:uFillTx/>
                <a:latin typeface="DejaVuSans"/>
                <a:ea typeface="DejaVuSans"/>
              </a:rPr>
              <a:t>PERFORMANCE GLOBALE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ZoneTexte 331"/>
          <p:cNvSpPr txBox="1"/>
          <p:nvPr/>
        </p:nvSpPr>
        <p:spPr>
          <a:xfrm>
            <a:off x="523800" y="2562120"/>
            <a:ext cx="147816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0" u="none" strike="noStrike" dirty="0">
                <a:solidFill>
                  <a:srgbClr val="002FA7"/>
                </a:solidFill>
                <a:effectLst/>
                <a:uFillTx/>
                <a:latin typeface="Georgia"/>
                <a:ea typeface="Georgia"/>
              </a:rPr>
              <a:t>R² = 0.78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ZoneTexte 332"/>
          <p:cNvSpPr txBox="1"/>
          <p:nvPr/>
        </p:nvSpPr>
        <p:spPr>
          <a:xfrm>
            <a:off x="2115720" y="2752920"/>
            <a:ext cx="11538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A7282"/>
                </a:solidFill>
                <a:effectLst/>
                <a:uFillTx/>
                <a:latin typeface="DejaVuSans"/>
                <a:ea typeface="DejaVuSans"/>
              </a:rPr>
              <a:t>(Bon ajustement)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ZoneTexte 333"/>
          <p:cNvSpPr txBox="1"/>
          <p:nvPr/>
        </p:nvSpPr>
        <p:spPr>
          <a:xfrm>
            <a:off x="523800" y="3286080"/>
            <a:ext cx="13449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101828"/>
                </a:solidFill>
                <a:effectLst/>
                <a:uFillTx/>
                <a:latin typeface="DejaVuSans"/>
                <a:ea typeface="DejaVuSans"/>
              </a:rPr>
              <a:t>Facteur Dominant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ZoneTexte 334"/>
          <p:cNvSpPr txBox="1"/>
          <p:nvPr/>
        </p:nvSpPr>
        <p:spPr>
          <a:xfrm>
            <a:off x="523800" y="3563640"/>
            <a:ext cx="33660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4A5565"/>
                </a:solidFill>
                <a:effectLst/>
                <a:uFillTx/>
                <a:latin typeface="DejaVuSans"/>
                <a:ea typeface="DejaVuSans"/>
              </a:rPr>
              <a:t>Impact majeur du </a:t>
            </a:r>
            <a:r>
              <a:rPr lang="en-US" sz="1200" b="1" u="none" strike="noStrike">
                <a:solidFill>
                  <a:srgbClr val="002FA7"/>
                </a:solidFill>
                <a:effectLst/>
                <a:uFillTx/>
                <a:latin typeface="DejaVuSans"/>
                <a:ea typeface="DejaVuSans"/>
              </a:rPr>
              <a:t>tabagisme</a:t>
            </a:r>
            <a:r>
              <a:rPr lang="en-US" sz="1200" b="0" u="none" strike="noStrike">
                <a:solidFill>
                  <a:srgbClr val="4A5565"/>
                </a:solidFill>
                <a:effectLst/>
                <a:uFillTx/>
                <a:latin typeface="DejaVuSans"/>
                <a:ea typeface="DejaVuSans"/>
              </a:rPr>
              <a:t> sur les coûts.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Forme libre : forme 335"/>
          <p:cNvSpPr/>
          <p:nvPr/>
        </p:nvSpPr>
        <p:spPr>
          <a:xfrm>
            <a:off x="295200" y="1466640"/>
            <a:ext cx="57240" cy="2962800"/>
          </a:xfrm>
          <a:custGeom>
            <a:avLst/>
            <a:gdLst/>
            <a:ahLst/>
            <a:cxnLst/>
            <a:rect l="0" t="0" r="r" b="b"/>
            <a:pathLst>
              <a:path w="159" h="8230">
                <a:moveTo>
                  <a:pt x="0" y="0"/>
                </a:moveTo>
                <a:lnTo>
                  <a:pt x="159" y="0"/>
                </a:lnTo>
                <a:lnTo>
                  <a:pt x="159" y="8230"/>
                </a:lnTo>
                <a:lnTo>
                  <a:pt x="0" y="8230"/>
                </a:lnTo>
                <a:lnTo>
                  <a:pt x="0" y="0"/>
                </a:lnTo>
                <a:close/>
              </a:path>
            </a:pathLst>
          </a:custGeom>
          <a:solidFill>
            <a:srgbClr val="002FA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Forme libre : forme 336"/>
          <p:cNvSpPr/>
          <p:nvPr/>
        </p:nvSpPr>
        <p:spPr>
          <a:xfrm>
            <a:off x="6210000" y="1457280"/>
            <a:ext cx="5696280" cy="2981520"/>
          </a:xfrm>
          <a:custGeom>
            <a:avLst/>
            <a:gdLst/>
            <a:ahLst/>
            <a:cxnLst/>
            <a:rect l="0" t="0" r="r" b="b"/>
            <a:pathLst>
              <a:path w="15823" h="8282">
                <a:moveTo>
                  <a:pt x="0" y="0"/>
                </a:moveTo>
                <a:lnTo>
                  <a:pt x="15823" y="0"/>
                </a:lnTo>
                <a:lnTo>
                  <a:pt x="15823" y="8282"/>
                </a:lnTo>
                <a:lnTo>
                  <a:pt x="0" y="8282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Forme libre : forme 337"/>
          <p:cNvSpPr/>
          <p:nvPr/>
        </p:nvSpPr>
        <p:spPr>
          <a:xfrm>
            <a:off x="6215040" y="1461960"/>
            <a:ext cx="5686560" cy="2972160"/>
          </a:xfrm>
          <a:custGeom>
            <a:avLst/>
            <a:gdLst/>
            <a:ahLst/>
            <a:cxnLst/>
            <a:rect l="0" t="0" r="r" b="b"/>
            <a:pathLst>
              <a:path w="15796" h="8256" fill="none">
                <a:moveTo>
                  <a:pt x="0" y="0"/>
                </a:moveTo>
                <a:lnTo>
                  <a:pt x="15796" y="0"/>
                </a:lnTo>
                <a:lnTo>
                  <a:pt x="15796" y="8256"/>
                </a:lnTo>
                <a:lnTo>
                  <a:pt x="0" y="8256"/>
                </a:lnTo>
                <a:lnTo>
                  <a:pt x="0" y="0"/>
                </a:ln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Forme libre : forme 338"/>
          <p:cNvSpPr/>
          <p:nvPr/>
        </p:nvSpPr>
        <p:spPr>
          <a:xfrm>
            <a:off x="6448320" y="3295440"/>
            <a:ext cx="5220000" cy="10080"/>
          </a:xfrm>
          <a:custGeom>
            <a:avLst/>
            <a:gdLst/>
            <a:ahLst/>
            <a:cxnLst/>
            <a:rect l="0" t="0" r="r" b="b"/>
            <a:pathLst>
              <a:path w="14500" h="28">
                <a:moveTo>
                  <a:pt x="0" y="0"/>
                </a:moveTo>
                <a:lnTo>
                  <a:pt x="14500" y="0"/>
                </a:lnTo>
                <a:lnTo>
                  <a:pt x="145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Forme libre : forme 339"/>
          <p:cNvSpPr/>
          <p:nvPr/>
        </p:nvSpPr>
        <p:spPr>
          <a:xfrm>
            <a:off x="6448320" y="169524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1271" y="635"/>
                </a:moveTo>
                <a:cubicBezTo>
                  <a:pt x="1271" y="656"/>
                  <a:pt x="1270" y="677"/>
                  <a:pt x="1268" y="697"/>
                </a:cubicBezTo>
                <a:cubicBezTo>
                  <a:pt x="1266" y="718"/>
                  <a:pt x="1263" y="739"/>
                  <a:pt x="1259" y="759"/>
                </a:cubicBezTo>
                <a:cubicBezTo>
                  <a:pt x="1255" y="779"/>
                  <a:pt x="1249" y="800"/>
                  <a:pt x="1243" y="819"/>
                </a:cubicBezTo>
                <a:cubicBezTo>
                  <a:pt x="1237" y="839"/>
                  <a:pt x="1230" y="859"/>
                  <a:pt x="1222" y="878"/>
                </a:cubicBezTo>
                <a:cubicBezTo>
                  <a:pt x="1214" y="897"/>
                  <a:pt x="1206" y="916"/>
                  <a:pt x="1196" y="934"/>
                </a:cubicBezTo>
                <a:cubicBezTo>
                  <a:pt x="1186" y="953"/>
                  <a:pt x="1175" y="971"/>
                  <a:pt x="1164" y="988"/>
                </a:cubicBezTo>
                <a:cubicBezTo>
                  <a:pt x="1152" y="1006"/>
                  <a:pt x="1140" y="1023"/>
                  <a:pt x="1127" y="1039"/>
                </a:cubicBezTo>
                <a:cubicBezTo>
                  <a:pt x="1113" y="1055"/>
                  <a:pt x="1100" y="1070"/>
                  <a:pt x="1085" y="1085"/>
                </a:cubicBezTo>
                <a:cubicBezTo>
                  <a:pt x="1070" y="1100"/>
                  <a:pt x="1055" y="1114"/>
                  <a:pt x="1039" y="1127"/>
                </a:cubicBezTo>
                <a:cubicBezTo>
                  <a:pt x="1023" y="1140"/>
                  <a:pt x="1006" y="1153"/>
                  <a:pt x="989" y="1164"/>
                </a:cubicBezTo>
                <a:cubicBezTo>
                  <a:pt x="971" y="1176"/>
                  <a:pt x="953" y="1186"/>
                  <a:pt x="935" y="1196"/>
                </a:cubicBezTo>
                <a:cubicBezTo>
                  <a:pt x="917" y="1206"/>
                  <a:pt x="898" y="1215"/>
                  <a:pt x="879" y="1223"/>
                </a:cubicBezTo>
                <a:cubicBezTo>
                  <a:pt x="860" y="1231"/>
                  <a:pt x="840" y="1238"/>
                  <a:pt x="820" y="1244"/>
                </a:cubicBezTo>
                <a:cubicBezTo>
                  <a:pt x="800" y="1250"/>
                  <a:pt x="780" y="1255"/>
                  <a:pt x="760" y="1259"/>
                </a:cubicBezTo>
                <a:cubicBezTo>
                  <a:pt x="739" y="1263"/>
                  <a:pt x="719" y="1266"/>
                  <a:pt x="698" y="1268"/>
                </a:cubicBezTo>
                <a:cubicBezTo>
                  <a:pt x="677" y="1270"/>
                  <a:pt x="657" y="1271"/>
                  <a:pt x="636" y="1271"/>
                </a:cubicBezTo>
                <a:cubicBezTo>
                  <a:pt x="615" y="1271"/>
                  <a:pt x="594" y="1270"/>
                  <a:pt x="574" y="1268"/>
                </a:cubicBezTo>
                <a:cubicBezTo>
                  <a:pt x="553" y="1266"/>
                  <a:pt x="532" y="1263"/>
                  <a:pt x="512" y="1259"/>
                </a:cubicBezTo>
                <a:cubicBezTo>
                  <a:pt x="492" y="1255"/>
                  <a:pt x="470" y="1250"/>
                  <a:pt x="450" y="1244"/>
                </a:cubicBezTo>
                <a:cubicBezTo>
                  <a:pt x="431" y="1238"/>
                  <a:pt x="411" y="1231"/>
                  <a:pt x="392" y="1223"/>
                </a:cubicBezTo>
                <a:cubicBezTo>
                  <a:pt x="373" y="1215"/>
                  <a:pt x="354" y="1206"/>
                  <a:pt x="335" y="1196"/>
                </a:cubicBezTo>
                <a:cubicBezTo>
                  <a:pt x="317" y="1186"/>
                  <a:pt x="299" y="1176"/>
                  <a:pt x="282" y="1164"/>
                </a:cubicBezTo>
                <a:cubicBezTo>
                  <a:pt x="265" y="1153"/>
                  <a:pt x="248" y="1140"/>
                  <a:pt x="232" y="1127"/>
                </a:cubicBezTo>
                <a:cubicBezTo>
                  <a:pt x="216" y="1114"/>
                  <a:pt x="200" y="1100"/>
                  <a:pt x="186" y="1085"/>
                </a:cubicBezTo>
                <a:cubicBezTo>
                  <a:pt x="171" y="1070"/>
                  <a:pt x="157" y="1055"/>
                  <a:pt x="144" y="1039"/>
                </a:cubicBezTo>
                <a:cubicBezTo>
                  <a:pt x="131" y="1023"/>
                  <a:pt x="118" y="1006"/>
                  <a:pt x="107" y="988"/>
                </a:cubicBezTo>
                <a:cubicBezTo>
                  <a:pt x="95" y="971"/>
                  <a:pt x="85" y="953"/>
                  <a:pt x="75" y="934"/>
                </a:cubicBezTo>
                <a:cubicBezTo>
                  <a:pt x="65" y="916"/>
                  <a:pt x="56" y="897"/>
                  <a:pt x="48" y="878"/>
                </a:cubicBezTo>
                <a:cubicBezTo>
                  <a:pt x="40" y="859"/>
                  <a:pt x="33" y="839"/>
                  <a:pt x="27" y="819"/>
                </a:cubicBezTo>
                <a:cubicBezTo>
                  <a:pt x="21" y="800"/>
                  <a:pt x="16" y="779"/>
                  <a:pt x="12" y="759"/>
                </a:cubicBezTo>
                <a:cubicBezTo>
                  <a:pt x="8" y="739"/>
                  <a:pt x="5" y="718"/>
                  <a:pt x="3" y="697"/>
                </a:cubicBezTo>
                <a:cubicBezTo>
                  <a:pt x="1" y="677"/>
                  <a:pt x="0" y="656"/>
                  <a:pt x="0" y="635"/>
                </a:cubicBezTo>
                <a:cubicBezTo>
                  <a:pt x="0" y="614"/>
                  <a:pt x="1" y="594"/>
                  <a:pt x="3" y="573"/>
                </a:cubicBezTo>
                <a:cubicBezTo>
                  <a:pt x="5" y="552"/>
                  <a:pt x="8" y="532"/>
                  <a:pt x="12" y="511"/>
                </a:cubicBezTo>
                <a:cubicBezTo>
                  <a:pt x="16" y="491"/>
                  <a:pt x="21" y="471"/>
                  <a:pt x="27" y="451"/>
                </a:cubicBezTo>
                <a:cubicBezTo>
                  <a:pt x="33" y="431"/>
                  <a:pt x="40" y="411"/>
                  <a:pt x="48" y="392"/>
                </a:cubicBezTo>
                <a:cubicBezTo>
                  <a:pt x="56" y="373"/>
                  <a:pt x="65" y="354"/>
                  <a:pt x="75" y="336"/>
                </a:cubicBezTo>
                <a:cubicBezTo>
                  <a:pt x="85" y="317"/>
                  <a:pt x="95" y="300"/>
                  <a:pt x="107" y="282"/>
                </a:cubicBezTo>
                <a:cubicBezTo>
                  <a:pt x="118" y="265"/>
                  <a:pt x="131" y="248"/>
                  <a:pt x="144" y="232"/>
                </a:cubicBezTo>
                <a:cubicBezTo>
                  <a:pt x="157" y="216"/>
                  <a:pt x="171" y="201"/>
                  <a:pt x="186" y="186"/>
                </a:cubicBezTo>
                <a:cubicBezTo>
                  <a:pt x="200" y="171"/>
                  <a:pt x="216" y="157"/>
                  <a:pt x="232" y="144"/>
                </a:cubicBezTo>
                <a:cubicBezTo>
                  <a:pt x="248" y="131"/>
                  <a:pt x="265" y="119"/>
                  <a:pt x="282" y="107"/>
                </a:cubicBezTo>
                <a:cubicBezTo>
                  <a:pt x="299" y="96"/>
                  <a:pt x="317" y="85"/>
                  <a:pt x="335" y="75"/>
                </a:cubicBezTo>
                <a:cubicBezTo>
                  <a:pt x="354" y="65"/>
                  <a:pt x="373" y="56"/>
                  <a:pt x="392" y="48"/>
                </a:cubicBezTo>
                <a:cubicBezTo>
                  <a:pt x="411" y="40"/>
                  <a:pt x="431" y="33"/>
                  <a:pt x="450" y="27"/>
                </a:cubicBezTo>
                <a:cubicBezTo>
                  <a:pt x="470" y="21"/>
                  <a:pt x="492" y="16"/>
                  <a:pt x="512" y="12"/>
                </a:cubicBezTo>
                <a:cubicBezTo>
                  <a:pt x="532" y="8"/>
                  <a:pt x="553" y="5"/>
                  <a:pt x="574" y="3"/>
                </a:cubicBezTo>
                <a:cubicBezTo>
                  <a:pt x="594" y="1"/>
                  <a:pt x="615" y="0"/>
                  <a:pt x="636" y="0"/>
                </a:cubicBezTo>
                <a:cubicBezTo>
                  <a:pt x="657" y="0"/>
                  <a:pt x="677" y="1"/>
                  <a:pt x="698" y="3"/>
                </a:cubicBezTo>
                <a:cubicBezTo>
                  <a:pt x="719" y="5"/>
                  <a:pt x="739" y="8"/>
                  <a:pt x="760" y="12"/>
                </a:cubicBezTo>
                <a:cubicBezTo>
                  <a:pt x="780" y="16"/>
                  <a:pt x="800" y="21"/>
                  <a:pt x="820" y="27"/>
                </a:cubicBezTo>
                <a:cubicBezTo>
                  <a:pt x="840" y="33"/>
                  <a:pt x="860" y="40"/>
                  <a:pt x="879" y="48"/>
                </a:cubicBezTo>
                <a:cubicBezTo>
                  <a:pt x="898" y="56"/>
                  <a:pt x="917" y="65"/>
                  <a:pt x="935" y="75"/>
                </a:cubicBezTo>
                <a:cubicBezTo>
                  <a:pt x="953" y="85"/>
                  <a:pt x="971" y="96"/>
                  <a:pt x="989" y="107"/>
                </a:cubicBezTo>
                <a:cubicBezTo>
                  <a:pt x="1006" y="119"/>
                  <a:pt x="1023" y="131"/>
                  <a:pt x="1039" y="144"/>
                </a:cubicBezTo>
                <a:cubicBezTo>
                  <a:pt x="1055" y="157"/>
                  <a:pt x="1070" y="171"/>
                  <a:pt x="1085" y="186"/>
                </a:cubicBezTo>
                <a:cubicBezTo>
                  <a:pt x="1100" y="201"/>
                  <a:pt x="1113" y="216"/>
                  <a:pt x="1127" y="232"/>
                </a:cubicBezTo>
                <a:cubicBezTo>
                  <a:pt x="1140" y="248"/>
                  <a:pt x="1152" y="265"/>
                  <a:pt x="1164" y="282"/>
                </a:cubicBezTo>
                <a:cubicBezTo>
                  <a:pt x="1175" y="300"/>
                  <a:pt x="1186" y="317"/>
                  <a:pt x="1196" y="336"/>
                </a:cubicBezTo>
                <a:cubicBezTo>
                  <a:pt x="1206" y="354"/>
                  <a:pt x="1214" y="373"/>
                  <a:pt x="1222" y="392"/>
                </a:cubicBezTo>
                <a:cubicBezTo>
                  <a:pt x="1230" y="411"/>
                  <a:pt x="1237" y="431"/>
                  <a:pt x="1243" y="451"/>
                </a:cubicBezTo>
                <a:cubicBezTo>
                  <a:pt x="1249" y="471"/>
                  <a:pt x="1255" y="491"/>
                  <a:pt x="1259" y="511"/>
                </a:cubicBezTo>
                <a:cubicBezTo>
                  <a:pt x="1263" y="532"/>
                  <a:pt x="1266" y="552"/>
                  <a:pt x="1268" y="573"/>
                </a:cubicBezTo>
                <a:cubicBezTo>
                  <a:pt x="1270" y="594"/>
                  <a:pt x="1271" y="614"/>
                  <a:pt x="1271" y="635"/>
                </a:cubicBezTo>
                <a:close/>
              </a:path>
            </a:pathLst>
          </a:custGeom>
          <a:solidFill>
            <a:srgbClr val="E3EC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ZoneTexte 340"/>
          <p:cNvSpPr txBox="1"/>
          <p:nvPr/>
        </p:nvSpPr>
        <p:spPr>
          <a:xfrm>
            <a:off x="523800" y="3839400"/>
            <a:ext cx="15091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6A7282"/>
                </a:solidFill>
                <a:effectLst/>
                <a:uFillTx/>
                <a:latin typeface="Consolas"/>
                <a:ea typeface="Consolas"/>
              </a:rPr>
              <a:t>Coefficient β = 23593.98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ZoneTexte 341"/>
          <p:cNvSpPr txBox="1"/>
          <p:nvPr/>
        </p:nvSpPr>
        <p:spPr>
          <a:xfrm>
            <a:off x="6580440" y="1831320"/>
            <a:ext cx="1926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0404AC"/>
                </a:solidFill>
                <a:effectLst/>
                <a:uFillTx/>
                <a:latin typeface="FontAwesome6Free-Solid"/>
                <a:ea typeface="FontAwesome6Free-Solid"/>
              </a:rPr>
              <a:t>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ZoneTexte 342"/>
          <p:cNvSpPr txBox="1"/>
          <p:nvPr/>
        </p:nvSpPr>
        <p:spPr>
          <a:xfrm>
            <a:off x="7058160" y="1824120"/>
            <a:ext cx="16646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101828"/>
                </a:solidFill>
                <a:effectLst/>
                <a:uFillTx/>
                <a:latin typeface="Georgia"/>
                <a:ea typeface="Georgia"/>
              </a:rPr>
              <a:t>Régression Logistique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ZoneTexte 343"/>
          <p:cNvSpPr txBox="1"/>
          <p:nvPr/>
        </p:nvSpPr>
        <p:spPr>
          <a:xfrm>
            <a:off x="6448320" y="2389320"/>
            <a:ext cx="16214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1" u="none" strike="noStrike">
                <a:solidFill>
                  <a:srgbClr val="6A7282"/>
                </a:solidFill>
                <a:effectLst/>
                <a:uFillTx/>
                <a:latin typeface="DejaVuSans"/>
                <a:ea typeface="DejaVuSans"/>
              </a:rPr>
              <a:t>CLASSIFICATION BINAIRE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ZoneTexte 344"/>
          <p:cNvSpPr txBox="1"/>
          <p:nvPr/>
        </p:nvSpPr>
        <p:spPr>
          <a:xfrm>
            <a:off x="6448320" y="2562120"/>
            <a:ext cx="84924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0" u="none" strike="noStrike">
                <a:solidFill>
                  <a:srgbClr val="0404AC"/>
                </a:solidFill>
                <a:effectLst/>
                <a:uFillTx/>
                <a:latin typeface="Georgia"/>
                <a:ea typeface="Georgia"/>
              </a:rPr>
              <a:t>100%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ZoneTexte 345"/>
          <p:cNvSpPr txBox="1"/>
          <p:nvPr/>
        </p:nvSpPr>
        <p:spPr>
          <a:xfrm>
            <a:off x="7411320" y="2752920"/>
            <a:ext cx="608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A7282"/>
                </a:solidFill>
                <a:effectLst/>
                <a:uFillTx/>
                <a:latin typeface="DejaVuSans"/>
                <a:ea typeface="DejaVuSans"/>
              </a:rPr>
              <a:t>Accuracy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ZoneTexte 346"/>
          <p:cNvSpPr txBox="1"/>
          <p:nvPr/>
        </p:nvSpPr>
        <p:spPr>
          <a:xfrm>
            <a:off x="6448320" y="2999160"/>
            <a:ext cx="163008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99A1AF"/>
                </a:solidFill>
                <a:effectLst/>
                <a:uFillTx/>
                <a:latin typeface="DejaVuSans"/>
                <a:ea typeface="DejaVuSans"/>
              </a:rPr>
              <a:t>Tâche : Iris-Setosa vs Autres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ZoneTexte 347"/>
          <p:cNvSpPr txBox="1"/>
          <p:nvPr/>
        </p:nvSpPr>
        <p:spPr>
          <a:xfrm>
            <a:off x="6448320" y="3476880"/>
            <a:ext cx="7624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101828"/>
                </a:solidFill>
                <a:effectLst/>
                <a:uFillTx/>
                <a:latin typeface="DejaVuSans"/>
                <a:ea typeface="DejaVuSans"/>
              </a:rPr>
              <a:t>Validation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ZoneTexte 348"/>
          <p:cNvSpPr txBox="1"/>
          <p:nvPr/>
        </p:nvSpPr>
        <p:spPr>
          <a:xfrm>
            <a:off x="6448320" y="3754440"/>
            <a:ext cx="26740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4A5565"/>
                </a:solidFill>
                <a:effectLst/>
                <a:uFillTx/>
                <a:latin typeface="DejaVuSans"/>
                <a:ea typeface="DejaVuSans"/>
              </a:rPr>
              <a:t>Matrice de confusion </a:t>
            </a:r>
            <a:r>
              <a:rPr lang="en-US" sz="1200" b="1" u="none" strike="noStrike">
                <a:solidFill>
                  <a:srgbClr val="0404AC"/>
                </a:solidFill>
                <a:effectLst/>
                <a:uFillTx/>
                <a:latin typeface="DejaVuSans"/>
                <a:ea typeface="DejaVuSans"/>
              </a:rPr>
              <a:t>sans erreur</a:t>
            </a:r>
            <a:r>
              <a:rPr lang="en-US" sz="1200" b="0" u="none" strike="noStrike">
                <a:solidFill>
                  <a:srgbClr val="4A5565"/>
                </a:solidFill>
                <a:effectLst/>
                <a:uFillTx/>
                <a:latin typeface="DejaVuSans"/>
                <a:ea typeface="DejaVuSans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Forme libre : forme 349"/>
          <p:cNvSpPr/>
          <p:nvPr/>
        </p:nvSpPr>
        <p:spPr>
          <a:xfrm>
            <a:off x="6219720" y="1466640"/>
            <a:ext cx="57600" cy="2962800"/>
          </a:xfrm>
          <a:custGeom>
            <a:avLst/>
            <a:gdLst/>
            <a:ahLst/>
            <a:cxnLst/>
            <a:rect l="0" t="0" r="r" b="b"/>
            <a:pathLst>
              <a:path w="160" h="8230">
                <a:moveTo>
                  <a:pt x="0" y="0"/>
                </a:moveTo>
                <a:lnTo>
                  <a:pt x="160" y="0"/>
                </a:lnTo>
                <a:lnTo>
                  <a:pt x="160" y="8230"/>
                </a:lnTo>
                <a:lnTo>
                  <a:pt x="0" y="8230"/>
                </a:lnTo>
                <a:lnTo>
                  <a:pt x="0" y="0"/>
                </a:lnTo>
                <a:close/>
              </a:path>
            </a:pathLst>
          </a:custGeom>
          <a:solidFill>
            <a:srgbClr val="0404A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ZoneTexte 350"/>
          <p:cNvSpPr txBox="1"/>
          <p:nvPr/>
        </p:nvSpPr>
        <p:spPr>
          <a:xfrm>
            <a:off x="6448320" y="4029120"/>
            <a:ext cx="26643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A7282"/>
                </a:solidFill>
                <a:effectLst/>
                <a:uFillTx/>
                <a:latin typeface="DejaVuSans"/>
                <a:ea typeface="DejaVuSans"/>
              </a:rPr>
              <a:t>Séparabilité linéaire claire des données.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ZoneTexte 351"/>
          <p:cNvSpPr txBox="1"/>
          <p:nvPr/>
        </p:nvSpPr>
        <p:spPr>
          <a:xfrm>
            <a:off x="957240" y="5205240"/>
            <a:ext cx="100576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Les modèles linéaires démontrent une grande efficacité et interprétabilité sur ces tâches spécifiques, validant leur pertinence pour des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ZoneTexte 352"/>
          <p:cNvSpPr txBox="1"/>
          <p:nvPr/>
        </p:nvSpPr>
        <p:spPr>
          <a:xfrm>
            <a:off x="957240" y="5491080"/>
            <a:ext cx="25333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problèmes à complexité modérée.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Forme libre : forme 7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Forme libre : forme 79"/>
          <p:cNvSpPr/>
          <p:nvPr/>
        </p:nvSpPr>
        <p:spPr>
          <a:xfrm>
            <a:off x="285480" y="628560"/>
            <a:ext cx="11620800" cy="9720"/>
          </a:xfrm>
          <a:custGeom>
            <a:avLst/>
            <a:gdLst/>
            <a:ahLst/>
            <a:cxnLst/>
            <a:rect l="0" t="0" r="r" b="b"/>
            <a:pathLst>
              <a:path w="32280" h="27">
                <a:moveTo>
                  <a:pt x="0" y="0"/>
                </a:moveTo>
                <a:lnTo>
                  <a:pt x="32280" y="0"/>
                </a:lnTo>
                <a:lnTo>
                  <a:pt x="322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ZoneTexte 80"/>
          <p:cNvSpPr txBox="1"/>
          <p:nvPr/>
        </p:nvSpPr>
        <p:spPr>
          <a:xfrm>
            <a:off x="285840" y="317160"/>
            <a:ext cx="12096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1" u="none" strike="noStrike">
                <a:solidFill>
                  <a:srgbClr val="101828"/>
                </a:solidFill>
                <a:effectLst/>
                <a:uFillTx/>
                <a:latin typeface="DejaVuSans"/>
                <a:ea typeface="DejaVuSans"/>
              </a:rPr>
              <a:t>MINI-PROJET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ZoneTexte 81"/>
          <p:cNvSpPr txBox="1"/>
          <p:nvPr/>
        </p:nvSpPr>
        <p:spPr>
          <a:xfrm>
            <a:off x="10343160" y="343080"/>
            <a:ext cx="1554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101828"/>
                </a:solidFill>
                <a:effectLst/>
                <a:uFillTx/>
                <a:latin typeface="DejaVuSans"/>
                <a:ea typeface="DejaVuSans"/>
              </a:rPr>
              <a:t>Objectifs et livrables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Forme libre : forme 82"/>
          <p:cNvSpPr/>
          <p:nvPr/>
        </p:nvSpPr>
        <p:spPr>
          <a:xfrm>
            <a:off x="290160" y="1709640"/>
            <a:ext cx="5620320" cy="4476960"/>
          </a:xfrm>
          <a:custGeom>
            <a:avLst/>
            <a:gdLst/>
            <a:ahLst/>
            <a:cxnLst/>
            <a:rect l="0" t="0" r="r" b="b"/>
            <a:pathLst>
              <a:path w="15612" h="12436">
                <a:moveTo>
                  <a:pt x="0" y="12344"/>
                </a:moveTo>
                <a:lnTo>
                  <a:pt x="0" y="92"/>
                </a:lnTo>
                <a:cubicBezTo>
                  <a:pt x="0" y="80"/>
                  <a:pt x="3" y="68"/>
                  <a:pt x="8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3" y="0"/>
                </a:cubicBezTo>
                <a:lnTo>
                  <a:pt x="15519" y="0"/>
                </a:lnTo>
                <a:cubicBezTo>
                  <a:pt x="15532" y="0"/>
                  <a:pt x="15543" y="2"/>
                  <a:pt x="15555" y="7"/>
                </a:cubicBezTo>
                <a:cubicBezTo>
                  <a:pt x="15566" y="12"/>
                  <a:pt x="15576" y="18"/>
                  <a:pt x="15585" y="27"/>
                </a:cubicBezTo>
                <a:cubicBezTo>
                  <a:pt x="15593" y="36"/>
                  <a:pt x="15600" y="46"/>
                  <a:pt x="15605" y="57"/>
                </a:cubicBezTo>
                <a:cubicBezTo>
                  <a:pt x="15610" y="68"/>
                  <a:pt x="15612" y="80"/>
                  <a:pt x="15612" y="92"/>
                </a:cubicBezTo>
                <a:lnTo>
                  <a:pt x="15612" y="12344"/>
                </a:lnTo>
                <a:cubicBezTo>
                  <a:pt x="15612" y="12356"/>
                  <a:pt x="15610" y="12368"/>
                  <a:pt x="15605" y="12379"/>
                </a:cubicBezTo>
                <a:cubicBezTo>
                  <a:pt x="15600" y="12390"/>
                  <a:pt x="15593" y="12400"/>
                  <a:pt x="15585" y="12409"/>
                </a:cubicBezTo>
                <a:cubicBezTo>
                  <a:pt x="15576" y="12418"/>
                  <a:pt x="15566" y="12424"/>
                  <a:pt x="15555" y="12429"/>
                </a:cubicBezTo>
                <a:cubicBezTo>
                  <a:pt x="15543" y="12434"/>
                  <a:pt x="15532" y="12436"/>
                  <a:pt x="15519" y="12436"/>
                </a:cubicBezTo>
                <a:lnTo>
                  <a:pt x="93" y="12436"/>
                </a:lnTo>
                <a:cubicBezTo>
                  <a:pt x="81" y="12436"/>
                  <a:pt x="69" y="12434"/>
                  <a:pt x="58" y="12429"/>
                </a:cubicBezTo>
                <a:cubicBezTo>
                  <a:pt x="46" y="12424"/>
                  <a:pt x="36" y="12418"/>
                  <a:pt x="28" y="12409"/>
                </a:cubicBezTo>
                <a:cubicBezTo>
                  <a:pt x="19" y="12400"/>
                  <a:pt x="12" y="12390"/>
                  <a:pt x="8" y="12379"/>
                </a:cubicBezTo>
                <a:cubicBezTo>
                  <a:pt x="3" y="12368"/>
                  <a:pt x="0" y="12356"/>
                  <a:pt x="0" y="12344"/>
                </a:cubicBez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Forme libre : forme 83"/>
          <p:cNvSpPr/>
          <p:nvPr/>
        </p:nvSpPr>
        <p:spPr>
          <a:xfrm>
            <a:off x="290160" y="1709640"/>
            <a:ext cx="5620320" cy="4476960"/>
          </a:xfrm>
          <a:custGeom>
            <a:avLst/>
            <a:gdLst/>
            <a:ahLst/>
            <a:cxnLst/>
            <a:rect l="0" t="0" r="r" b="b"/>
            <a:pathLst>
              <a:path w="15612" h="12436" fill="none">
                <a:moveTo>
                  <a:pt x="0" y="12344"/>
                </a:moveTo>
                <a:lnTo>
                  <a:pt x="0" y="92"/>
                </a:lnTo>
                <a:cubicBezTo>
                  <a:pt x="0" y="80"/>
                  <a:pt x="3" y="68"/>
                  <a:pt x="8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3" y="0"/>
                </a:cubicBezTo>
                <a:lnTo>
                  <a:pt x="15519" y="0"/>
                </a:lnTo>
                <a:cubicBezTo>
                  <a:pt x="15532" y="0"/>
                  <a:pt x="15543" y="2"/>
                  <a:pt x="15555" y="7"/>
                </a:cubicBezTo>
                <a:cubicBezTo>
                  <a:pt x="15566" y="12"/>
                  <a:pt x="15576" y="18"/>
                  <a:pt x="15585" y="27"/>
                </a:cubicBezTo>
                <a:cubicBezTo>
                  <a:pt x="15593" y="36"/>
                  <a:pt x="15600" y="46"/>
                  <a:pt x="15605" y="57"/>
                </a:cubicBezTo>
                <a:cubicBezTo>
                  <a:pt x="15610" y="68"/>
                  <a:pt x="15612" y="80"/>
                  <a:pt x="15612" y="92"/>
                </a:cubicBezTo>
                <a:lnTo>
                  <a:pt x="15612" y="12344"/>
                </a:lnTo>
                <a:cubicBezTo>
                  <a:pt x="15612" y="12356"/>
                  <a:pt x="15610" y="12368"/>
                  <a:pt x="15605" y="12379"/>
                </a:cubicBezTo>
                <a:cubicBezTo>
                  <a:pt x="15600" y="12390"/>
                  <a:pt x="15593" y="12400"/>
                  <a:pt x="15585" y="12409"/>
                </a:cubicBezTo>
                <a:cubicBezTo>
                  <a:pt x="15576" y="12418"/>
                  <a:pt x="15566" y="12424"/>
                  <a:pt x="15555" y="12429"/>
                </a:cubicBezTo>
                <a:cubicBezTo>
                  <a:pt x="15543" y="12434"/>
                  <a:pt x="15532" y="12436"/>
                  <a:pt x="15519" y="12436"/>
                </a:cubicBezTo>
                <a:lnTo>
                  <a:pt x="93" y="12436"/>
                </a:lnTo>
                <a:cubicBezTo>
                  <a:pt x="81" y="12436"/>
                  <a:pt x="69" y="12434"/>
                  <a:pt x="58" y="12429"/>
                </a:cubicBezTo>
                <a:cubicBezTo>
                  <a:pt x="46" y="12424"/>
                  <a:pt x="36" y="12418"/>
                  <a:pt x="28" y="12409"/>
                </a:cubicBezTo>
                <a:cubicBezTo>
                  <a:pt x="19" y="12400"/>
                  <a:pt x="12" y="12390"/>
                  <a:pt x="8" y="12379"/>
                </a:cubicBezTo>
                <a:cubicBezTo>
                  <a:pt x="3" y="12368"/>
                  <a:pt x="0" y="12356"/>
                  <a:pt x="0" y="12344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Forme libre : forme 84"/>
          <p:cNvSpPr/>
          <p:nvPr/>
        </p:nvSpPr>
        <p:spPr>
          <a:xfrm>
            <a:off x="599760" y="2552400"/>
            <a:ext cx="5001120" cy="10080"/>
          </a:xfrm>
          <a:custGeom>
            <a:avLst/>
            <a:gdLst/>
            <a:ahLst/>
            <a:cxnLst/>
            <a:rect l="0" t="0" r="r" b="b"/>
            <a:pathLst>
              <a:path w="13892" h="28">
                <a:moveTo>
                  <a:pt x="0" y="0"/>
                </a:moveTo>
                <a:lnTo>
                  <a:pt x="13892" y="0"/>
                </a:lnTo>
                <a:lnTo>
                  <a:pt x="1389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Forme libre : forme 85"/>
          <p:cNvSpPr/>
          <p:nvPr/>
        </p:nvSpPr>
        <p:spPr>
          <a:xfrm>
            <a:off x="599760" y="2019240"/>
            <a:ext cx="381600" cy="381240"/>
          </a:xfrm>
          <a:custGeom>
            <a:avLst/>
            <a:gdLst/>
            <a:ahLst/>
            <a:cxnLst/>
            <a:rect l="0" t="0" r="r" b="b"/>
            <a:pathLst>
              <a:path w="1060" h="1059">
                <a:moveTo>
                  <a:pt x="1060" y="530"/>
                </a:moveTo>
                <a:cubicBezTo>
                  <a:pt x="1060" y="565"/>
                  <a:pt x="1056" y="599"/>
                  <a:pt x="1050" y="633"/>
                </a:cubicBezTo>
                <a:cubicBezTo>
                  <a:pt x="1043" y="667"/>
                  <a:pt x="1033" y="700"/>
                  <a:pt x="1019" y="732"/>
                </a:cubicBezTo>
                <a:cubicBezTo>
                  <a:pt x="1006" y="764"/>
                  <a:pt x="990" y="795"/>
                  <a:pt x="970" y="824"/>
                </a:cubicBezTo>
                <a:cubicBezTo>
                  <a:pt x="950" y="853"/>
                  <a:pt x="928" y="879"/>
                  <a:pt x="904" y="904"/>
                </a:cubicBezTo>
                <a:cubicBezTo>
                  <a:pt x="879" y="929"/>
                  <a:pt x="852" y="951"/>
                  <a:pt x="824" y="970"/>
                </a:cubicBezTo>
                <a:cubicBezTo>
                  <a:pt x="795" y="989"/>
                  <a:pt x="764" y="1005"/>
                  <a:pt x="732" y="1019"/>
                </a:cubicBezTo>
                <a:cubicBezTo>
                  <a:pt x="700" y="1032"/>
                  <a:pt x="667" y="1042"/>
                  <a:pt x="633" y="1049"/>
                </a:cubicBezTo>
                <a:cubicBezTo>
                  <a:pt x="599" y="1056"/>
                  <a:pt x="564" y="1059"/>
                  <a:pt x="530" y="1059"/>
                </a:cubicBezTo>
                <a:cubicBezTo>
                  <a:pt x="495" y="1059"/>
                  <a:pt x="460" y="1056"/>
                  <a:pt x="426" y="1049"/>
                </a:cubicBezTo>
                <a:cubicBezTo>
                  <a:pt x="392" y="1042"/>
                  <a:pt x="359" y="1032"/>
                  <a:pt x="327" y="1019"/>
                </a:cubicBezTo>
                <a:cubicBezTo>
                  <a:pt x="295" y="1005"/>
                  <a:pt x="264" y="989"/>
                  <a:pt x="236" y="970"/>
                </a:cubicBezTo>
                <a:cubicBezTo>
                  <a:pt x="207" y="951"/>
                  <a:pt x="180" y="929"/>
                  <a:pt x="155" y="904"/>
                </a:cubicBezTo>
                <a:cubicBezTo>
                  <a:pt x="131" y="879"/>
                  <a:pt x="109" y="853"/>
                  <a:pt x="90" y="824"/>
                </a:cubicBezTo>
                <a:cubicBezTo>
                  <a:pt x="70" y="795"/>
                  <a:pt x="54" y="764"/>
                  <a:pt x="41" y="732"/>
                </a:cubicBezTo>
                <a:cubicBezTo>
                  <a:pt x="27" y="700"/>
                  <a:pt x="17" y="667"/>
                  <a:pt x="11" y="633"/>
                </a:cubicBezTo>
                <a:cubicBezTo>
                  <a:pt x="4" y="599"/>
                  <a:pt x="0" y="565"/>
                  <a:pt x="0" y="530"/>
                </a:cubicBezTo>
                <a:cubicBezTo>
                  <a:pt x="0" y="495"/>
                  <a:pt x="4" y="461"/>
                  <a:pt x="11" y="427"/>
                </a:cubicBezTo>
                <a:cubicBezTo>
                  <a:pt x="17" y="393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6"/>
                  <a:pt x="131" y="179"/>
                  <a:pt x="155" y="155"/>
                </a:cubicBezTo>
                <a:cubicBezTo>
                  <a:pt x="180" y="130"/>
                  <a:pt x="207" y="108"/>
                  <a:pt x="236" y="89"/>
                </a:cubicBezTo>
                <a:cubicBezTo>
                  <a:pt x="264" y="70"/>
                  <a:pt x="295" y="53"/>
                  <a:pt x="327" y="40"/>
                </a:cubicBezTo>
                <a:cubicBezTo>
                  <a:pt x="359" y="27"/>
                  <a:pt x="392" y="17"/>
                  <a:pt x="426" y="10"/>
                </a:cubicBezTo>
                <a:cubicBezTo>
                  <a:pt x="460" y="3"/>
                  <a:pt x="495" y="0"/>
                  <a:pt x="530" y="0"/>
                </a:cubicBezTo>
                <a:cubicBezTo>
                  <a:pt x="564" y="0"/>
                  <a:pt x="599" y="3"/>
                  <a:pt x="633" y="10"/>
                </a:cubicBezTo>
                <a:cubicBezTo>
                  <a:pt x="667" y="17"/>
                  <a:pt x="700" y="27"/>
                  <a:pt x="732" y="40"/>
                </a:cubicBezTo>
                <a:cubicBezTo>
                  <a:pt x="764" y="53"/>
                  <a:pt x="795" y="70"/>
                  <a:pt x="824" y="89"/>
                </a:cubicBezTo>
                <a:cubicBezTo>
                  <a:pt x="852" y="108"/>
                  <a:pt x="879" y="130"/>
                  <a:pt x="904" y="155"/>
                </a:cubicBezTo>
                <a:cubicBezTo>
                  <a:pt x="928" y="179"/>
                  <a:pt x="950" y="206"/>
                  <a:pt x="970" y="236"/>
                </a:cubicBezTo>
                <a:cubicBezTo>
                  <a:pt x="990" y="265"/>
                  <a:pt x="1006" y="295"/>
                  <a:pt x="1019" y="327"/>
                </a:cubicBezTo>
                <a:cubicBezTo>
                  <a:pt x="1033" y="359"/>
                  <a:pt x="1043" y="393"/>
                  <a:pt x="1050" y="427"/>
                </a:cubicBezTo>
                <a:cubicBezTo>
                  <a:pt x="1056" y="461"/>
                  <a:pt x="1060" y="495"/>
                  <a:pt x="1060" y="530"/>
                </a:cubicBezTo>
                <a:close/>
              </a:path>
            </a:pathLst>
          </a:custGeom>
          <a:solidFill>
            <a:srgbClr val="E3EC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ZoneTexte 86"/>
          <p:cNvSpPr txBox="1"/>
          <p:nvPr/>
        </p:nvSpPr>
        <p:spPr>
          <a:xfrm>
            <a:off x="285840" y="955440"/>
            <a:ext cx="5054040" cy="433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000" b="0" u="none" strike="noStrike">
                <a:solidFill>
                  <a:srgbClr val="101828"/>
                </a:solidFill>
                <a:effectLst/>
                <a:uFillTx/>
                <a:latin typeface="Georgia"/>
                <a:ea typeface="Georgia"/>
              </a:rPr>
              <a:t>Objectifs et livrables du projet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ZoneTexte 87"/>
          <p:cNvSpPr txBox="1"/>
          <p:nvPr/>
        </p:nvSpPr>
        <p:spPr>
          <a:xfrm>
            <a:off x="704880" y="2116800"/>
            <a:ext cx="171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002FA7"/>
                </a:solidFill>
                <a:effectLst/>
                <a:uFillTx/>
                <a:latin typeface="FontAwesome6Free-Solid"/>
                <a:ea typeface="FontAwesome6Free-Solid"/>
              </a:rPr>
              <a:t>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ZoneTexte 88"/>
          <p:cNvSpPr txBox="1"/>
          <p:nvPr/>
        </p:nvSpPr>
        <p:spPr>
          <a:xfrm>
            <a:off x="1133640" y="2076480"/>
            <a:ext cx="10458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u="none" strike="noStrike">
                <a:solidFill>
                  <a:srgbClr val="101828"/>
                </a:solidFill>
                <a:effectLst/>
                <a:uFillTx/>
                <a:latin typeface="Georgia"/>
                <a:ea typeface="Georgia"/>
              </a:rPr>
              <a:t>Objectifs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ZoneTexte 89"/>
          <p:cNvSpPr txBox="1"/>
          <p:nvPr/>
        </p:nvSpPr>
        <p:spPr>
          <a:xfrm>
            <a:off x="600120" y="2831760"/>
            <a:ext cx="493416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364153"/>
                </a:solidFill>
                <a:effectLst/>
                <a:uFillTx/>
                <a:latin typeface="DejaVuSans"/>
                <a:ea typeface="DejaVuSans"/>
              </a:rPr>
              <a:t>Implémenter et analyser deux modèles fondamentaux de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ZoneTexte 90"/>
          <p:cNvSpPr txBox="1"/>
          <p:nvPr/>
        </p:nvSpPr>
        <p:spPr>
          <a:xfrm>
            <a:off x="600120" y="3107880"/>
            <a:ext cx="229896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364153"/>
                </a:solidFill>
                <a:effectLst/>
                <a:uFillTx/>
                <a:latin typeface="DejaVuSans"/>
                <a:ea typeface="DejaVuSans"/>
              </a:rPr>
              <a:t>l'apprentissage supervisé 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ZoneTexte 91"/>
          <p:cNvSpPr txBox="1"/>
          <p:nvPr/>
        </p:nvSpPr>
        <p:spPr>
          <a:xfrm>
            <a:off x="600120" y="3636000"/>
            <a:ext cx="133200" cy="13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002FA7"/>
                </a:solidFill>
                <a:effectLst/>
                <a:uFillTx/>
                <a:latin typeface="FontAwesome6Free-Solid"/>
                <a:ea typeface="FontAwesome6Free-Solid"/>
              </a:rPr>
              <a:t>✓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ZoneTexte 92"/>
          <p:cNvSpPr txBox="1"/>
          <p:nvPr/>
        </p:nvSpPr>
        <p:spPr>
          <a:xfrm>
            <a:off x="830880" y="3612960"/>
            <a:ext cx="1908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1" u="none" strike="noStrike">
                <a:solidFill>
                  <a:srgbClr val="101828"/>
                </a:solidFill>
                <a:effectLst/>
                <a:uFillTx/>
                <a:latin typeface="DejaVuSans"/>
                <a:ea typeface="DejaVuSans"/>
              </a:rPr>
              <a:t>Régression Linéaire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ZoneTexte 93"/>
          <p:cNvSpPr txBox="1"/>
          <p:nvPr/>
        </p:nvSpPr>
        <p:spPr>
          <a:xfrm>
            <a:off x="830880" y="3868560"/>
            <a:ext cx="31176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4A5565"/>
                </a:solidFill>
                <a:effectLst/>
                <a:uFillTx/>
                <a:latin typeface="DejaVuSans"/>
                <a:ea typeface="DejaVuSans"/>
              </a:rPr>
              <a:t>Pour la prédiction de variables continues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ZoneTexte 94"/>
          <p:cNvSpPr txBox="1"/>
          <p:nvPr/>
        </p:nvSpPr>
        <p:spPr>
          <a:xfrm>
            <a:off x="600120" y="4321800"/>
            <a:ext cx="133200" cy="13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002FA7"/>
                </a:solidFill>
                <a:effectLst/>
                <a:uFillTx/>
                <a:latin typeface="FontAwesome6Free-Solid"/>
                <a:ea typeface="FontAwesome6Free-Solid"/>
              </a:rPr>
              <a:t>✓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ZoneTexte 95"/>
          <p:cNvSpPr txBox="1"/>
          <p:nvPr/>
        </p:nvSpPr>
        <p:spPr>
          <a:xfrm>
            <a:off x="830880" y="4298760"/>
            <a:ext cx="21376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1" u="none" strike="noStrike">
                <a:solidFill>
                  <a:srgbClr val="101828"/>
                </a:solidFill>
                <a:effectLst/>
                <a:uFillTx/>
                <a:latin typeface="DejaVuSans"/>
                <a:ea typeface="DejaVuSans"/>
              </a:rPr>
              <a:t>Régression Logistique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Forme libre : forme 96"/>
          <p:cNvSpPr/>
          <p:nvPr/>
        </p:nvSpPr>
        <p:spPr>
          <a:xfrm>
            <a:off x="6295680" y="1704960"/>
            <a:ext cx="5610600" cy="4486320"/>
          </a:xfrm>
          <a:custGeom>
            <a:avLst/>
            <a:gdLst/>
            <a:ahLst/>
            <a:cxnLst/>
            <a:rect l="0" t="0" r="r" b="b"/>
            <a:pathLst>
              <a:path w="15585" h="12462">
                <a:moveTo>
                  <a:pt x="0" y="12357"/>
                </a:moveTo>
                <a:lnTo>
                  <a:pt x="0" y="105"/>
                </a:ln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15480" y="0"/>
                </a:lnTo>
                <a:cubicBezTo>
                  <a:pt x="15494" y="0"/>
                  <a:pt x="15507" y="2"/>
                  <a:pt x="15520" y="8"/>
                </a:cubicBezTo>
                <a:cubicBezTo>
                  <a:pt x="15533" y="13"/>
                  <a:pt x="15544" y="21"/>
                  <a:pt x="15554" y="31"/>
                </a:cubicBezTo>
                <a:cubicBezTo>
                  <a:pt x="15564" y="40"/>
                  <a:pt x="15572" y="52"/>
                  <a:pt x="15577" y="65"/>
                </a:cubicBezTo>
                <a:cubicBezTo>
                  <a:pt x="15583" y="78"/>
                  <a:pt x="15585" y="91"/>
                  <a:pt x="15585" y="105"/>
                </a:cubicBezTo>
                <a:lnTo>
                  <a:pt x="15585" y="12357"/>
                </a:lnTo>
                <a:cubicBezTo>
                  <a:pt x="15585" y="12371"/>
                  <a:pt x="15583" y="12384"/>
                  <a:pt x="15577" y="12397"/>
                </a:cubicBezTo>
                <a:cubicBezTo>
                  <a:pt x="15572" y="12410"/>
                  <a:pt x="15564" y="12421"/>
                  <a:pt x="15554" y="12431"/>
                </a:cubicBezTo>
                <a:cubicBezTo>
                  <a:pt x="15544" y="12441"/>
                  <a:pt x="15533" y="12449"/>
                  <a:pt x="15520" y="12454"/>
                </a:cubicBezTo>
                <a:cubicBezTo>
                  <a:pt x="15507" y="12460"/>
                  <a:pt x="15494" y="12462"/>
                  <a:pt x="15480" y="12462"/>
                </a:cubicBezTo>
                <a:lnTo>
                  <a:pt x="106" y="12462"/>
                </a:lnTo>
                <a:cubicBezTo>
                  <a:pt x="92" y="12462"/>
                  <a:pt x="79" y="12460"/>
                  <a:pt x="66" y="12454"/>
                </a:cubicBezTo>
                <a:cubicBezTo>
                  <a:pt x="53" y="12449"/>
                  <a:pt x="41" y="12441"/>
                  <a:pt x="31" y="12431"/>
                </a:cubicBezTo>
                <a:cubicBezTo>
                  <a:pt x="22" y="12421"/>
                  <a:pt x="14" y="12410"/>
                  <a:pt x="9" y="12397"/>
                </a:cubicBezTo>
                <a:cubicBezTo>
                  <a:pt x="3" y="12384"/>
                  <a:pt x="0" y="12371"/>
                  <a:pt x="0" y="12357"/>
                </a:cubicBezTo>
                <a:close/>
              </a:path>
            </a:pathLst>
          </a:custGeom>
          <a:solidFill>
            <a:srgbClr val="002FA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Forme libre : forme 97"/>
          <p:cNvSpPr/>
          <p:nvPr/>
        </p:nvSpPr>
        <p:spPr>
          <a:xfrm>
            <a:off x="6600600" y="2543040"/>
            <a:ext cx="5001120" cy="9720"/>
          </a:xfrm>
          <a:custGeom>
            <a:avLst/>
            <a:gdLst/>
            <a:ahLst/>
            <a:cxnLst/>
            <a:rect l="0" t="0" r="r" b="b"/>
            <a:pathLst>
              <a:path w="13892" h="27">
                <a:moveTo>
                  <a:pt x="0" y="0"/>
                </a:moveTo>
                <a:lnTo>
                  <a:pt x="13892" y="0"/>
                </a:lnTo>
                <a:lnTo>
                  <a:pt x="138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Forme libre : forme 98"/>
          <p:cNvSpPr/>
          <p:nvPr/>
        </p:nvSpPr>
        <p:spPr>
          <a:xfrm>
            <a:off x="6600600" y="2009520"/>
            <a:ext cx="381240" cy="381600"/>
          </a:xfrm>
          <a:custGeom>
            <a:avLst/>
            <a:gdLst/>
            <a:ahLst/>
            <a:cxnLst/>
            <a:rect l="0" t="0" r="r" b="b"/>
            <a:pathLst>
              <a:path w="1059" h="1060">
                <a:moveTo>
                  <a:pt x="1059" y="530"/>
                </a:moveTo>
                <a:cubicBezTo>
                  <a:pt x="1059" y="565"/>
                  <a:pt x="1056" y="600"/>
                  <a:pt x="1049" y="634"/>
                </a:cubicBezTo>
                <a:cubicBezTo>
                  <a:pt x="1043" y="668"/>
                  <a:pt x="1032" y="701"/>
                  <a:pt x="1019" y="733"/>
                </a:cubicBezTo>
                <a:cubicBezTo>
                  <a:pt x="1006" y="765"/>
                  <a:pt x="990" y="795"/>
                  <a:pt x="970" y="824"/>
                </a:cubicBezTo>
                <a:cubicBezTo>
                  <a:pt x="951" y="853"/>
                  <a:pt x="929" y="880"/>
                  <a:pt x="904" y="905"/>
                </a:cubicBezTo>
                <a:cubicBezTo>
                  <a:pt x="880" y="929"/>
                  <a:pt x="853" y="951"/>
                  <a:pt x="824" y="970"/>
                </a:cubicBezTo>
                <a:cubicBezTo>
                  <a:pt x="795" y="990"/>
                  <a:pt x="765" y="1006"/>
                  <a:pt x="733" y="1019"/>
                </a:cubicBezTo>
                <a:cubicBezTo>
                  <a:pt x="701" y="1033"/>
                  <a:pt x="668" y="1043"/>
                  <a:pt x="634" y="1049"/>
                </a:cubicBezTo>
                <a:cubicBezTo>
                  <a:pt x="599" y="1056"/>
                  <a:pt x="565" y="1060"/>
                  <a:pt x="530" y="1060"/>
                </a:cubicBezTo>
                <a:cubicBezTo>
                  <a:pt x="496" y="1060"/>
                  <a:pt x="461" y="1056"/>
                  <a:pt x="427" y="1049"/>
                </a:cubicBezTo>
                <a:cubicBezTo>
                  <a:pt x="393" y="1043"/>
                  <a:pt x="360" y="1033"/>
                  <a:pt x="328" y="1019"/>
                </a:cubicBezTo>
                <a:cubicBezTo>
                  <a:pt x="296" y="1006"/>
                  <a:pt x="265" y="990"/>
                  <a:pt x="236" y="970"/>
                </a:cubicBezTo>
                <a:cubicBezTo>
                  <a:pt x="207" y="951"/>
                  <a:pt x="180" y="929"/>
                  <a:pt x="155" y="905"/>
                </a:cubicBezTo>
                <a:cubicBezTo>
                  <a:pt x="131" y="880"/>
                  <a:pt x="109" y="853"/>
                  <a:pt x="89" y="824"/>
                </a:cubicBezTo>
                <a:cubicBezTo>
                  <a:pt x="70" y="795"/>
                  <a:pt x="54" y="765"/>
                  <a:pt x="40" y="733"/>
                </a:cubicBezTo>
                <a:cubicBezTo>
                  <a:pt x="27" y="701"/>
                  <a:pt x="17" y="668"/>
                  <a:pt x="10" y="634"/>
                </a:cubicBezTo>
                <a:cubicBezTo>
                  <a:pt x="4" y="600"/>
                  <a:pt x="0" y="565"/>
                  <a:pt x="0" y="530"/>
                </a:cubicBezTo>
                <a:cubicBezTo>
                  <a:pt x="0" y="496"/>
                  <a:pt x="4" y="461"/>
                  <a:pt x="10" y="427"/>
                </a:cubicBezTo>
                <a:cubicBezTo>
                  <a:pt x="17" y="393"/>
                  <a:pt x="27" y="360"/>
                  <a:pt x="40" y="328"/>
                </a:cubicBezTo>
                <a:cubicBezTo>
                  <a:pt x="54" y="296"/>
                  <a:pt x="70" y="265"/>
                  <a:pt x="89" y="235"/>
                </a:cubicBezTo>
                <a:cubicBezTo>
                  <a:pt x="109" y="206"/>
                  <a:pt x="131" y="180"/>
                  <a:pt x="155" y="155"/>
                </a:cubicBezTo>
                <a:cubicBezTo>
                  <a:pt x="180" y="131"/>
                  <a:pt x="207" y="109"/>
                  <a:pt x="236" y="89"/>
                </a:cubicBezTo>
                <a:cubicBezTo>
                  <a:pt x="265" y="70"/>
                  <a:pt x="296" y="54"/>
                  <a:pt x="328" y="40"/>
                </a:cubicBezTo>
                <a:cubicBezTo>
                  <a:pt x="360" y="27"/>
                  <a:pt x="393" y="17"/>
                  <a:pt x="427" y="10"/>
                </a:cubicBezTo>
                <a:cubicBezTo>
                  <a:pt x="461" y="4"/>
                  <a:pt x="496" y="0"/>
                  <a:pt x="530" y="0"/>
                </a:cubicBezTo>
                <a:cubicBezTo>
                  <a:pt x="565" y="0"/>
                  <a:pt x="599" y="4"/>
                  <a:pt x="634" y="10"/>
                </a:cubicBezTo>
                <a:cubicBezTo>
                  <a:pt x="668" y="17"/>
                  <a:pt x="701" y="27"/>
                  <a:pt x="733" y="40"/>
                </a:cubicBezTo>
                <a:cubicBezTo>
                  <a:pt x="765" y="54"/>
                  <a:pt x="795" y="70"/>
                  <a:pt x="824" y="89"/>
                </a:cubicBezTo>
                <a:cubicBezTo>
                  <a:pt x="853" y="109"/>
                  <a:pt x="880" y="131"/>
                  <a:pt x="904" y="155"/>
                </a:cubicBezTo>
                <a:cubicBezTo>
                  <a:pt x="929" y="180"/>
                  <a:pt x="951" y="206"/>
                  <a:pt x="970" y="235"/>
                </a:cubicBezTo>
                <a:cubicBezTo>
                  <a:pt x="990" y="265"/>
                  <a:pt x="1006" y="296"/>
                  <a:pt x="1019" y="328"/>
                </a:cubicBezTo>
                <a:cubicBezTo>
                  <a:pt x="1032" y="360"/>
                  <a:pt x="1043" y="393"/>
                  <a:pt x="1049" y="427"/>
                </a:cubicBezTo>
                <a:cubicBezTo>
                  <a:pt x="1056" y="461"/>
                  <a:pt x="1059" y="496"/>
                  <a:pt x="1059" y="53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ZoneTexte 99"/>
          <p:cNvSpPr txBox="1"/>
          <p:nvPr/>
        </p:nvSpPr>
        <p:spPr>
          <a:xfrm>
            <a:off x="830880" y="4554360"/>
            <a:ext cx="27378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4A5565"/>
                </a:solidFill>
                <a:effectLst/>
                <a:uFillTx/>
                <a:latin typeface="DejaVuSans"/>
                <a:ea typeface="DejaVuSans"/>
              </a:rPr>
              <a:t>Pour les problèmes de classiﬁcation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ZoneTexte 100"/>
          <p:cNvSpPr txBox="1"/>
          <p:nvPr/>
        </p:nvSpPr>
        <p:spPr>
          <a:xfrm>
            <a:off x="6694920" y="2107440"/>
            <a:ext cx="1926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FontAwesome6Free-Solid"/>
                <a:ea typeface="FontAwesome6Free-Solid"/>
              </a:rPr>
              <a:t>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Forme libre : forme 101"/>
          <p:cNvSpPr/>
          <p:nvPr/>
        </p:nvSpPr>
        <p:spPr>
          <a:xfrm>
            <a:off x="6600600" y="285732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0" y="1165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3"/>
                  <a:pt x="93" y="0"/>
                  <a:pt x="107" y="0"/>
                </a:cubicBezTo>
                <a:lnTo>
                  <a:pt x="1165" y="0"/>
                </a:lnTo>
                <a:cubicBezTo>
                  <a:pt x="1179" y="0"/>
                  <a:pt x="1193" y="3"/>
                  <a:pt x="1206" y="8"/>
                </a:cubicBezTo>
                <a:cubicBezTo>
                  <a:pt x="1219" y="13"/>
                  <a:pt x="1230" y="21"/>
                  <a:pt x="1240" y="31"/>
                </a:cubicBezTo>
                <a:cubicBezTo>
                  <a:pt x="1250" y="41"/>
                  <a:pt x="1258" y="52"/>
                  <a:pt x="1263" y="65"/>
                </a:cubicBezTo>
                <a:cubicBezTo>
                  <a:pt x="1268" y="78"/>
                  <a:pt x="1271" y="92"/>
                  <a:pt x="1271" y="106"/>
                </a:cubicBezTo>
                <a:lnTo>
                  <a:pt x="1271" y="1165"/>
                </a:lnTo>
                <a:cubicBezTo>
                  <a:pt x="1271" y="1179"/>
                  <a:pt x="1268" y="1193"/>
                  <a:pt x="1263" y="1206"/>
                </a:cubicBezTo>
                <a:cubicBezTo>
                  <a:pt x="1258" y="1219"/>
                  <a:pt x="1250" y="1230"/>
                  <a:pt x="1240" y="1240"/>
                </a:cubicBezTo>
                <a:cubicBezTo>
                  <a:pt x="1230" y="1250"/>
                  <a:pt x="1219" y="1258"/>
                  <a:pt x="1206" y="1263"/>
                </a:cubicBezTo>
                <a:cubicBezTo>
                  <a:pt x="1193" y="1268"/>
                  <a:pt x="1179" y="1271"/>
                  <a:pt x="1165" y="1271"/>
                </a:cubicBezTo>
                <a:lnTo>
                  <a:pt x="107" y="1271"/>
                </a:lnTo>
                <a:cubicBezTo>
                  <a:pt x="93" y="1271"/>
                  <a:pt x="79" y="1268"/>
                  <a:pt x="65" y="1263"/>
                </a:cubicBezTo>
                <a:cubicBezTo>
                  <a:pt x="52" y="1258"/>
                  <a:pt x="41" y="1250"/>
                  <a:pt x="31" y="1240"/>
                </a:cubicBezTo>
                <a:cubicBezTo>
                  <a:pt x="21" y="1230"/>
                  <a:pt x="14" y="1219"/>
                  <a:pt x="8" y="1206"/>
                </a:cubicBezTo>
                <a:cubicBezTo>
                  <a:pt x="3" y="1193"/>
                  <a:pt x="0" y="1179"/>
                  <a:pt x="0" y="116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ZoneTexte 102"/>
          <p:cNvSpPr txBox="1"/>
          <p:nvPr/>
        </p:nvSpPr>
        <p:spPr>
          <a:xfrm>
            <a:off x="7134120" y="2066760"/>
            <a:ext cx="10969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Livrables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ZoneTexte 103"/>
          <p:cNvSpPr txBox="1"/>
          <p:nvPr/>
        </p:nvSpPr>
        <p:spPr>
          <a:xfrm>
            <a:off x="6729480" y="2971800"/>
            <a:ext cx="2282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002FA7"/>
                </a:solidFill>
                <a:effectLst/>
                <a:uFillTx/>
                <a:latin typeface="FontAwesome6Brands"/>
                <a:ea typeface="FontAwesome6Brands"/>
              </a:rPr>
              <a:t>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Forme libre : forme 104"/>
          <p:cNvSpPr/>
          <p:nvPr/>
        </p:nvSpPr>
        <p:spPr>
          <a:xfrm>
            <a:off x="6600600" y="390492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0" y="1165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9" y="3"/>
                  <a:pt x="93" y="0"/>
                  <a:pt x="107" y="0"/>
                </a:cubicBezTo>
                <a:lnTo>
                  <a:pt x="1165" y="0"/>
                </a:lnTo>
                <a:cubicBezTo>
                  <a:pt x="1179" y="0"/>
                  <a:pt x="1193" y="3"/>
                  <a:pt x="1206" y="8"/>
                </a:cubicBezTo>
                <a:cubicBezTo>
                  <a:pt x="1219" y="14"/>
                  <a:pt x="1230" y="21"/>
                  <a:pt x="1240" y="31"/>
                </a:cubicBezTo>
                <a:cubicBezTo>
                  <a:pt x="1250" y="41"/>
                  <a:pt x="1258" y="53"/>
                  <a:pt x="1263" y="66"/>
                </a:cubicBezTo>
                <a:cubicBezTo>
                  <a:pt x="1268" y="79"/>
                  <a:pt x="1271" y="92"/>
                  <a:pt x="1271" y="106"/>
                </a:cubicBezTo>
                <a:lnTo>
                  <a:pt x="1271" y="1165"/>
                </a:lnTo>
                <a:cubicBezTo>
                  <a:pt x="1271" y="1179"/>
                  <a:pt x="1268" y="1192"/>
                  <a:pt x="1263" y="1205"/>
                </a:cubicBezTo>
                <a:cubicBezTo>
                  <a:pt x="1258" y="1219"/>
                  <a:pt x="1250" y="1230"/>
                  <a:pt x="1240" y="1240"/>
                </a:cubicBezTo>
                <a:cubicBezTo>
                  <a:pt x="1230" y="1250"/>
                  <a:pt x="1219" y="1258"/>
                  <a:pt x="1206" y="1263"/>
                </a:cubicBezTo>
                <a:cubicBezTo>
                  <a:pt x="1193" y="1269"/>
                  <a:pt x="1179" y="1271"/>
                  <a:pt x="1165" y="1271"/>
                </a:cubicBezTo>
                <a:lnTo>
                  <a:pt x="107" y="1271"/>
                </a:lnTo>
                <a:cubicBezTo>
                  <a:pt x="93" y="1271"/>
                  <a:pt x="79" y="1269"/>
                  <a:pt x="65" y="1263"/>
                </a:cubicBezTo>
                <a:cubicBezTo>
                  <a:pt x="52" y="1258"/>
                  <a:pt x="41" y="1250"/>
                  <a:pt x="31" y="1240"/>
                </a:cubicBezTo>
                <a:cubicBezTo>
                  <a:pt x="21" y="1230"/>
                  <a:pt x="14" y="1219"/>
                  <a:pt x="8" y="1205"/>
                </a:cubicBezTo>
                <a:cubicBezTo>
                  <a:pt x="3" y="1192"/>
                  <a:pt x="0" y="1179"/>
                  <a:pt x="0" y="116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ZoneTexte 105"/>
          <p:cNvSpPr txBox="1"/>
          <p:nvPr/>
        </p:nvSpPr>
        <p:spPr>
          <a:xfrm>
            <a:off x="7210440" y="2880720"/>
            <a:ext cx="27702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Notebook Python (.ipynb)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ZoneTexte 106"/>
          <p:cNvSpPr txBox="1"/>
          <p:nvPr/>
        </p:nvSpPr>
        <p:spPr>
          <a:xfrm>
            <a:off x="6715080" y="4019400"/>
            <a:ext cx="2282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002FA7"/>
                </a:solidFill>
                <a:effectLst/>
                <a:uFillTx/>
                <a:latin typeface="FontAwesome6Free-Solid"/>
                <a:ea typeface="FontAwesome6Free-Solid"/>
              </a:rPr>
              <a:t>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ZoneTexte 107"/>
          <p:cNvSpPr txBox="1"/>
          <p:nvPr/>
        </p:nvSpPr>
        <p:spPr>
          <a:xfrm>
            <a:off x="7210440" y="3928320"/>
            <a:ext cx="13586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Rapport PDF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ZoneTexte 108"/>
          <p:cNvSpPr txBox="1"/>
          <p:nvPr/>
        </p:nvSpPr>
        <p:spPr>
          <a:xfrm>
            <a:off x="11760840" y="6428160"/>
            <a:ext cx="1461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99A1AF"/>
                </a:solidFill>
                <a:effectLst/>
                <a:uFillTx/>
                <a:latin typeface="DejaVuSans"/>
                <a:ea typeface="DejaVuSans"/>
              </a:rPr>
              <a:t>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ZoneTexte 109"/>
          <p:cNvSpPr txBox="1"/>
          <p:nvPr/>
        </p:nvSpPr>
        <p:spPr>
          <a:xfrm>
            <a:off x="7210440" y="3191040"/>
            <a:ext cx="34700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Un code propre, structuré et commenté démontrant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ZoneTexte 110"/>
          <p:cNvSpPr txBox="1"/>
          <p:nvPr/>
        </p:nvSpPr>
        <p:spPr>
          <a:xfrm>
            <a:off x="7210440" y="3409920"/>
            <a:ext cx="1166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l'implémentation.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ZoneTexte 111"/>
          <p:cNvSpPr txBox="1"/>
          <p:nvPr/>
        </p:nvSpPr>
        <p:spPr>
          <a:xfrm>
            <a:off x="7210440" y="4238640"/>
            <a:ext cx="39693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Une synthèse de 2 à 3 pages expliquant la méthodologie et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ZoneTexte 112"/>
          <p:cNvSpPr txBox="1"/>
          <p:nvPr/>
        </p:nvSpPr>
        <p:spPr>
          <a:xfrm>
            <a:off x="7210440" y="4448160"/>
            <a:ext cx="19321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l'interprétation des résultats.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Forme libre : forme 353"/>
          <p:cNvSpPr/>
          <p:nvPr/>
        </p:nvSpPr>
        <p:spPr>
          <a:xfrm>
            <a:off x="-36900" y="0"/>
            <a:ext cx="12228900" cy="7020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85000"/>
            </a:schemeClr>
          </a:solidFill>
          <a:ln w="0">
            <a:solidFill>
              <a:schemeClr val="bg1"/>
            </a:solidFill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Forme libre : forme 354"/>
          <p:cNvSpPr/>
          <p:nvPr/>
        </p:nvSpPr>
        <p:spPr>
          <a:xfrm>
            <a:off x="5486040" y="3571560"/>
            <a:ext cx="1219680" cy="19440"/>
          </a:xfrm>
          <a:custGeom>
            <a:avLst/>
            <a:gdLst/>
            <a:ahLst/>
            <a:cxnLst/>
            <a:rect l="0" t="0" r="r" b="b"/>
            <a:pathLst>
              <a:path w="3388" h="54">
                <a:moveTo>
                  <a:pt x="0" y="0"/>
                </a:moveTo>
                <a:lnTo>
                  <a:pt x="3388" y="0"/>
                </a:lnTo>
                <a:lnTo>
                  <a:pt x="3388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404A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ZoneTexte 355"/>
          <p:cNvSpPr txBox="1"/>
          <p:nvPr/>
        </p:nvSpPr>
        <p:spPr>
          <a:xfrm>
            <a:off x="5223600" y="2583360"/>
            <a:ext cx="1835640" cy="812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5620" b="0" u="none" strike="noStrike" dirty="0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Merci</a:t>
            </a:r>
            <a:endParaRPr lang="en-US" sz="562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1500</TotalTime>
  <Words>738</Words>
  <Application>Microsoft Office PowerPoint</Application>
  <PresentationFormat>Grand écran</PresentationFormat>
  <Paragraphs>230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25" baseType="lpstr">
      <vt:lpstr>Arial</vt:lpstr>
      <vt:lpstr>Cambria</vt:lpstr>
      <vt:lpstr>Consolas</vt:lpstr>
      <vt:lpstr>DejaVuSans</vt:lpstr>
      <vt:lpstr>FontAwesome6Brands</vt:lpstr>
      <vt:lpstr>FontAwesome6Free-Solid</vt:lpstr>
      <vt:lpstr>Georgia</vt:lpstr>
      <vt:lpstr>Inter</vt:lpstr>
      <vt:lpstr>LibreBaskerville</vt:lpstr>
      <vt:lpstr>Symbol</vt:lpstr>
      <vt:lpstr>Times New Roman</vt:lpstr>
      <vt:lpstr>Wingdings</vt:lpstr>
      <vt:lpstr>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dell</cp:lastModifiedBy>
  <cp:revision>1</cp:revision>
  <dcterms:modified xsi:type="dcterms:W3CDTF">2026-01-28T16:52:14Z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